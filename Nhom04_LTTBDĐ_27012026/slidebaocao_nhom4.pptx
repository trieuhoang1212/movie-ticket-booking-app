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1" r:id="rId8"/>
    <p:sldId id="262" r:id="rId9"/>
    <p:sldId id="263" r:id="rId10"/>
    <p:sldId id="264" r:id="rId11"/>
  </p:sldIdLst>
  <p:sldSz cx="12192000" cy="6858000"/>
  <p:notesSz cx="6858000" cy="12192000"/>
  <p:embeddedFontLst>
    <p:embeddedFont>
      <p:font typeface="MiSans" panose="020B0604020202020204" charset="-122"/>
      <p:regular r:id="rId13"/>
    </p:embeddedFont>
    <p:embeddedFont>
      <p:font typeface="得意黑" panose="020B0604020202020204" charset="-122"/>
      <p:regular r:id="rId14"/>
    </p:embeddedFont>
    <p:embeddedFont>
      <p:font typeface="Calibri" panose="020F0502020204030204" pitchFamily="34" charset="0"/>
      <p:regular r:id="rId15"/>
      <p:bold r:id="rId16"/>
      <p:italic r:id="rId17"/>
      <p:boldItalic r:id="rId18"/>
    </p:embeddedFont>
    <p:embeddedFont>
      <p:font typeface="Liter"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039" autoAdjust="0"/>
  </p:normalViewPr>
  <p:slideViewPr>
    <p:cSldViewPr snapToGrid="0" snapToObjects="1">
      <p:cViewPr varScale="1">
        <p:scale>
          <a:sx n="109" d="100"/>
          <a:sy n="109" d="100"/>
        </p:scale>
        <p:origin x="100"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546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hathao-15"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github.com/Hien-LL" TargetMode="Externa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g"/><Relationship Id="rId18" Type="http://schemas.openxmlformats.org/officeDocument/2006/relationships/image" Target="../media/image17.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g"/><Relationship Id="rId17" Type="http://schemas.openxmlformats.org/officeDocument/2006/relationships/image" Target="../media/image16.jpg"/><Relationship Id="rId2" Type="http://schemas.openxmlformats.org/officeDocument/2006/relationships/notesSlide" Target="../notesSlides/notesSlide3.xml"/><Relationship Id="rId16" Type="http://schemas.openxmlformats.org/officeDocument/2006/relationships/image" Target="../media/image15.jp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Shape 1"/>
          <p:cNvSpPr/>
          <p:nvPr/>
        </p:nvSpPr>
        <p:spPr>
          <a:xfrm>
            <a:off x="6867473" y="1035429"/>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E94560"/>
          </a:solidFill>
          <a:ln/>
        </p:spPr>
      </p:sp>
      <p:sp>
        <p:nvSpPr>
          <p:cNvPr id="5" name="Text 2"/>
          <p:cNvSpPr/>
          <p:nvPr/>
        </p:nvSpPr>
        <p:spPr>
          <a:xfrm>
            <a:off x="7681640" y="948690"/>
            <a:ext cx="2457450" cy="190500"/>
          </a:xfrm>
          <a:prstGeom prst="rect">
            <a:avLst/>
          </a:prstGeom>
          <a:noFill/>
          <a:ln/>
        </p:spPr>
        <p:txBody>
          <a:bodyPr wrap="square" lIns="0" tIns="0" rIns="0" bIns="0" rtlCol="0" anchor="ctr"/>
          <a:lstStyle/>
          <a:p>
            <a:pPr>
              <a:lnSpc>
                <a:spcPct val="120000"/>
              </a:lnSpc>
            </a:pPr>
            <a:r>
              <a:rPr lang="en-US" sz="1050" b="1" kern="0" spc="210" dirty="0">
                <a:solidFill>
                  <a:srgbClr val="E94560"/>
                </a:solidFill>
                <a:latin typeface="MiSans" pitchFamily="34" charset="0"/>
                <a:ea typeface="MiSans" pitchFamily="34" charset="-122"/>
                <a:cs typeface="MiSans" pitchFamily="34" charset="-120"/>
              </a:rPr>
              <a:t>Mobile App Development</a:t>
            </a:r>
            <a:endParaRPr lang="en-US" sz="1600" dirty="0"/>
          </a:p>
        </p:txBody>
      </p:sp>
      <p:sp>
        <p:nvSpPr>
          <p:cNvPr id="6" name="Text 3"/>
          <p:cNvSpPr/>
          <p:nvPr/>
        </p:nvSpPr>
        <p:spPr>
          <a:xfrm>
            <a:off x="381000" y="1784985"/>
            <a:ext cx="9044354" cy="2266950"/>
          </a:xfrm>
          <a:prstGeom prst="rect">
            <a:avLst/>
          </a:prstGeom>
          <a:noFill/>
          <a:ln/>
        </p:spPr>
        <p:txBody>
          <a:bodyPr wrap="square" lIns="0" tIns="0" rIns="0" bIns="0" rtlCol="0" anchor="ctr"/>
          <a:lstStyle/>
          <a:p>
            <a:pPr>
              <a:lnSpc>
                <a:spcPct val="90000"/>
              </a:lnSpc>
            </a:pPr>
            <a:r>
              <a:rPr lang="en-US" sz="6600" b="1" dirty="0">
                <a:solidFill>
                  <a:schemeClr val="tx1">
                    <a:lumMod val="85000"/>
                    <a:lumOff val="15000"/>
                  </a:schemeClr>
                </a:solidFill>
                <a:latin typeface="得意黑" pitchFamily="34" charset="0"/>
                <a:ea typeface="得意黑" pitchFamily="34" charset="-122"/>
                <a:cs typeface="得意黑" pitchFamily="34" charset="-120"/>
              </a:rPr>
              <a:t>Thiết kế giao diện</a:t>
            </a:r>
            <a:endParaRPr lang="en-US" sz="2000" dirty="0">
              <a:solidFill>
                <a:schemeClr val="tx1">
                  <a:lumMod val="85000"/>
                  <a:lumOff val="15000"/>
                </a:schemeClr>
              </a:solidFill>
            </a:endParaRPr>
          </a:p>
          <a:p>
            <a:pPr>
              <a:lnSpc>
                <a:spcPct val="90000"/>
              </a:lnSpc>
            </a:pPr>
            <a:r>
              <a:rPr lang="en-US" sz="6600" b="1" dirty="0">
                <a:solidFill>
                  <a:schemeClr val="tx1">
                    <a:lumMod val="85000"/>
                    <a:lumOff val="15000"/>
                  </a:schemeClr>
                </a:solidFill>
                <a:latin typeface="得意黑" pitchFamily="34" charset="0"/>
                <a:ea typeface="得意黑" pitchFamily="34" charset="-122"/>
                <a:cs typeface="得意黑" pitchFamily="34" charset="-120"/>
              </a:rPr>
              <a:t>ứng dụng đặt vé</a:t>
            </a:r>
            <a:endParaRPr lang="en-US" sz="2000" dirty="0">
              <a:solidFill>
                <a:schemeClr val="tx1">
                  <a:lumMod val="85000"/>
                  <a:lumOff val="15000"/>
                </a:schemeClr>
              </a:solidFill>
            </a:endParaRPr>
          </a:p>
          <a:p>
            <a:pPr>
              <a:lnSpc>
                <a:spcPct val="90000"/>
              </a:lnSpc>
            </a:pPr>
            <a:r>
              <a:rPr lang="en-US" sz="6600" b="1">
                <a:solidFill>
                  <a:srgbClr val="E94560"/>
                </a:solidFill>
                <a:latin typeface="得意黑" pitchFamily="34" charset="0"/>
                <a:ea typeface="得意黑" pitchFamily="34" charset="-122"/>
                <a:cs typeface="得意黑" pitchFamily="34" charset="-120"/>
              </a:rPr>
              <a:t>xem phim</a:t>
            </a:r>
            <a:endParaRPr lang="en-US" sz="2000" dirty="0"/>
          </a:p>
        </p:txBody>
      </p:sp>
      <p:sp>
        <p:nvSpPr>
          <p:cNvPr id="7" name="Shape 4"/>
          <p:cNvSpPr/>
          <p:nvPr/>
        </p:nvSpPr>
        <p:spPr>
          <a:xfrm>
            <a:off x="381000" y="4672965"/>
            <a:ext cx="609600" cy="19050"/>
          </a:xfrm>
          <a:custGeom>
            <a:avLst/>
            <a:gdLst/>
            <a:ahLst/>
            <a:cxnLst/>
            <a:rect l="l" t="t" r="r" b="b"/>
            <a:pathLst>
              <a:path w="609600" h="19050">
                <a:moveTo>
                  <a:pt x="0" y="0"/>
                </a:moveTo>
                <a:lnTo>
                  <a:pt x="609600" y="0"/>
                </a:lnTo>
                <a:lnTo>
                  <a:pt x="609600" y="19050"/>
                </a:lnTo>
                <a:lnTo>
                  <a:pt x="0" y="19050"/>
                </a:lnTo>
                <a:lnTo>
                  <a:pt x="0" y="0"/>
                </a:lnTo>
                <a:close/>
              </a:path>
            </a:pathLst>
          </a:custGeom>
          <a:solidFill>
            <a:srgbClr val="E94560"/>
          </a:solidFill>
          <a:ln/>
        </p:spPr>
      </p:sp>
      <p:sp>
        <p:nvSpPr>
          <p:cNvPr id="8" name="Text 5"/>
          <p:cNvSpPr/>
          <p:nvPr/>
        </p:nvSpPr>
        <p:spPr>
          <a:xfrm>
            <a:off x="1342293" y="4558665"/>
            <a:ext cx="3876675" cy="266700"/>
          </a:xfrm>
          <a:prstGeom prst="rect">
            <a:avLst/>
          </a:prstGeom>
          <a:noFill/>
          <a:ln/>
        </p:spPr>
        <p:txBody>
          <a:bodyPr wrap="square" lIns="0" tIns="0" rIns="0" bIns="0" rtlCol="0" anchor="ctr"/>
          <a:lstStyle/>
          <a:p>
            <a:pPr>
              <a:lnSpc>
                <a:spcPct val="120000"/>
              </a:lnSpc>
            </a:pPr>
            <a:r>
              <a:rPr lang="en-US" sz="1500" dirty="0">
                <a:solidFill>
                  <a:schemeClr val="tx1">
                    <a:lumMod val="85000"/>
                    <a:lumOff val="15000"/>
                  </a:schemeClr>
                </a:solidFill>
                <a:latin typeface="MiSans" pitchFamily="34" charset="0"/>
                <a:ea typeface="MiSans" pitchFamily="34" charset="-122"/>
                <a:cs typeface="MiSans" pitchFamily="34" charset="-120"/>
              </a:rPr>
              <a:t>Môn học: </a:t>
            </a:r>
            <a:r>
              <a:rPr lang="en-US" sz="1500" b="1" dirty="0">
                <a:solidFill>
                  <a:schemeClr val="tx1">
                    <a:lumMod val="85000"/>
                    <a:lumOff val="15000"/>
                  </a:schemeClr>
                </a:solidFill>
                <a:latin typeface="MiSans" pitchFamily="34" charset="0"/>
                <a:ea typeface="MiSans" pitchFamily="34" charset="-122"/>
                <a:cs typeface="MiSans" pitchFamily="34" charset="-120"/>
              </a:rPr>
              <a:t>Lập trình thiết bị di động</a:t>
            </a:r>
            <a:endParaRPr lang="en-US" sz="1600" dirty="0">
              <a:solidFill>
                <a:schemeClr val="tx1">
                  <a:lumMod val="85000"/>
                  <a:lumOff val="15000"/>
                </a:schemeClr>
              </a:solidFill>
            </a:endParaRPr>
          </a:p>
        </p:txBody>
      </p:sp>
      <p:sp>
        <p:nvSpPr>
          <p:cNvPr id="9" name="Text 6"/>
          <p:cNvSpPr/>
          <p:nvPr/>
        </p:nvSpPr>
        <p:spPr>
          <a:xfrm>
            <a:off x="1295399" y="4857457"/>
            <a:ext cx="3876675" cy="266700"/>
          </a:xfrm>
          <a:prstGeom prst="rect">
            <a:avLst/>
          </a:prstGeom>
          <a:noFill/>
          <a:ln/>
        </p:spPr>
        <p:txBody>
          <a:bodyPr wrap="square" lIns="0" tIns="0" rIns="0" bIns="0" rtlCol="0" anchor="ctr"/>
          <a:lstStyle/>
          <a:p>
            <a:pPr>
              <a:lnSpc>
                <a:spcPct val="120000"/>
              </a:lnSpc>
            </a:pPr>
            <a:r>
              <a:rPr lang="en-US" sz="1500" dirty="0">
                <a:solidFill>
                  <a:schemeClr val="tx1">
                    <a:lumMod val="85000"/>
                    <a:lumOff val="15000"/>
                  </a:schemeClr>
                </a:solidFill>
                <a:latin typeface="MiSans" pitchFamily="34" charset="0"/>
                <a:ea typeface="MiSans" pitchFamily="34" charset="-122"/>
                <a:cs typeface="MiSans" pitchFamily="34" charset="-120"/>
              </a:rPr>
              <a:t>Giảng viên hướng dẫn: </a:t>
            </a:r>
            <a:r>
              <a:rPr lang="en-US" sz="1500" b="1" dirty="0">
                <a:solidFill>
                  <a:schemeClr val="tx1">
                    <a:lumMod val="85000"/>
                    <a:lumOff val="15000"/>
                  </a:schemeClr>
                </a:solidFill>
                <a:latin typeface="MiSans" pitchFamily="34" charset="0"/>
                <a:ea typeface="MiSans" pitchFamily="34" charset="-122"/>
                <a:cs typeface="MiSans" pitchFamily="34" charset="-120"/>
              </a:rPr>
              <a:t>Trương Quang Tuấn</a:t>
            </a:r>
            <a:endParaRPr lang="en-US" sz="1600" dirty="0">
              <a:solidFill>
                <a:schemeClr val="tx1">
                  <a:lumMod val="85000"/>
                  <a:lumOff val="15000"/>
                </a:schemeClr>
              </a:solidFill>
            </a:endParaRPr>
          </a:p>
        </p:txBody>
      </p:sp>
      <p:sp>
        <p:nvSpPr>
          <p:cNvPr id="10" name="Shape 7"/>
          <p:cNvSpPr/>
          <p:nvPr/>
        </p:nvSpPr>
        <p:spPr>
          <a:xfrm>
            <a:off x="381000" y="59436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E94560"/>
          </a:solidFill>
          <a:ln/>
        </p:spPr>
      </p:sp>
      <p:sp useBgFill="1">
        <p:nvSpPr>
          <p:cNvPr id="11" name="Shape 8"/>
          <p:cNvSpPr/>
          <p:nvPr/>
        </p:nvSpPr>
        <p:spPr>
          <a:xfrm>
            <a:off x="547688" y="6096000"/>
            <a:ext cx="200025" cy="228600"/>
          </a:xfrm>
          <a:custGeom>
            <a:avLst/>
            <a:gdLst/>
            <a:ahLst/>
            <a:cxnLst/>
            <a:rect l="l" t="t" r="r" b="b"/>
            <a:pathLst>
              <a:path w="200025" h="228600">
                <a:moveTo>
                  <a:pt x="0" y="42863"/>
                </a:moveTo>
                <a:cubicBezTo>
                  <a:pt x="0" y="27102"/>
                  <a:pt x="12814" y="14288"/>
                  <a:pt x="28575" y="14288"/>
                </a:cubicBezTo>
                <a:lnTo>
                  <a:pt x="171450" y="14288"/>
                </a:lnTo>
                <a:cubicBezTo>
                  <a:pt x="187211" y="14288"/>
                  <a:pt x="200025" y="27102"/>
                  <a:pt x="200025" y="42863"/>
                </a:cubicBezTo>
                <a:lnTo>
                  <a:pt x="200025" y="185738"/>
                </a:lnTo>
                <a:cubicBezTo>
                  <a:pt x="200025" y="201498"/>
                  <a:pt x="187211" y="214313"/>
                  <a:pt x="171450" y="214313"/>
                </a:cubicBezTo>
                <a:lnTo>
                  <a:pt x="28575" y="214313"/>
                </a:lnTo>
                <a:cubicBezTo>
                  <a:pt x="12814" y="214313"/>
                  <a:pt x="0" y="201498"/>
                  <a:pt x="0" y="185738"/>
                </a:cubicBezTo>
                <a:lnTo>
                  <a:pt x="0" y="42863"/>
                </a:lnTo>
                <a:close/>
                <a:moveTo>
                  <a:pt x="21431" y="164306"/>
                </a:moveTo>
                <a:lnTo>
                  <a:pt x="21431" y="178594"/>
                </a:lnTo>
                <a:cubicBezTo>
                  <a:pt x="21431" y="182523"/>
                  <a:pt x="24646" y="185738"/>
                  <a:pt x="28575" y="185738"/>
                </a:cubicBezTo>
                <a:lnTo>
                  <a:pt x="42863" y="185738"/>
                </a:lnTo>
                <a:cubicBezTo>
                  <a:pt x="46792" y="185738"/>
                  <a:pt x="50006" y="182523"/>
                  <a:pt x="50006" y="178594"/>
                </a:cubicBezTo>
                <a:lnTo>
                  <a:pt x="50006" y="164306"/>
                </a:lnTo>
                <a:cubicBezTo>
                  <a:pt x="50006" y="160377"/>
                  <a:pt x="46792" y="157163"/>
                  <a:pt x="42863" y="157163"/>
                </a:cubicBezTo>
                <a:lnTo>
                  <a:pt x="28575" y="157163"/>
                </a:lnTo>
                <a:cubicBezTo>
                  <a:pt x="24646" y="157163"/>
                  <a:pt x="21431" y="160377"/>
                  <a:pt x="21431" y="164306"/>
                </a:cubicBezTo>
                <a:close/>
                <a:moveTo>
                  <a:pt x="157163" y="157163"/>
                </a:moveTo>
                <a:cubicBezTo>
                  <a:pt x="153233" y="157163"/>
                  <a:pt x="150019" y="160377"/>
                  <a:pt x="150019" y="164306"/>
                </a:cubicBezTo>
                <a:lnTo>
                  <a:pt x="150019" y="178594"/>
                </a:lnTo>
                <a:cubicBezTo>
                  <a:pt x="150019" y="182523"/>
                  <a:pt x="153233" y="185738"/>
                  <a:pt x="157163" y="185738"/>
                </a:cubicBezTo>
                <a:lnTo>
                  <a:pt x="171450" y="185738"/>
                </a:lnTo>
                <a:cubicBezTo>
                  <a:pt x="175379" y="185738"/>
                  <a:pt x="178594" y="182523"/>
                  <a:pt x="178594" y="178594"/>
                </a:cubicBezTo>
                <a:lnTo>
                  <a:pt x="178594" y="164306"/>
                </a:lnTo>
                <a:cubicBezTo>
                  <a:pt x="178594" y="160377"/>
                  <a:pt x="175379" y="157163"/>
                  <a:pt x="171450" y="157163"/>
                </a:cubicBezTo>
                <a:lnTo>
                  <a:pt x="157163" y="157163"/>
                </a:lnTo>
                <a:close/>
                <a:moveTo>
                  <a:pt x="21431" y="107156"/>
                </a:moveTo>
                <a:lnTo>
                  <a:pt x="21431" y="121444"/>
                </a:lnTo>
                <a:cubicBezTo>
                  <a:pt x="21431" y="125373"/>
                  <a:pt x="24646" y="128588"/>
                  <a:pt x="28575" y="128588"/>
                </a:cubicBezTo>
                <a:lnTo>
                  <a:pt x="42863" y="128588"/>
                </a:lnTo>
                <a:cubicBezTo>
                  <a:pt x="46792" y="128588"/>
                  <a:pt x="50006" y="125373"/>
                  <a:pt x="50006" y="121444"/>
                </a:cubicBezTo>
                <a:lnTo>
                  <a:pt x="50006" y="107156"/>
                </a:lnTo>
                <a:cubicBezTo>
                  <a:pt x="50006" y="103227"/>
                  <a:pt x="46792" y="100013"/>
                  <a:pt x="42863" y="100013"/>
                </a:cubicBezTo>
                <a:lnTo>
                  <a:pt x="28575" y="100013"/>
                </a:lnTo>
                <a:cubicBezTo>
                  <a:pt x="24646" y="100013"/>
                  <a:pt x="21431" y="103227"/>
                  <a:pt x="21431" y="107156"/>
                </a:cubicBezTo>
                <a:close/>
                <a:moveTo>
                  <a:pt x="157163" y="100013"/>
                </a:moveTo>
                <a:cubicBezTo>
                  <a:pt x="153233" y="100013"/>
                  <a:pt x="150019" y="103227"/>
                  <a:pt x="150019" y="107156"/>
                </a:cubicBezTo>
                <a:lnTo>
                  <a:pt x="150019" y="121444"/>
                </a:lnTo>
                <a:cubicBezTo>
                  <a:pt x="150019" y="125373"/>
                  <a:pt x="153233" y="128588"/>
                  <a:pt x="157163" y="128588"/>
                </a:cubicBezTo>
                <a:lnTo>
                  <a:pt x="171450" y="128588"/>
                </a:lnTo>
                <a:cubicBezTo>
                  <a:pt x="175379" y="128588"/>
                  <a:pt x="178594" y="125373"/>
                  <a:pt x="178594" y="121444"/>
                </a:cubicBezTo>
                <a:lnTo>
                  <a:pt x="178594" y="107156"/>
                </a:lnTo>
                <a:cubicBezTo>
                  <a:pt x="178594" y="103227"/>
                  <a:pt x="175379" y="100013"/>
                  <a:pt x="171450" y="100013"/>
                </a:cubicBezTo>
                <a:lnTo>
                  <a:pt x="157163" y="100013"/>
                </a:lnTo>
                <a:close/>
                <a:moveTo>
                  <a:pt x="21431" y="50006"/>
                </a:moveTo>
                <a:lnTo>
                  <a:pt x="21431" y="64294"/>
                </a:lnTo>
                <a:cubicBezTo>
                  <a:pt x="21431" y="68223"/>
                  <a:pt x="24646" y="71438"/>
                  <a:pt x="28575" y="71438"/>
                </a:cubicBezTo>
                <a:lnTo>
                  <a:pt x="42863" y="71438"/>
                </a:lnTo>
                <a:cubicBezTo>
                  <a:pt x="46792" y="71438"/>
                  <a:pt x="50006" y="68223"/>
                  <a:pt x="50006" y="64294"/>
                </a:cubicBezTo>
                <a:lnTo>
                  <a:pt x="50006" y="50006"/>
                </a:lnTo>
                <a:cubicBezTo>
                  <a:pt x="50006" y="46077"/>
                  <a:pt x="46792" y="42863"/>
                  <a:pt x="42863" y="42863"/>
                </a:cubicBezTo>
                <a:lnTo>
                  <a:pt x="28575" y="42863"/>
                </a:lnTo>
                <a:cubicBezTo>
                  <a:pt x="24646" y="42863"/>
                  <a:pt x="21431" y="46077"/>
                  <a:pt x="21431" y="50006"/>
                </a:cubicBezTo>
                <a:close/>
                <a:moveTo>
                  <a:pt x="157163" y="42863"/>
                </a:moveTo>
                <a:cubicBezTo>
                  <a:pt x="153233" y="42863"/>
                  <a:pt x="150019" y="46077"/>
                  <a:pt x="150019" y="50006"/>
                </a:cubicBezTo>
                <a:lnTo>
                  <a:pt x="150019" y="64294"/>
                </a:lnTo>
                <a:cubicBezTo>
                  <a:pt x="150019" y="68223"/>
                  <a:pt x="153233" y="71438"/>
                  <a:pt x="157163" y="71438"/>
                </a:cubicBezTo>
                <a:lnTo>
                  <a:pt x="171450" y="71438"/>
                </a:lnTo>
                <a:cubicBezTo>
                  <a:pt x="175379" y="71438"/>
                  <a:pt x="178594" y="68223"/>
                  <a:pt x="178594" y="64294"/>
                </a:cubicBezTo>
                <a:lnTo>
                  <a:pt x="178594" y="50006"/>
                </a:lnTo>
                <a:cubicBezTo>
                  <a:pt x="178594" y="46077"/>
                  <a:pt x="175379" y="42863"/>
                  <a:pt x="171450" y="42863"/>
                </a:cubicBezTo>
                <a:lnTo>
                  <a:pt x="157163" y="42863"/>
                </a:lnTo>
                <a:close/>
              </a:path>
            </a:pathLst>
          </a:custGeom>
          <a:ln/>
        </p:spPr>
      </p:sp>
      <p:sp>
        <p:nvSpPr>
          <p:cNvPr id="12" name="Text 9"/>
          <p:cNvSpPr/>
          <p:nvPr/>
        </p:nvSpPr>
        <p:spPr>
          <a:xfrm>
            <a:off x="1066800" y="5943600"/>
            <a:ext cx="1047750" cy="190500"/>
          </a:xfrm>
          <a:prstGeom prst="rect">
            <a:avLst/>
          </a:prstGeom>
          <a:noFill/>
          <a:ln/>
        </p:spPr>
        <p:txBody>
          <a:bodyPr wrap="square" lIns="0" tIns="0" rIns="0" bIns="0" rtlCol="0" anchor="ctr"/>
          <a:lstStyle/>
          <a:p>
            <a:pPr>
              <a:lnSpc>
                <a:spcPct val="120000"/>
              </a:lnSpc>
            </a:pPr>
            <a:r>
              <a:rPr lang="en-US" sz="1050" dirty="0">
                <a:solidFill>
                  <a:schemeClr val="tx1">
                    <a:lumMod val="85000"/>
                    <a:lumOff val="15000"/>
                  </a:schemeClr>
                </a:solidFill>
                <a:latin typeface="MiSans" pitchFamily="34" charset="0"/>
                <a:ea typeface="MiSans" pitchFamily="34" charset="-122"/>
                <a:cs typeface="MiSans" pitchFamily="34" charset="-120"/>
              </a:rPr>
              <a:t>Nhóm thực hiện</a:t>
            </a:r>
            <a:endParaRPr lang="en-US" sz="1600" dirty="0">
              <a:solidFill>
                <a:schemeClr val="tx1">
                  <a:lumMod val="85000"/>
                  <a:lumOff val="15000"/>
                </a:schemeClr>
              </a:solidFill>
            </a:endParaRPr>
          </a:p>
        </p:txBody>
      </p:sp>
      <p:sp>
        <p:nvSpPr>
          <p:cNvPr id="13" name="Text 10"/>
          <p:cNvSpPr/>
          <p:nvPr/>
        </p:nvSpPr>
        <p:spPr>
          <a:xfrm>
            <a:off x="1066800" y="6172200"/>
            <a:ext cx="1095375" cy="304800"/>
          </a:xfrm>
          <a:prstGeom prst="rect">
            <a:avLst/>
          </a:prstGeom>
          <a:noFill/>
          <a:ln/>
        </p:spPr>
        <p:txBody>
          <a:bodyPr wrap="square" lIns="0" tIns="0" rIns="0" bIns="0" rtlCol="0" anchor="ctr"/>
          <a:lstStyle/>
          <a:p>
            <a:pPr>
              <a:lnSpc>
                <a:spcPct val="110000"/>
              </a:lnSpc>
            </a:pPr>
            <a:r>
              <a:rPr lang="en-US" sz="1800" b="1" dirty="0">
                <a:solidFill>
                  <a:schemeClr val="tx1">
                    <a:lumMod val="85000"/>
                    <a:lumOff val="15000"/>
                  </a:schemeClr>
                </a:solidFill>
                <a:latin typeface="MiSans" pitchFamily="34" charset="0"/>
                <a:ea typeface="MiSans" pitchFamily="34" charset="-122"/>
                <a:cs typeface="MiSans" pitchFamily="34" charset="-120"/>
              </a:rPr>
              <a:t>Nhóm 4</a:t>
            </a:r>
            <a:endParaRPr lang="en-US" sz="1600" dirty="0">
              <a:solidFill>
                <a:schemeClr val="tx1">
                  <a:lumMod val="85000"/>
                  <a:lumOff val="15000"/>
                </a:schemeClr>
              </a:solidFill>
            </a:endParaRPr>
          </a:p>
        </p:txBody>
      </p:sp>
      <p:sp>
        <p:nvSpPr>
          <p:cNvPr id="14" name="Text 11"/>
          <p:cNvSpPr/>
          <p:nvPr/>
        </p:nvSpPr>
        <p:spPr>
          <a:xfrm>
            <a:off x="9334381" y="6076950"/>
            <a:ext cx="2476500" cy="266700"/>
          </a:xfrm>
          <a:prstGeom prst="rect">
            <a:avLst/>
          </a:prstGeom>
          <a:noFill/>
          <a:ln/>
        </p:spPr>
        <p:txBody>
          <a:bodyPr wrap="square" lIns="0" tIns="0" rIns="0" bIns="0" rtlCol="0" anchor="ctr"/>
          <a:lstStyle/>
          <a:p>
            <a:pPr algn="r">
              <a:lnSpc>
                <a:spcPct val="130000"/>
              </a:lnSpc>
            </a:pPr>
            <a:endParaRPr lang="en-US" sz="1600" dirty="0"/>
          </a:p>
        </p:txBody>
      </p:sp>
      <p:sp>
        <p:nvSpPr>
          <p:cNvPr id="15" name="Shape 1">
            <a:extLst>
              <a:ext uri="{FF2B5EF4-FFF2-40B4-BE49-F238E27FC236}">
                <a16:creationId xmlns:a16="http://schemas.microsoft.com/office/drawing/2014/main" id="{AE0479A4-68A2-6C7F-6631-616C0BD8579C}"/>
              </a:ext>
            </a:extLst>
          </p:cNvPr>
          <p:cNvSpPr/>
          <p:nvPr/>
        </p:nvSpPr>
        <p:spPr>
          <a:xfrm>
            <a:off x="9894850" y="1035429"/>
            <a:ext cx="762000" cy="38100"/>
          </a:xfrm>
          <a:custGeom>
            <a:avLst/>
            <a:gdLst/>
            <a:ahLst/>
            <a:cxnLst/>
            <a:rect l="l" t="t" r="r" b="b"/>
            <a:pathLst>
              <a:path w="762000" h="38100">
                <a:moveTo>
                  <a:pt x="19050" y="0"/>
                </a:moveTo>
                <a:lnTo>
                  <a:pt x="742950" y="0"/>
                </a:lnTo>
                <a:cubicBezTo>
                  <a:pt x="753464" y="0"/>
                  <a:pt x="762000" y="8536"/>
                  <a:pt x="762000" y="19050"/>
                </a:cubicBezTo>
                <a:lnTo>
                  <a:pt x="762000" y="19050"/>
                </a:lnTo>
                <a:cubicBezTo>
                  <a:pt x="762000" y="29564"/>
                  <a:pt x="753464" y="38100"/>
                  <a:pt x="742950" y="38100"/>
                </a:cubicBezTo>
                <a:lnTo>
                  <a:pt x="19050" y="38100"/>
                </a:lnTo>
                <a:cubicBezTo>
                  <a:pt x="8536" y="38100"/>
                  <a:pt x="0" y="29564"/>
                  <a:pt x="0" y="19050"/>
                </a:cubicBezTo>
                <a:lnTo>
                  <a:pt x="0" y="19050"/>
                </a:lnTo>
                <a:cubicBezTo>
                  <a:pt x="0" y="8536"/>
                  <a:pt x="8536" y="0"/>
                  <a:pt x="19050" y="0"/>
                </a:cubicBezTo>
                <a:close/>
              </a:path>
            </a:pathLst>
          </a:custGeom>
          <a:solidFill>
            <a:srgbClr val="E94560"/>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Shape 1"/>
          <p:cNvSpPr/>
          <p:nvPr/>
        </p:nvSpPr>
        <p:spPr>
          <a:xfrm>
            <a:off x="381000" y="495300"/>
            <a:ext cx="38100" cy="457200"/>
          </a:xfrm>
          <a:custGeom>
            <a:avLst/>
            <a:gdLst/>
            <a:ahLst/>
            <a:cxnLst/>
            <a:rect l="l" t="t" r="r" b="b"/>
            <a:pathLst>
              <a:path w="38100" h="457200">
                <a:moveTo>
                  <a:pt x="19050" y="0"/>
                </a:moveTo>
                <a:lnTo>
                  <a:pt x="19050" y="0"/>
                </a:lnTo>
                <a:cubicBezTo>
                  <a:pt x="29564" y="0"/>
                  <a:pt x="38100" y="8536"/>
                  <a:pt x="38100" y="19050"/>
                </a:cubicBezTo>
                <a:lnTo>
                  <a:pt x="38100" y="438150"/>
                </a:lnTo>
                <a:cubicBezTo>
                  <a:pt x="38100" y="448664"/>
                  <a:pt x="29564" y="457200"/>
                  <a:pt x="19050" y="457200"/>
                </a:cubicBezTo>
                <a:lnTo>
                  <a:pt x="19050" y="457200"/>
                </a:lnTo>
                <a:cubicBezTo>
                  <a:pt x="8536" y="457200"/>
                  <a:pt x="0" y="448664"/>
                  <a:pt x="0" y="438150"/>
                </a:cubicBezTo>
                <a:lnTo>
                  <a:pt x="0" y="19050"/>
                </a:lnTo>
                <a:cubicBezTo>
                  <a:pt x="0" y="8536"/>
                  <a:pt x="8536" y="0"/>
                  <a:pt x="19050" y="0"/>
                </a:cubicBezTo>
                <a:close/>
              </a:path>
            </a:pathLst>
          </a:custGeom>
          <a:solidFill>
            <a:srgbClr val="5B9BD5"/>
          </a:solidFill>
          <a:ln/>
        </p:spPr>
      </p:sp>
      <p:sp>
        <p:nvSpPr>
          <p:cNvPr id="5" name="Text 2"/>
          <p:cNvSpPr/>
          <p:nvPr/>
        </p:nvSpPr>
        <p:spPr>
          <a:xfrm>
            <a:off x="10210800" y="4724281"/>
            <a:ext cx="1485900" cy="190500"/>
          </a:xfrm>
          <a:prstGeom prst="rect">
            <a:avLst/>
          </a:prstGeom>
          <a:noFill/>
          <a:ln/>
        </p:spPr>
        <p:txBody>
          <a:bodyPr wrap="square" lIns="0" tIns="0" rIns="0" bIns="0" rtlCol="0" anchor="ctr"/>
          <a:lstStyle/>
          <a:p>
            <a:pPr>
              <a:lnSpc>
                <a:spcPct val="120000"/>
              </a:lnSpc>
            </a:pPr>
            <a:r>
              <a:rPr lang="en-US" sz="1050" b="1" kern="0" spc="53" dirty="0">
                <a:solidFill>
                  <a:srgbClr val="5B9BD5"/>
                </a:solidFill>
                <a:latin typeface="MiSans" pitchFamily="34" charset="0"/>
                <a:ea typeface="MiSans" pitchFamily="34" charset="-122"/>
                <a:cs typeface="MiSans" pitchFamily="34" charset="-120"/>
              </a:rPr>
              <a:t>Team Information</a:t>
            </a:r>
            <a:endParaRPr lang="en-US" sz="1600" dirty="0"/>
          </a:p>
        </p:txBody>
      </p:sp>
      <p:sp>
        <p:nvSpPr>
          <p:cNvPr id="6" name="Text 3"/>
          <p:cNvSpPr/>
          <p:nvPr/>
        </p:nvSpPr>
        <p:spPr>
          <a:xfrm>
            <a:off x="10180571" y="5064868"/>
            <a:ext cx="1647825" cy="457200"/>
          </a:xfrm>
          <a:prstGeom prst="rect">
            <a:avLst/>
          </a:prstGeom>
          <a:noFill/>
          <a:ln/>
        </p:spPr>
        <p:txBody>
          <a:bodyPr wrap="square" lIns="0" tIns="0" rIns="0" bIns="0" rtlCol="0" anchor="ctr"/>
          <a:lstStyle/>
          <a:p>
            <a:pPr>
              <a:lnSpc>
                <a:spcPct val="80000"/>
              </a:lnSpc>
            </a:pPr>
            <a:r>
              <a:rPr lang="en-US" sz="3600" b="1" dirty="0">
                <a:solidFill>
                  <a:srgbClr val="16213E"/>
                </a:solidFill>
                <a:latin typeface="得意黑" pitchFamily="34" charset="0"/>
                <a:ea typeface="得意黑" pitchFamily="34" charset="-122"/>
                <a:cs typeface="得意黑" pitchFamily="34" charset="-120"/>
              </a:rPr>
              <a:t>Nhóm 4</a:t>
            </a:r>
            <a:endParaRPr lang="en-US" sz="1600" dirty="0"/>
          </a:p>
        </p:txBody>
      </p:sp>
      <p:sp>
        <p:nvSpPr>
          <p:cNvPr id="7" name="Text 4"/>
          <p:cNvSpPr/>
          <p:nvPr/>
        </p:nvSpPr>
        <p:spPr>
          <a:xfrm>
            <a:off x="609600" y="1181100"/>
            <a:ext cx="11296650" cy="266700"/>
          </a:xfrm>
          <a:prstGeom prst="rect">
            <a:avLst/>
          </a:prstGeom>
          <a:noFill/>
          <a:ln/>
        </p:spPr>
        <p:txBody>
          <a:bodyPr wrap="square" lIns="0" tIns="0" rIns="0" bIns="0" rtlCol="0" anchor="ctr"/>
          <a:lstStyle/>
          <a:p>
            <a:pPr>
              <a:lnSpc>
                <a:spcPct val="120000"/>
              </a:lnSpc>
            </a:pPr>
            <a:r>
              <a:rPr lang="en-US" sz="1500" dirty="0">
                <a:solidFill>
                  <a:srgbClr val="44546A"/>
                </a:solidFill>
                <a:latin typeface="MiSans" pitchFamily="34" charset="0"/>
                <a:ea typeface="MiSans" pitchFamily="34" charset="-122"/>
                <a:cs typeface="MiSans" pitchFamily="34" charset="-120"/>
              </a:rPr>
              <a:t>Thông tin thành viên và phân công công việc</a:t>
            </a:r>
            <a:endParaRPr lang="en-US" sz="1600" dirty="0"/>
          </a:p>
        </p:txBody>
      </p:sp>
      <p:sp>
        <p:nvSpPr>
          <p:cNvPr id="8" name="Shape 5"/>
          <p:cNvSpPr/>
          <p:nvPr/>
        </p:nvSpPr>
        <p:spPr>
          <a:xfrm>
            <a:off x="400050" y="1848238"/>
            <a:ext cx="5569897" cy="1378234"/>
          </a:xfrm>
          <a:custGeom>
            <a:avLst/>
            <a:gdLst/>
            <a:ahLst/>
            <a:cxnLst/>
            <a:rect l="l" t="t" r="r" b="b"/>
            <a:pathLst>
              <a:path w="5619750" h="1295400">
                <a:moveTo>
                  <a:pt x="38100" y="0"/>
                </a:moveTo>
                <a:lnTo>
                  <a:pt x="5467346" y="0"/>
                </a:lnTo>
                <a:cubicBezTo>
                  <a:pt x="5551516" y="0"/>
                  <a:pt x="5619750" y="68234"/>
                  <a:pt x="5619750" y="152404"/>
                </a:cubicBezTo>
                <a:lnTo>
                  <a:pt x="5619750" y="1142996"/>
                </a:lnTo>
                <a:cubicBezTo>
                  <a:pt x="5619750" y="1227166"/>
                  <a:pt x="5551516" y="1295400"/>
                  <a:pt x="5467346" y="1295400"/>
                </a:cubicBezTo>
                <a:lnTo>
                  <a:pt x="38100" y="1295400"/>
                </a:lnTo>
                <a:cubicBezTo>
                  <a:pt x="17072" y="1295400"/>
                  <a:pt x="0" y="1278328"/>
                  <a:pt x="0" y="1257300"/>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txBody>
          <a:bodyPr/>
          <a:lstStyle/>
          <a:p>
            <a:endParaRPr lang="en-US" dirty="0"/>
          </a:p>
          <a:p>
            <a:endParaRPr lang="en-US" dirty="0"/>
          </a:p>
          <a:p>
            <a:r>
              <a:rPr lang="en-US" dirty="0"/>
              <a:t>Figma, Doc, Latex</a:t>
            </a:r>
          </a:p>
          <a:p>
            <a:r>
              <a:rPr lang="en-US" dirty="0">
                <a:hlinkClick r:id="rId3"/>
              </a:rPr>
              <a:t>https://github.com/nhathao-15</a:t>
            </a:r>
            <a:endParaRPr lang="en-US" dirty="0"/>
          </a:p>
          <a:p>
            <a:endParaRPr lang="en-US" dirty="0"/>
          </a:p>
        </p:txBody>
      </p:sp>
      <p:sp>
        <p:nvSpPr>
          <p:cNvPr id="9" name="Shape 6"/>
          <p:cNvSpPr/>
          <p:nvPr/>
        </p:nvSpPr>
        <p:spPr>
          <a:xfrm>
            <a:off x="400050" y="1937665"/>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5B9BD5"/>
          </a:solidFill>
          <a:ln/>
        </p:spPr>
      </p:sp>
      <p:sp>
        <p:nvSpPr>
          <p:cNvPr id="10" name="Shape 7"/>
          <p:cNvSpPr/>
          <p:nvPr/>
        </p:nvSpPr>
        <p:spPr>
          <a:xfrm>
            <a:off x="609600" y="1857569"/>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flip="none" rotWithShape="1">
            <a:gsLst>
              <a:gs pos="0">
                <a:srgbClr val="5B9BD5"/>
              </a:gs>
              <a:gs pos="100000">
                <a:srgbClr val="4472C4"/>
              </a:gs>
            </a:gsLst>
            <a:lin ang="2700000" scaled="1"/>
          </a:gradFill>
          <a:ln/>
          <a:effectLst>
            <a:outerShdw blurRad="142875" dist="95250" dir="5400000" algn="bl" rotWithShape="0">
              <a:srgbClr val="000000">
                <a:alpha val="10196"/>
              </a:srgbClr>
            </a:outerShdw>
          </a:effectLst>
        </p:spPr>
      </p:sp>
      <p:sp>
        <p:nvSpPr>
          <p:cNvPr id="11" name="Text 8"/>
          <p:cNvSpPr/>
          <p:nvPr/>
        </p:nvSpPr>
        <p:spPr>
          <a:xfrm>
            <a:off x="681038" y="2019300"/>
            <a:ext cx="5810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MiSans" pitchFamily="34" charset="0"/>
                <a:ea typeface="MiSans" pitchFamily="34" charset="-122"/>
                <a:cs typeface="MiSans" pitchFamily="34" charset="-120"/>
              </a:rPr>
              <a:t>TNH</a:t>
            </a:r>
            <a:endParaRPr lang="en-US" sz="1600" dirty="0"/>
          </a:p>
        </p:txBody>
      </p:sp>
      <p:sp>
        <p:nvSpPr>
          <p:cNvPr id="12" name="Text 9"/>
          <p:cNvSpPr/>
          <p:nvPr/>
        </p:nvSpPr>
        <p:spPr>
          <a:xfrm>
            <a:off x="1371600" y="1866900"/>
            <a:ext cx="4572000"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Trần Nhật Hào</a:t>
            </a:r>
            <a:endParaRPr lang="en-US" sz="1600" dirty="0"/>
          </a:p>
        </p:txBody>
      </p:sp>
      <p:sp>
        <p:nvSpPr>
          <p:cNvPr id="13" name="Text 10"/>
          <p:cNvSpPr/>
          <p:nvPr/>
        </p:nvSpPr>
        <p:spPr>
          <a:xfrm>
            <a:off x="1371600" y="2209681"/>
            <a:ext cx="4533900" cy="228600"/>
          </a:xfrm>
          <a:prstGeom prst="rect">
            <a:avLst/>
          </a:prstGeom>
          <a:noFill/>
          <a:ln/>
        </p:spPr>
        <p:txBody>
          <a:bodyPr wrap="square" lIns="0" tIns="0" rIns="0" bIns="0" rtlCol="0" anchor="ctr"/>
          <a:lstStyle/>
          <a:p>
            <a:pPr>
              <a:lnSpc>
                <a:spcPct val="130000"/>
              </a:lnSpc>
            </a:pPr>
            <a:r>
              <a:rPr lang="en-US" sz="1200" dirty="0">
                <a:solidFill>
                  <a:srgbClr val="44546A"/>
                </a:solidFill>
                <a:latin typeface="MiSans" pitchFamily="34" charset="0"/>
                <a:ea typeface="MiSans" pitchFamily="34" charset="-122"/>
                <a:cs typeface="MiSans" pitchFamily="34" charset="-120"/>
              </a:rPr>
              <a:t>MSSV: </a:t>
            </a:r>
            <a:r>
              <a:rPr lang="en-US" sz="1200" b="1" dirty="0">
                <a:solidFill>
                  <a:srgbClr val="16213E"/>
                </a:solidFill>
                <a:latin typeface="MiSans" pitchFamily="34" charset="0"/>
                <a:ea typeface="MiSans" pitchFamily="34" charset="-122"/>
                <a:cs typeface="MiSans" pitchFamily="34" charset="-120"/>
              </a:rPr>
              <a:t>079205009892</a:t>
            </a:r>
            <a:endParaRPr lang="en-US" sz="1600" dirty="0"/>
          </a:p>
        </p:txBody>
      </p:sp>
      <p:sp>
        <p:nvSpPr>
          <p:cNvPr id="18" name="Shape 15"/>
          <p:cNvSpPr/>
          <p:nvPr/>
        </p:nvSpPr>
        <p:spPr>
          <a:xfrm>
            <a:off x="6182696" y="1857569"/>
            <a:ext cx="5577180" cy="1375496"/>
          </a:xfrm>
          <a:custGeom>
            <a:avLst/>
            <a:gdLst/>
            <a:ahLst/>
            <a:cxnLst/>
            <a:rect l="l" t="t" r="r" b="b"/>
            <a:pathLst>
              <a:path w="5619750" h="1295400">
                <a:moveTo>
                  <a:pt x="38100" y="0"/>
                </a:moveTo>
                <a:lnTo>
                  <a:pt x="5467346" y="0"/>
                </a:lnTo>
                <a:cubicBezTo>
                  <a:pt x="5551516" y="0"/>
                  <a:pt x="5619750" y="68234"/>
                  <a:pt x="5619750" y="152404"/>
                </a:cubicBezTo>
                <a:lnTo>
                  <a:pt x="5619750" y="1142996"/>
                </a:lnTo>
                <a:cubicBezTo>
                  <a:pt x="5619750" y="1227166"/>
                  <a:pt x="5551516" y="1295400"/>
                  <a:pt x="5467346" y="1295400"/>
                </a:cubicBezTo>
                <a:lnTo>
                  <a:pt x="38100" y="1295400"/>
                </a:lnTo>
                <a:cubicBezTo>
                  <a:pt x="17072" y="1295400"/>
                  <a:pt x="0" y="1278328"/>
                  <a:pt x="0" y="1257300"/>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txBody>
          <a:bodyPr/>
          <a:lstStyle/>
          <a:p>
            <a:endParaRPr lang="en-US" dirty="0"/>
          </a:p>
          <a:p>
            <a:endParaRPr lang="en-US" dirty="0"/>
          </a:p>
          <a:p>
            <a:r>
              <a:rPr lang="en-US" dirty="0"/>
              <a:t>Figma, Slide</a:t>
            </a:r>
          </a:p>
          <a:p>
            <a:r>
              <a:rPr lang="en-US" dirty="0">
                <a:hlinkClick r:id="rId4" action="ppaction://hlinksldjump"/>
              </a:rPr>
              <a:t>https://github.com/nguyenvy2103</a:t>
            </a:r>
            <a:endParaRPr lang="en-US" dirty="0"/>
          </a:p>
          <a:p>
            <a:endParaRPr lang="en-US" dirty="0"/>
          </a:p>
        </p:txBody>
      </p:sp>
      <p:sp>
        <p:nvSpPr>
          <p:cNvPr id="19" name="Shape 16"/>
          <p:cNvSpPr/>
          <p:nvPr/>
        </p:nvSpPr>
        <p:spPr>
          <a:xfrm>
            <a:off x="6144595" y="1928332"/>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ED7D31"/>
          </a:solidFill>
          <a:ln/>
        </p:spPr>
      </p:sp>
      <p:sp>
        <p:nvSpPr>
          <p:cNvPr id="20" name="Shape 17"/>
          <p:cNvSpPr/>
          <p:nvPr/>
        </p:nvSpPr>
        <p:spPr>
          <a:xfrm>
            <a:off x="6400800" y="1885562"/>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flip="none" rotWithShape="1">
            <a:gsLst>
              <a:gs pos="0">
                <a:srgbClr val="ED7D31"/>
              </a:gs>
              <a:gs pos="100000">
                <a:srgbClr val="FFC000"/>
              </a:gs>
            </a:gsLst>
            <a:lin ang="2700000" scaled="1"/>
          </a:gradFill>
          <a:ln/>
          <a:effectLst>
            <a:outerShdw blurRad="142875" dist="95250" dir="5400000" algn="bl" rotWithShape="0">
              <a:srgbClr val="000000">
                <a:alpha val="10196"/>
              </a:srgbClr>
            </a:outerShdw>
          </a:effectLst>
        </p:spPr>
      </p:sp>
      <p:sp>
        <p:nvSpPr>
          <p:cNvPr id="21" name="Text 18"/>
          <p:cNvSpPr/>
          <p:nvPr/>
        </p:nvSpPr>
        <p:spPr>
          <a:xfrm>
            <a:off x="6480334" y="2047293"/>
            <a:ext cx="56197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MiSans" pitchFamily="34" charset="0"/>
                <a:ea typeface="MiSans" pitchFamily="34" charset="-122"/>
                <a:cs typeface="MiSans" pitchFamily="34" charset="-120"/>
              </a:rPr>
              <a:t>THV</a:t>
            </a:r>
            <a:endParaRPr lang="en-US" sz="1600" dirty="0"/>
          </a:p>
        </p:txBody>
      </p:sp>
      <p:sp>
        <p:nvSpPr>
          <p:cNvPr id="22" name="Text 19"/>
          <p:cNvSpPr/>
          <p:nvPr/>
        </p:nvSpPr>
        <p:spPr>
          <a:xfrm>
            <a:off x="7162800" y="1885562"/>
            <a:ext cx="4572000"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Trần Hoài Nguyên Vỹ</a:t>
            </a:r>
            <a:endParaRPr lang="en-US" sz="1600" dirty="0"/>
          </a:p>
        </p:txBody>
      </p:sp>
      <p:sp>
        <p:nvSpPr>
          <p:cNvPr id="23" name="Text 20"/>
          <p:cNvSpPr/>
          <p:nvPr/>
        </p:nvSpPr>
        <p:spPr>
          <a:xfrm>
            <a:off x="7162800" y="2228343"/>
            <a:ext cx="4533900" cy="228600"/>
          </a:xfrm>
          <a:prstGeom prst="rect">
            <a:avLst/>
          </a:prstGeom>
          <a:noFill/>
          <a:ln/>
        </p:spPr>
        <p:txBody>
          <a:bodyPr wrap="square" lIns="0" tIns="0" rIns="0" bIns="0" rtlCol="0" anchor="ctr"/>
          <a:lstStyle/>
          <a:p>
            <a:pPr>
              <a:lnSpc>
                <a:spcPct val="130000"/>
              </a:lnSpc>
            </a:pPr>
            <a:r>
              <a:rPr lang="en-US" sz="1200" dirty="0">
                <a:solidFill>
                  <a:srgbClr val="44546A"/>
                </a:solidFill>
                <a:latin typeface="MiSans" pitchFamily="34" charset="0"/>
                <a:ea typeface="MiSans" pitchFamily="34" charset="-122"/>
                <a:cs typeface="MiSans" pitchFamily="34" charset="-120"/>
              </a:rPr>
              <a:t>MSSV: </a:t>
            </a:r>
            <a:r>
              <a:rPr lang="en-US" sz="1200" b="1" dirty="0">
                <a:solidFill>
                  <a:srgbClr val="16213E"/>
                </a:solidFill>
                <a:latin typeface="MiSans" pitchFamily="34" charset="0"/>
                <a:ea typeface="MiSans" pitchFamily="34" charset="-122"/>
                <a:cs typeface="MiSans" pitchFamily="34" charset="-120"/>
              </a:rPr>
              <a:t>060205007823</a:t>
            </a:r>
            <a:endParaRPr lang="en-US" sz="1600" dirty="0"/>
          </a:p>
        </p:txBody>
      </p:sp>
      <p:sp>
        <p:nvSpPr>
          <p:cNvPr id="28" name="Shape 25"/>
          <p:cNvSpPr/>
          <p:nvPr/>
        </p:nvSpPr>
        <p:spPr>
          <a:xfrm>
            <a:off x="428625" y="3558186"/>
            <a:ext cx="5572126" cy="1318506"/>
          </a:xfrm>
          <a:custGeom>
            <a:avLst/>
            <a:gdLst/>
            <a:ahLst/>
            <a:cxnLst/>
            <a:rect l="l" t="t" r="r" b="b"/>
            <a:pathLst>
              <a:path w="5619750" h="1295400">
                <a:moveTo>
                  <a:pt x="38100" y="0"/>
                </a:moveTo>
                <a:lnTo>
                  <a:pt x="5467346" y="0"/>
                </a:lnTo>
                <a:cubicBezTo>
                  <a:pt x="5551516" y="0"/>
                  <a:pt x="5619750" y="68234"/>
                  <a:pt x="5619750" y="152404"/>
                </a:cubicBezTo>
                <a:lnTo>
                  <a:pt x="5619750" y="1142996"/>
                </a:lnTo>
                <a:cubicBezTo>
                  <a:pt x="5619750" y="1227166"/>
                  <a:pt x="5551516" y="1295400"/>
                  <a:pt x="5467346" y="1295400"/>
                </a:cubicBezTo>
                <a:lnTo>
                  <a:pt x="38100" y="1295400"/>
                </a:lnTo>
                <a:cubicBezTo>
                  <a:pt x="17072" y="1295400"/>
                  <a:pt x="0" y="1278328"/>
                  <a:pt x="0" y="1257300"/>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txBody>
          <a:bodyPr/>
          <a:lstStyle/>
          <a:p>
            <a:endParaRPr lang="en-US" dirty="0"/>
          </a:p>
          <a:p>
            <a:endParaRPr lang="en-US" dirty="0"/>
          </a:p>
          <a:p>
            <a:r>
              <a:rPr lang="en-US" dirty="0"/>
              <a:t>Figma, </a:t>
            </a:r>
            <a:r>
              <a:rPr lang="en-US" dirty="0" err="1"/>
              <a:t>Fontend</a:t>
            </a:r>
            <a:endParaRPr lang="en-US" dirty="0"/>
          </a:p>
          <a:p>
            <a:r>
              <a:rPr lang="en-US" dirty="0">
                <a:hlinkClick r:id="rId5"/>
              </a:rPr>
              <a:t>https://github.com/Hien-LL</a:t>
            </a:r>
            <a:endParaRPr lang="en-US" dirty="0"/>
          </a:p>
          <a:p>
            <a:endParaRPr lang="en-US" dirty="0"/>
          </a:p>
        </p:txBody>
      </p:sp>
      <p:sp>
        <p:nvSpPr>
          <p:cNvPr id="29" name="Shape 26"/>
          <p:cNvSpPr/>
          <p:nvPr/>
        </p:nvSpPr>
        <p:spPr>
          <a:xfrm>
            <a:off x="400050" y="3581292"/>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70AD47"/>
          </a:solidFill>
          <a:ln/>
        </p:spPr>
      </p:sp>
      <p:sp>
        <p:nvSpPr>
          <p:cNvPr id="30" name="Shape 27"/>
          <p:cNvSpPr/>
          <p:nvPr/>
        </p:nvSpPr>
        <p:spPr>
          <a:xfrm>
            <a:off x="609600" y="3566514"/>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flip="none" rotWithShape="1">
            <a:gsLst>
              <a:gs pos="0">
                <a:srgbClr val="70AD47"/>
              </a:gs>
              <a:gs pos="100000">
                <a:srgbClr val="A5A5A5"/>
              </a:gs>
            </a:gsLst>
            <a:lin ang="2700000" scaled="1"/>
          </a:gradFill>
          <a:ln/>
          <a:effectLst>
            <a:outerShdw blurRad="142875" dist="95250" dir="5400000" algn="bl" rotWithShape="0">
              <a:srgbClr val="000000">
                <a:alpha val="10196"/>
              </a:srgbClr>
            </a:outerShdw>
          </a:effectLst>
        </p:spPr>
      </p:sp>
      <p:sp>
        <p:nvSpPr>
          <p:cNvPr id="31" name="Text 28"/>
          <p:cNvSpPr/>
          <p:nvPr/>
        </p:nvSpPr>
        <p:spPr>
          <a:xfrm>
            <a:off x="649843" y="3728244"/>
            <a:ext cx="64770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MiSans" pitchFamily="34" charset="0"/>
                <a:ea typeface="MiSans" pitchFamily="34" charset="-122"/>
                <a:cs typeface="MiSans" pitchFamily="34" charset="-120"/>
              </a:rPr>
              <a:t>NMH</a:t>
            </a:r>
            <a:endParaRPr lang="en-US" sz="1600" dirty="0"/>
          </a:p>
        </p:txBody>
      </p:sp>
      <p:sp>
        <p:nvSpPr>
          <p:cNvPr id="32" name="Text 29"/>
          <p:cNvSpPr/>
          <p:nvPr/>
        </p:nvSpPr>
        <p:spPr>
          <a:xfrm>
            <a:off x="1371600" y="3613165"/>
            <a:ext cx="4572000"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Nguyễn Mạnh Hiền</a:t>
            </a:r>
            <a:endParaRPr lang="en-US" sz="1600" dirty="0"/>
          </a:p>
        </p:txBody>
      </p:sp>
      <p:sp>
        <p:nvSpPr>
          <p:cNvPr id="33" name="Text 30"/>
          <p:cNvSpPr/>
          <p:nvPr/>
        </p:nvSpPr>
        <p:spPr>
          <a:xfrm>
            <a:off x="1371600" y="3946613"/>
            <a:ext cx="4533900" cy="228600"/>
          </a:xfrm>
          <a:prstGeom prst="rect">
            <a:avLst/>
          </a:prstGeom>
          <a:noFill/>
          <a:ln/>
        </p:spPr>
        <p:txBody>
          <a:bodyPr wrap="square" lIns="0" tIns="0" rIns="0" bIns="0" rtlCol="0" anchor="ctr"/>
          <a:lstStyle/>
          <a:p>
            <a:pPr>
              <a:lnSpc>
                <a:spcPct val="130000"/>
              </a:lnSpc>
            </a:pPr>
            <a:r>
              <a:rPr lang="en-US" sz="1200" dirty="0">
                <a:solidFill>
                  <a:srgbClr val="44546A"/>
                </a:solidFill>
                <a:latin typeface="MiSans" pitchFamily="34" charset="0"/>
                <a:ea typeface="MiSans" pitchFamily="34" charset="-122"/>
                <a:cs typeface="MiSans" pitchFamily="34" charset="-120"/>
              </a:rPr>
              <a:t>MSSV: </a:t>
            </a:r>
            <a:r>
              <a:rPr lang="en-US" sz="1200" b="1" dirty="0">
                <a:solidFill>
                  <a:srgbClr val="16213E"/>
                </a:solidFill>
                <a:latin typeface="MiSans" pitchFamily="34" charset="0"/>
                <a:ea typeface="MiSans" pitchFamily="34" charset="-122"/>
                <a:cs typeface="MiSans" pitchFamily="34" charset="-120"/>
              </a:rPr>
              <a:t>060205006564</a:t>
            </a:r>
            <a:endParaRPr lang="en-US" sz="1600" dirty="0"/>
          </a:p>
        </p:txBody>
      </p:sp>
      <p:sp>
        <p:nvSpPr>
          <p:cNvPr id="38" name="Shape 35"/>
          <p:cNvSpPr/>
          <p:nvPr/>
        </p:nvSpPr>
        <p:spPr>
          <a:xfrm>
            <a:off x="6140126" y="3581292"/>
            <a:ext cx="5619750" cy="1295400"/>
          </a:xfrm>
          <a:custGeom>
            <a:avLst/>
            <a:gdLst/>
            <a:ahLst/>
            <a:cxnLst/>
            <a:rect l="l" t="t" r="r" b="b"/>
            <a:pathLst>
              <a:path w="5619750" h="1295400">
                <a:moveTo>
                  <a:pt x="38100" y="0"/>
                </a:moveTo>
                <a:lnTo>
                  <a:pt x="5467346" y="0"/>
                </a:lnTo>
                <a:cubicBezTo>
                  <a:pt x="5551516" y="0"/>
                  <a:pt x="5619750" y="68234"/>
                  <a:pt x="5619750" y="152404"/>
                </a:cubicBezTo>
                <a:lnTo>
                  <a:pt x="5619750" y="1142996"/>
                </a:lnTo>
                <a:cubicBezTo>
                  <a:pt x="5619750" y="1227166"/>
                  <a:pt x="5551516" y="1295400"/>
                  <a:pt x="5467346" y="1295400"/>
                </a:cubicBezTo>
                <a:lnTo>
                  <a:pt x="38100" y="1295400"/>
                </a:lnTo>
                <a:cubicBezTo>
                  <a:pt x="17072" y="1295400"/>
                  <a:pt x="0" y="1278328"/>
                  <a:pt x="0" y="1257300"/>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txBody>
          <a:bodyPr/>
          <a:lstStyle/>
          <a:p>
            <a:endParaRPr lang="en-US" dirty="0"/>
          </a:p>
          <a:p>
            <a:endParaRPr lang="en-US" dirty="0"/>
          </a:p>
          <a:p>
            <a:r>
              <a:rPr lang="en-US" dirty="0"/>
              <a:t>Figma, Backend</a:t>
            </a:r>
          </a:p>
          <a:p>
            <a:r>
              <a:rPr lang="en-US" dirty="0">
                <a:hlinkClick r:id="rId4" action="ppaction://hlinksldjump"/>
              </a:rPr>
              <a:t>https://github.com/trieuhoang1212</a:t>
            </a:r>
            <a:endParaRPr lang="en-US" dirty="0"/>
          </a:p>
          <a:p>
            <a:endParaRPr lang="en-US" dirty="0"/>
          </a:p>
        </p:txBody>
      </p:sp>
      <p:sp>
        <p:nvSpPr>
          <p:cNvPr id="39" name="Shape 36"/>
          <p:cNvSpPr/>
          <p:nvPr/>
        </p:nvSpPr>
        <p:spPr>
          <a:xfrm>
            <a:off x="6144595" y="3571955"/>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4472C4"/>
          </a:solidFill>
          <a:ln/>
        </p:spPr>
      </p:sp>
      <p:sp>
        <p:nvSpPr>
          <p:cNvPr id="40" name="Shape 37"/>
          <p:cNvSpPr/>
          <p:nvPr/>
        </p:nvSpPr>
        <p:spPr>
          <a:xfrm>
            <a:off x="6400800" y="3566513"/>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gradFill flip="none" rotWithShape="1">
            <a:gsLst>
              <a:gs pos="0">
                <a:srgbClr val="4472C4"/>
              </a:gs>
              <a:gs pos="100000">
                <a:srgbClr val="5B9BD5"/>
              </a:gs>
            </a:gsLst>
            <a:lin ang="2700000" scaled="1"/>
          </a:gradFill>
          <a:ln/>
          <a:effectLst>
            <a:outerShdw blurRad="142875" dist="95250" dir="5400000" algn="bl" rotWithShape="0">
              <a:srgbClr val="000000">
                <a:alpha val="10196"/>
              </a:srgbClr>
            </a:outerShdw>
          </a:effectLst>
        </p:spPr>
        <p:txBody>
          <a:bodyPr/>
          <a:lstStyle/>
          <a:p>
            <a:endParaRPr lang="en-US" dirty="0"/>
          </a:p>
        </p:txBody>
      </p:sp>
      <p:sp>
        <p:nvSpPr>
          <p:cNvPr id="41" name="Text 38"/>
          <p:cNvSpPr/>
          <p:nvPr/>
        </p:nvSpPr>
        <p:spPr>
          <a:xfrm>
            <a:off x="6472238" y="3728242"/>
            <a:ext cx="5810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MiSans" pitchFamily="34" charset="0"/>
                <a:ea typeface="MiSans" pitchFamily="34" charset="-122"/>
                <a:cs typeface="MiSans" pitchFamily="34" charset="-120"/>
              </a:rPr>
              <a:t>NHT</a:t>
            </a:r>
            <a:endParaRPr lang="en-US" sz="1600" dirty="0"/>
          </a:p>
        </p:txBody>
      </p:sp>
      <p:sp>
        <p:nvSpPr>
          <p:cNvPr id="42" name="Text 39"/>
          <p:cNvSpPr/>
          <p:nvPr/>
        </p:nvSpPr>
        <p:spPr>
          <a:xfrm>
            <a:off x="7162800" y="3575843"/>
            <a:ext cx="4572000"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Nguyễn Hoàng Triều</a:t>
            </a:r>
            <a:endParaRPr lang="en-US" sz="1600" dirty="0"/>
          </a:p>
        </p:txBody>
      </p:sp>
      <p:sp>
        <p:nvSpPr>
          <p:cNvPr id="43" name="Text 40"/>
          <p:cNvSpPr/>
          <p:nvPr/>
        </p:nvSpPr>
        <p:spPr>
          <a:xfrm>
            <a:off x="7162800" y="3937404"/>
            <a:ext cx="4533900" cy="228600"/>
          </a:xfrm>
          <a:prstGeom prst="rect">
            <a:avLst/>
          </a:prstGeom>
          <a:noFill/>
          <a:ln/>
        </p:spPr>
        <p:txBody>
          <a:bodyPr wrap="square" lIns="0" tIns="0" rIns="0" bIns="0" rtlCol="0" anchor="ctr"/>
          <a:lstStyle/>
          <a:p>
            <a:pPr>
              <a:lnSpc>
                <a:spcPct val="130000"/>
              </a:lnSpc>
            </a:pPr>
            <a:r>
              <a:rPr lang="en-US" sz="1200" dirty="0">
                <a:solidFill>
                  <a:srgbClr val="44546A"/>
                </a:solidFill>
                <a:latin typeface="MiSans" pitchFamily="34" charset="0"/>
                <a:ea typeface="MiSans" pitchFamily="34" charset="-122"/>
                <a:cs typeface="MiSans" pitchFamily="34" charset="-120"/>
              </a:rPr>
              <a:t>MSSV: </a:t>
            </a:r>
            <a:r>
              <a:rPr lang="en-US" sz="1200" b="1" dirty="0">
                <a:solidFill>
                  <a:srgbClr val="16213E"/>
                </a:solidFill>
                <a:latin typeface="MiSans" pitchFamily="34" charset="0"/>
                <a:ea typeface="MiSans" pitchFamily="34" charset="-122"/>
                <a:cs typeface="MiSans" pitchFamily="34" charset="-120"/>
              </a:rPr>
              <a:t>092205002523</a:t>
            </a:r>
            <a:endParaRPr lang="en-US" sz="1600" dirty="0"/>
          </a:p>
        </p:txBody>
      </p:sp>
      <p:sp>
        <p:nvSpPr>
          <p:cNvPr id="48" name="Shape 45"/>
          <p:cNvSpPr/>
          <p:nvPr/>
        </p:nvSpPr>
        <p:spPr>
          <a:xfrm>
            <a:off x="381000" y="6343650"/>
            <a:ext cx="609600" cy="38100"/>
          </a:xfrm>
          <a:custGeom>
            <a:avLst/>
            <a:gdLst/>
            <a:ahLst/>
            <a:cxnLst/>
            <a:rect l="l" t="t" r="r" b="b"/>
            <a:pathLst>
              <a:path w="609600" h="38100">
                <a:moveTo>
                  <a:pt x="19050" y="0"/>
                </a:moveTo>
                <a:lnTo>
                  <a:pt x="590550" y="0"/>
                </a:lnTo>
                <a:cubicBezTo>
                  <a:pt x="601064" y="0"/>
                  <a:pt x="609600" y="8536"/>
                  <a:pt x="609600" y="19050"/>
                </a:cubicBezTo>
                <a:lnTo>
                  <a:pt x="609600" y="19050"/>
                </a:lnTo>
                <a:cubicBezTo>
                  <a:pt x="609600" y="29564"/>
                  <a:pt x="601064" y="38100"/>
                  <a:pt x="590550" y="38100"/>
                </a:cubicBezTo>
                <a:lnTo>
                  <a:pt x="19050" y="38100"/>
                </a:lnTo>
                <a:cubicBezTo>
                  <a:pt x="8536" y="38100"/>
                  <a:pt x="0" y="29564"/>
                  <a:pt x="0" y="19050"/>
                </a:cubicBezTo>
                <a:lnTo>
                  <a:pt x="0" y="19050"/>
                </a:lnTo>
                <a:cubicBezTo>
                  <a:pt x="0" y="8536"/>
                  <a:pt x="8536" y="0"/>
                  <a:pt x="19050" y="0"/>
                </a:cubicBezTo>
                <a:close/>
              </a:path>
            </a:pathLst>
          </a:custGeom>
          <a:gradFill flip="none" rotWithShape="1">
            <a:gsLst>
              <a:gs pos="0">
                <a:srgbClr val="5B9BD5"/>
              </a:gs>
              <a:gs pos="100000">
                <a:srgbClr val="4472C4"/>
              </a:gs>
            </a:gsLst>
            <a:lin ang="0" scaled="1"/>
          </a:gradFill>
          <a:ln/>
        </p:spPr>
      </p:sp>
      <p:sp>
        <p:nvSpPr>
          <p:cNvPr id="49" name="Text 46"/>
          <p:cNvSpPr/>
          <p:nvPr/>
        </p:nvSpPr>
        <p:spPr>
          <a:xfrm>
            <a:off x="1164188" y="6248400"/>
            <a:ext cx="3514725" cy="228600"/>
          </a:xfrm>
          <a:prstGeom prst="rect">
            <a:avLst/>
          </a:prstGeom>
          <a:noFill/>
          <a:ln/>
        </p:spPr>
        <p:txBody>
          <a:bodyPr wrap="square" lIns="0" tIns="0" rIns="0" bIns="0" rtlCol="0" anchor="ctr"/>
          <a:lstStyle/>
          <a:p>
            <a:pPr>
              <a:lnSpc>
                <a:spcPct val="130000"/>
              </a:lnSpc>
            </a:pPr>
            <a:r>
              <a:rPr lang="en-US" sz="1200" b="1" dirty="0">
                <a:solidFill>
                  <a:srgbClr val="44546A"/>
                </a:solidFill>
                <a:latin typeface="MiSans" pitchFamily="34" charset="0"/>
                <a:ea typeface="MiSans" pitchFamily="34" charset="-122"/>
                <a:cs typeface="MiSans" pitchFamily="34" charset="-120"/>
              </a:rPr>
              <a:t>KIẾN THỨC - KỸ NĂNG - SÁNG TẠO - HỘI NHẬP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Shape 1"/>
          <p:cNvSpPr/>
          <p:nvPr/>
        </p:nvSpPr>
        <p:spPr>
          <a:xfrm>
            <a:off x="376136" y="853602"/>
            <a:ext cx="38100" cy="457200"/>
          </a:xfrm>
          <a:custGeom>
            <a:avLst/>
            <a:gdLst/>
            <a:ahLst/>
            <a:cxnLst/>
            <a:rect l="l" t="t" r="r" b="b"/>
            <a:pathLst>
              <a:path w="38100" h="457200">
                <a:moveTo>
                  <a:pt x="19050" y="0"/>
                </a:moveTo>
                <a:lnTo>
                  <a:pt x="19050" y="0"/>
                </a:lnTo>
                <a:cubicBezTo>
                  <a:pt x="29564" y="0"/>
                  <a:pt x="38100" y="8536"/>
                  <a:pt x="38100" y="19050"/>
                </a:cubicBezTo>
                <a:lnTo>
                  <a:pt x="38100" y="438150"/>
                </a:lnTo>
                <a:cubicBezTo>
                  <a:pt x="38100" y="448664"/>
                  <a:pt x="29564" y="457200"/>
                  <a:pt x="19050" y="457200"/>
                </a:cubicBezTo>
                <a:lnTo>
                  <a:pt x="19050" y="457200"/>
                </a:lnTo>
                <a:cubicBezTo>
                  <a:pt x="8536" y="457200"/>
                  <a:pt x="0" y="448664"/>
                  <a:pt x="0" y="438150"/>
                </a:cubicBezTo>
                <a:lnTo>
                  <a:pt x="0" y="19050"/>
                </a:lnTo>
                <a:cubicBezTo>
                  <a:pt x="0" y="8536"/>
                  <a:pt x="8536" y="0"/>
                  <a:pt x="19050" y="0"/>
                </a:cubicBezTo>
                <a:close/>
              </a:path>
            </a:pathLst>
          </a:custGeom>
          <a:solidFill>
            <a:srgbClr val="E94560"/>
          </a:solidFill>
          <a:ln/>
        </p:spPr>
      </p:sp>
      <p:sp>
        <p:nvSpPr>
          <p:cNvPr id="5" name="Text 2"/>
          <p:cNvSpPr/>
          <p:nvPr/>
        </p:nvSpPr>
        <p:spPr>
          <a:xfrm>
            <a:off x="514350" y="948852"/>
            <a:ext cx="3314700" cy="190500"/>
          </a:xfrm>
          <a:prstGeom prst="rect">
            <a:avLst/>
          </a:prstGeom>
          <a:noFill/>
          <a:ln/>
        </p:spPr>
        <p:txBody>
          <a:bodyPr wrap="square" lIns="0" tIns="0" rIns="0" bIns="0" rtlCol="0" anchor="ctr"/>
          <a:lstStyle/>
          <a:p>
            <a:pPr>
              <a:lnSpc>
                <a:spcPct val="120000"/>
              </a:lnSpc>
            </a:pPr>
            <a:r>
              <a:rPr lang="en-US" sz="1050" b="1" kern="0" spc="53" dirty="0">
                <a:solidFill>
                  <a:srgbClr val="E94560"/>
                </a:solidFill>
                <a:latin typeface="MiSans" pitchFamily="34" charset="0"/>
                <a:ea typeface="MiSans" pitchFamily="34" charset="-122"/>
                <a:cs typeface="MiSans" pitchFamily="34" charset="-120"/>
              </a:rPr>
              <a:t>UI/UX Showcase</a:t>
            </a:r>
            <a:endParaRPr lang="en-US" sz="1600" dirty="0"/>
          </a:p>
        </p:txBody>
      </p:sp>
      <p:sp>
        <p:nvSpPr>
          <p:cNvPr id="6" name="Text 3"/>
          <p:cNvSpPr/>
          <p:nvPr/>
        </p:nvSpPr>
        <p:spPr>
          <a:xfrm>
            <a:off x="4386261" y="950751"/>
            <a:ext cx="3419475" cy="381000"/>
          </a:xfrm>
          <a:prstGeom prst="rect">
            <a:avLst/>
          </a:prstGeom>
          <a:noFill/>
          <a:ln/>
        </p:spPr>
        <p:txBody>
          <a:bodyPr wrap="square" lIns="0" tIns="0" rIns="0" bIns="0" rtlCol="0" anchor="ctr"/>
          <a:lstStyle/>
          <a:p>
            <a:pPr>
              <a:lnSpc>
                <a:spcPct val="90000"/>
              </a:lnSpc>
            </a:pPr>
            <a:r>
              <a:rPr lang="en-US" sz="2700" b="1" dirty="0">
                <a:solidFill>
                  <a:schemeClr val="tx1">
                    <a:lumMod val="85000"/>
                    <a:lumOff val="15000"/>
                  </a:schemeClr>
                </a:solidFill>
                <a:latin typeface="得意黑" pitchFamily="34" charset="0"/>
                <a:ea typeface="得意黑" pitchFamily="34" charset="-122"/>
                <a:cs typeface="得意黑" pitchFamily="34" charset="-120"/>
              </a:rPr>
              <a:t>So sánh thiết kế và thực tế</a:t>
            </a:r>
            <a:endParaRPr lang="en-US" sz="1600" dirty="0">
              <a:solidFill>
                <a:schemeClr val="tx1">
                  <a:lumMod val="85000"/>
                  <a:lumOff val="15000"/>
                </a:schemeClr>
              </a:solidFill>
            </a:endParaRPr>
          </a:p>
        </p:txBody>
      </p:sp>
      <p:sp>
        <p:nvSpPr>
          <p:cNvPr id="7" name="Text 4"/>
          <p:cNvSpPr/>
          <p:nvPr/>
        </p:nvSpPr>
        <p:spPr>
          <a:xfrm>
            <a:off x="452437" y="1511629"/>
            <a:ext cx="11287125" cy="266700"/>
          </a:xfrm>
          <a:prstGeom prst="rect">
            <a:avLst/>
          </a:prstGeom>
          <a:noFill/>
          <a:ln/>
        </p:spPr>
        <p:txBody>
          <a:bodyPr wrap="square" lIns="0" tIns="0" rIns="0" bIns="0" rtlCol="0" anchor="ctr"/>
          <a:lstStyle/>
          <a:p>
            <a:pPr>
              <a:lnSpc>
                <a:spcPct val="130000"/>
              </a:lnSpc>
            </a:pPr>
            <a:r>
              <a:rPr lang="en-US" sz="1350" dirty="0">
                <a:solidFill>
                  <a:schemeClr val="tx1">
                    <a:lumMod val="85000"/>
                    <a:lumOff val="15000"/>
                  </a:schemeClr>
                </a:solidFill>
                <a:latin typeface="MiSans" pitchFamily="34" charset="0"/>
                <a:ea typeface="MiSans" pitchFamily="34" charset="-122"/>
                <a:cs typeface="MiSans" pitchFamily="34" charset="-120"/>
              </a:rPr>
              <a:t>Màn hình ứng dụng: Thiết kế &amp; Sản phẩm hoàn thiện</a:t>
            </a:r>
            <a:endParaRPr lang="en-US" sz="1600" dirty="0">
              <a:solidFill>
                <a:schemeClr val="tx1">
                  <a:lumMod val="85000"/>
                  <a:lumOff val="15000"/>
                </a:schemeClr>
              </a:solidFill>
            </a:endParaRPr>
          </a:p>
        </p:txBody>
      </p:sp>
      <p:sp>
        <p:nvSpPr>
          <p:cNvPr id="8" name="Shape 5"/>
          <p:cNvSpPr/>
          <p:nvPr/>
        </p:nvSpPr>
        <p:spPr>
          <a:xfrm>
            <a:off x="376136" y="225682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5B9BD5"/>
              </a:gs>
              <a:gs pos="100000">
                <a:srgbClr val="4472C4"/>
              </a:gs>
            </a:gsLst>
            <a:lin ang="2700000" scaled="1"/>
          </a:gradFill>
          <a:ln/>
        </p:spPr>
      </p:sp>
      <p:sp>
        <p:nvSpPr>
          <p:cNvPr id="9" name="Shape 6"/>
          <p:cNvSpPr/>
          <p:nvPr/>
        </p:nvSpPr>
        <p:spPr>
          <a:xfrm>
            <a:off x="514350" y="2406384"/>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FFFFFF"/>
          </a:solidFill>
          <a:ln/>
        </p:spPr>
      </p:sp>
      <p:sp>
        <p:nvSpPr>
          <p:cNvPr id="10" name="Text 7"/>
          <p:cNvSpPr/>
          <p:nvPr/>
        </p:nvSpPr>
        <p:spPr>
          <a:xfrm>
            <a:off x="847725" y="2406779"/>
            <a:ext cx="952500" cy="304800"/>
          </a:xfrm>
          <a:prstGeom prst="rect">
            <a:avLst/>
          </a:prstGeom>
          <a:noFill/>
          <a:ln/>
        </p:spPr>
        <p:txBody>
          <a:bodyPr wrap="square" lIns="0" tIns="0" rIns="0" bIns="0" rtlCol="0" anchor="ctr"/>
          <a:lstStyle/>
          <a:p>
            <a:pPr>
              <a:lnSpc>
                <a:spcPct val="110000"/>
              </a:lnSpc>
            </a:pPr>
            <a:r>
              <a:rPr lang="en-US" sz="1800" b="1" dirty="0">
                <a:solidFill>
                  <a:schemeClr val="tx1">
                    <a:lumMod val="85000"/>
                    <a:lumOff val="15000"/>
                  </a:schemeClr>
                </a:solidFill>
                <a:latin typeface="MiSans" pitchFamily="34" charset="0"/>
                <a:ea typeface="MiSans" pitchFamily="34" charset="-122"/>
                <a:cs typeface="MiSans" pitchFamily="34" charset="-120"/>
              </a:rPr>
              <a:t>Thiết kế</a:t>
            </a:r>
            <a:endParaRPr lang="en-US" sz="1600" dirty="0">
              <a:solidFill>
                <a:schemeClr val="tx1">
                  <a:lumMod val="85000"/>
                  <a:lumOff val="15000"/>
                </a:schemeClr>
              </a:solidFill>
            </a:endParaRPr>
          </a:p>
        </p:txBody>
      </p:sp>
      <p:sp>
        <p:nvSpPr>
          <p:cNvPr id="19" name="Shape 8"/>
          <p:cNvSpPr/>
          <p:nvPr/>
        </p:nvSpPr>
        <p:spPr>
          <a:xfrm>
            <a:off x="6184766" y="2254379"/>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70AD47"/>
              </a:gs>
              <a:gs pos="100000">
                <a:srgbClr val="A5A5A5"/>
              </a:gs>
            </a:gsLst>
            <a:lin ang="2700000" scaled="1"/>
          </a:gradFill>
          <a:ln/>
        </p:spPr>
        <p:txBody>
          <a:bodyPr/>
          <a:lstStyle/>
          <a:p>
            <a:endParaRPr lang="en-US" dirty="0"/>
          </a:p>
        </p:txBody>
      </p:sp>
      <p:sp>
        <p:nvSpPr>
          <p:cNvPr id="20" name="Shape 9"/>
          <p:cNvSpPr/>
          <p:nvPr/>
        </p:nvSpPr>
        <p:spPr>
          <a:xfrm>
            <a:off x="6336355" y="2406779"/>
            <a:ext cx="142875" cy="190500"/>
          </a:xfrm>
          <a:custGeom>
            <a:avLst/>
            <a:gdLst/>
            <a:ahLst/>
            <a:cxnLst/>
            <a:rect l="l" t="t" r="r" b="b"/>
            <a:pathLst>
              <a:path w="142875" h="190500">
                <a:moveTo>
                  <a:pt x="5953" y="23812"/>
                </a:moveTo>
                <a:cubicBezTo>
                  <a:pt x="5953" y="10678"/>
                  <a:pt x="16632" y="0"/>
                  <a:pt x="29766" y="0"/>
                </a:cubicBezTo>
                <a:lnTo>
                  <a:pt x="113109" y="0"/>
                </a:lnTo>
                <a:cubicBezTo>
                  <a:pt x="126243" y="0"/>
                  <a:pt x="136922" y="10678"/>
                  <a:pt x="136922" y="23812"/>
                </a:cubicBezTo>
                <a:lnTo>
                  <a:pt x="136922" y="166688"/>
                </a:lnTo>
                <a:cubicBezTo>
                  <a:pt x="136922" y="179822"/>
                  <a:pt x="126243" y="190500"/>
                  <a:pt x="113109" y="190500"/>
                </a:cubicBezTo>
                <a:lnTo>
                  <a:pt x="29766" y="190500"/>
                </a:lnTo>
                <a:cubicBezTo>
                  <a:pt x="16632" y="190500"/>
                  <a:pt x="5953" y="179822"/>
                  <a:pt x="5953" y="166688"/>
                </a:cubicBezTo>
                <a:lnTo>
                  <a:pt x="5953" y="23812"/>
                </a:lnTo>
                <a:close/>
                <a:moveTo>
                  <a:pt x="29766" y="23812"/>
                </a:moveTo>
                <a:lnTo>
                  <a:pt x="29766" y="136922"/>
                </a:lnTo>
                <a:lnTo>
                  <a:pt x="113109" y="136922"/>
                </a:lnTo>
                <a:lnTo>
                  <a:pt x="113109" y="23812"/>
                </a:lnTo>
                <a:lnTo>
                  <a:pt x="29766" y="23812"/>
                </a:lnTo>
                <a:close/>
                <a:moveTo>
                  <a:pt x="71438" y="175617"/>
                </a:moveTo>
                <a:cubicBezTo>
                  <a:pt x="78023" y="175617"/>
                  <a:pt x="83344" y="170297"/>
                  <a:pt x="83344" y="163711"/>
                </a:cubicBezTo>
                <a:cubicBezTo>
                  <a:pt x="83344" y="157125"/>
                  <a:pt x="78023" y="151805"/>
                  <a:pt x="71438" y="151805"/>
                </a:cubicBezTo>
                <a:cubicBezTo>
                  <a:pt x="64852" y="151805"/>
                  <a:pt x="59531" y="157125"/>
                  <a:pt x="59531" y="163711"/>
                </a:cubicBezTo>
                <a:cubicBezTo>
                  <a:pt x="59531" y="170297"/>
                  <a:pt x="64852" y="175617"/>
                  <a:pt x="71438" y="175617"/>
                </a:cubicBezTo>
                <a:close/>
              </a:path>
            </a:pathLst>
          </a:custGeom>
          <a:solidFill>
            <a:srgbClr val="FFFFFF"/>
          </a:solidFill>
          <a:ln/>
        </p:spPr>
      </p:sp>
      <p:sp>
        <p:nvSpPr>
          <p:cNvPr id="21" name="Text 10"/>
          <p:cNvSpPr/>
          <p:nvPr/>
        </p:nvSpPr>
        <p:spPr>
          <a:xfrm>
            <a:off x="6715125" y="2406384"/>
            <a:ext cx="914400" cy="304800"/>
          </a:xfrm>
          <a:prstGeom prst="rect">
            <a:avLst/>
          </a:prstGeom>
          <a:noFill/>
          <a:ln/>
        </p:spPr>
        <p:txBody>
          <a:bodyPr wrap="square" lIns="0" tIns="0" rIns="0" bIns="0" rtlCol="0" anchor="ctr"/>
          <a:lstStyle/>
          <a:p>
            <a:pPr>
              <a:lnSpc>
                <a:spcPct val="110000"/>
              </a:lnSpc>
            </a:pPr>
            <a:r>
              <a:rPr lang="en-US" sz="1800" b="1" dirty="0">
                <a:solidFill>
                  <a:schemeClr val="tx1">
                    <a:lumMod val="85000"/>
                    <a:lumOff val="15000"/>
                  </a:schemeClr>
                </a:solidFill>
                <a:latin typeface="MiSans" pitchFamily="34" charset="0"/>
                <a:ea typeface="MiSans" pitchFamily="34" charset="-122"/>
                <a:cs typeface="MiSans" pitchFamily="34" charset="-120"/>
              </a:rPr>
              <a:t>Thực tế</a:t>
            </a:r>
            <a:endParaRPr lang="en-US" sz="1600" dirty="0">
              <a:solidFill>
                <a:schemeClr val="tx1">
                  <a:lumMod val="85000"/>
                  <a:lumOff val="15000"/>
                </a:schemeClr>
              </a:solidFill>
            </a:endParaRPr>
          </a:p>
        </p:txBody>
      </p:sp>
      <p:sp>
        <p:nvSpPr>
          <p:cNvPr id="30" name="Shape 11"/>
          <p:cNvSpPr/>
          <p:nvPr/>
        </p:nvSpPr>
        <p:spPr>
          <a:xfrm>
            <a:off x="381000" y="6343650"/>
            <a:ext cx="609600" cy="38100"/>
          </a:xfrm>
          <a:custGeom>
            <a:avLst/>
            <a:gdLst/>
            <a:ahLst/>
            <a:cxnLst/>
            <a:rect l="l" t="t" r="r" b="b"/>
            <a:pathLst>
              <a:path w="609600" h="38100">
                <a:moveTo>
                  <a:pt x="19050" y="0"/>
                </a:moveTo>
                <a:lnTo>
                  <a:pt x="590550" y="0"/>
                </a:lnTo>
                <a:cubicBezTo>
                  <a:pt x="601064" y="0"/>
                  <a:pt x="609600" y="8536"/>
                  <a:pt x="609600" y="19050"/>
                </a:cubicBezTo>
                <a:lnTo>
                  <a:pt x="609600" y="19050"/>
                </a:lnTo>
                <a:cubicBezTo>
                  <a:pt x="609600" y="29564"/>
                  <a:pt x="601064" y="38100"/>
                  <a:pt x="590550" y="38100"/>
                </a:cubicBezTo>
                <a:lnTo>
                  <a:pt x="19050" y="38100"/>
                </a:lnTo>
                <a:cubicBezTo>
                  <a:pt x="8536" y="38100"/>
                  <a:pt x="0" y="29564"/>
                  <a:pt x="0" y="19050"/>
                </a:cubicBezTo>
                <a:lnTo>
                  <a:pt x="0" y="19050"/>
                </a:lnTo>
                <a:cubicBezTo>
                  <a:pt x="0" y="8536"/>
                  <a:pt x="8536" y="0"/>
                  <a:pt x="19050" y="0"/>
                </a:cubicBezTo>
                <a:close/>
              </a:path>
            </a:pathLst>
          </a:custGeom>
          <a:gradFill flip="none" rotWithShape="1">
            <a:gsLst>
              <a:gs pos="100000">
                <a:srgbClr val="E94560"/>
              </a:gs>
              <a:gs pos="100000">
                <a:srgbClr val="5B9BD5"/>
              </a:gs>
            </a:gsLst>
            <a:lin ang="0" scaled="1"/>
          </a:gradFill>
          <a:ln/>
        </p:spPr>
      </p:sp>
      <p:sp>
        <p:nvSpPr>
          <p:cNvPr id="31" name="Text 12"/>
          <p:cNvSpPr/>
          <p:nvPr/>
        </p:nvSpPr>
        <p:spPr>
          <a:xfrm>
            <a:off x="1104900" y="6248400"/>
            <a:ext cx="3514725" cy="228600"/>
          </a:xfrm>
          <a:prstGeom prst="rect">
            <a:avLst/>
          </a:prstGeom>
          <a:noFill/>
          <a:ln/>
        </p:spPr>
        <p:txBody>
          <a:bodyPr wrap="square" lIns="0" tIns="0" rIns="0" bIns="0" rtlCol="0" anchor="ctr"/>
          <a:lstStyle/>
          <a:p>
            <a:pPr>
              <a:lnSpc>
                <a:spcPct val="130000"/>
              </a:lnSpc>
            </a:pPr>
            <a:r>
              <a:rPr lang="en-US" sz="1200" b="1" dirty="0">
                <a:solidFill>
                  <a:schemeClr val="tx1">
                    <a:lumMod val="85000"/>
                    <a:lumOff val="15000"/>
                  </a:schemeClr>
                </a:solidFill>
                <a:latin typeface="MiSans" pitchFamily="34" charset="0"/>
                <a:ea typeface="MiSans" pitchFamily="34" charset="-122"/>
                <a:cs typeface="MiSans" pitchFamily="34" charset="-120"/>
              </a:rPr>
              <a:t>KIẾN THỨC - KỸ NĂNG - SÁNG TẠO - HỘI NHẬP</a:t>
            </a:r>
            <a:endParaRPr lang="en-US" sz="1600" dirty="0">
              <a:solidFill>
                <a:schemeClr val="tx1">
                  <a:lumMod val="85000"/>
                  <a:lumOff val="15000"/>
                </a:schemeClr>
              </a:solidFill>
            </a:endParaRPr>
          </a:p>
        </p:txBody>
      </p:sp>
      <p:pic>
        <p:nvPicPr>
          <p:cNvPr id="34" name="Picture 33">
            <a:extLst>
              <a:ext uri="{FF2B5EF4-FFF2-40B4-BE49-F238E27FC236}">
                <a16:creationId xmlns:a16="http://schemas.microsoft.com/office/drawing/2014/main" id="{F6BF3161-067F-ECE7-7B7D-B9FC2EC84420}"/>
              </a:ext>
            </a:extLst>
          </p:cNvPr>
          <p:cNvPicPr>
            <a:picLocks noChangeAspect="1"/>
          </p:cNvPicPr>
          <p:nvPr/>
        </p:nvPicPr>
        <p:blipFill>
          <a:blip r:embed="rId3"/>
          <a:stretch>
            <a:fillRect/>
          </a:stretch>
        </p:blipFill>
        <p:spPr>
          <a:xfrm>
            <a:off x="376136" y="2954784"/>
            <a:ext cx="858267" cy="1520750"/>
          </a:xfrm>
          <a:prstGeom prst="rect">
            <a:avLst/>
          </a:prstGeom>
        </p:spPr>
      </p:pic>
      <p:pic>
        <p:nvPicPr>
          <p:cNvPr id="36" name="Picture 35">
            <a:extLst>
              <a:ext uri="{FF2B5EF4-FFF2-40B4-BE49-F238E27FC236}">
                <a16:creationId xmlns:a16="http://schemas.microsoft.com/office/drawing/2014/main" id="{8D18B029-7DD5-7522-E022-1AFDF92B197E}"/>
              </a:ext>
            </a:extLst>
          </p:cNvPr>
          <p:cNvPicPr>
            <a:picLocks noChangeAspect="1"/>
          </p:cNvPicPr>
          <p:nvPr/>
        </p:nvPicPr>
        <p:blipFill>
          <a:blip r:embed="rId4"/>
          <a:stretch>
            <a:fillRect/>
          </a:stretch>
        </p:blipFill>
        <p:spPr>
          <a:xfrm>
            <a:off x="1380315" y="2954784"/>
            <a:ext cx="858267" cy="1520750"/>
          </a:xfrm>
          <a:prstGeom prst="rect">
            <a:avLst/>
          </a:prstGeom>
        </p:spPr>
      </p:pic>
      <p:pic>
        <p:nvPicPr>
          <p:cNvPr id="38" name="Picture 37">
            <a:extLst>
              <a:ext uri="{FF2B5EF4-FFF2-40B4-BE49-F238E27FC236}">
                <a16:creationId xmlns:a16="http://schemas.microsoft.com/office/drawing/2014/main" id="{5FB16F33-7C71-C396-1061-196162F6318A}"/>
              </a:ext>
            </a:extLst>
          </p:cNvPr>
          <p:cNvPicPr>
            <a:picLocks noChangeAspect="1"/>
          </p:cNvPicPr>
          <p:nvPr/>
        </p:nvPicPr>
        <p:blipFill>
          <a:blip r:embed="rId5"/>
          <a:stretch>
            <a:fillRect/>
          </a:stretch>
        </p:blipFill>
        <p:spPr>
          <a:xfrm>
            <a:off x="2384494" y="2954784"/>
            <a:ext cx="858267" cy="1520750"/>
          </a:xfrm>
          <a:prstGeom prst="rect">
            <a:avLst/>
          </a:prstGeom>
        </p:spPr>
      </p:pic>
      <p:pic>
        <p:nvPicPr>
          <p:cNvPr id="40" name="Picture 39">
            <a:extLst>
              <a:ext uri="{FF2B5EF4-FFF2-40B4-BE49-F238E27FC236}">
                <a16:creationId xmlns:a16="http://schemas.microsoft.com/office/drawing/2014/main" id="{40609834-434C-10E3-BC01-6534176AB08D}"/>
              </a:ext>
            </a:extLst>
          </p:cNvPr>
          <p:cNvPicPr>
            <a:picLocks noChangeAspect="1"/>
          </p:cNvPicPr>
          <p:nvPr/>
        </p:nvPicPr>
        <p:blipFill>
          <a:blip r:embed="rId6"/>
          <a:stretch>
            <a:fillRect/>
          </a:stretch>
        </p:blipFill>
        <p:spPr>
          <a:xfrm>
            <a:off x="3388673" y="2954784"/>
            <a:ext cx="858267" cy="1520750"/>
          </a:xfrm>
          <a:prstGeom prst="rect">
            <a:avLst/>
          </a:prstGeom>
        </p:spPr>
      </p:pic>
      <p:pic>
        <p:nvPicPr>
          <p:cNvPr id="42" name="Picture 41">
            <a:extLst>
              <a:ext uri="{FF2B5EF4-FFF2-40B4-BE49-F238E27FC236}">
                <a16:creationId xmlns:a16="http://schemas.microsoft.com/office/drawing/2014/main" id="{48E79FFB-2B0B-D148-5030-71E1B2308C5C}"/>
              </a:ext>
            </a:extLst>
          </p:cNvPr>
          <p:cNvPicPr>
            <a:picLocks noChangeAspect="1"/>
          </p:cNvPicPr>
          <p:nvPr/>
        </p:nvPicPr>
        <p:blipFill>
          <a:blip r:embed="rId7"/>
          <a:stretch>
            <a:fillRect/>
          </a:stretch>
        </p:blipFill>
        <p:spPr>
          <a:xfrm>
            <a:off x="376135" y="4601591"/>
            <a:ext cx="858267" cy="1520751"/>
          </a:xfrm>
          <a:prstGeom prst="rect">
            <a:avLst/>
          </a:prstGeom>
        </p:spPr>
      </p:pic>
      <p:pic>
        <p:nvPicPr>
          <p:cNvPr id="44" name="Picture 43">
            <a:extLst>
              <a:ext uri="{FF2B5EF4-FFF2-40B4-BE49-F238E27FC236}">
                <a16:creationId xmlns:a16="http://schemas.microsoft.com/office/drawing/2014/main" id="{A555D323-0891-E884-D838-2BFABA271D44}"/>
              </a:ext>
            </a:extLst>
          </p:cNvPr>
          <p:cNvPicPr>
            <a:picLocks noChangeAspect="1"/>
          </p:cNvPicPr>
          <p:nvPr/>
        </p:nvPicPr>
        <p:blipFill>
          <a:blip r:embed="rId8"/>
          <a:stretch>
            <a:fillRect/>
          </a:stretch>
        </p:blipFill>
        <p:spPr>
          <a:xfrm>
            <a:off x="1380315" y="4601591"/>
            <a:ext cx="858267" cy="1520750"/>
          </a:xfrm>
          <a:prstGeom prst="rect">
            <a:avLst/>
          </a:prstGeom>
        </p:spPr>
      </p:pic>
      <p:pic>
        <p:nvPicPr>
          <p:cNvPr id="46" name="Picture 45">
            <a:extLst>
              <a:ext uri="{FF2B5EF4-FFF2-40B4-BE49-F238E27FC236}">
                <a16:creationId xmlns:a16="http://schemas.microsoft.com/office/drawing/2014/main" id="{44136290-556E-E007-85BD-50644973BED3}"/>
              </a:ext>
            </a:extLst>
          </p:cNvPr>
          <p:cNvPicPr>
            <a:picLocks noChangeAspect="1"/>
          </p:cNvPicPr>
          <p:nvPr/>
        </p:nvPicPr>
        <p:blipFill>
          <a:blip r:embed="rId9"/>
          <a:stretch>
            <a:fillRect/>
          </a:stretch>
        </p:blipFill>
        <p:spPr>
          <a:xfrm>
            <a:off x="2384494" y="4601592"/>
            <a:ext cx="858267" cy="1520750"/>
          </a:xfrm>
          <a:prstGeom prst="rect">
            <a:avLst/>
          </a:prstGeom>
        </p:spPr>
      </p:pic>
      <p:pic>
        <p:nvPicPr>
          <p:cNvPr id="48" name="Picture 47">
            <a:extLst>
              <a:ext uri="{FF2B5EF4-FFF2-40B4-BE49-F238E27FC236}">
                <a16:creationId xmlns:a16="http://schemas.microsoft.com/office/drawing/2014/main" id="{DB477810-5CFC-EDEF-5950-0A6C110833D5}"/>
              </a:ext>
            </a:extLst>
          </p:cNvPr>
          <p:cNvPicPr>
            <a:picLocks noChangeAspect="1"/>
          </p:cNvPicPr>
          <p:nvPr/>
        </p:nvPicPr>
        <p:blipFill>
          <a:blip r:embed="rId10"/>
          <a:stretch>
            <a:fillRect/>
          </a:stretch>
        </p:blipFill>
        <p:spPr>
          <a:xfrm>
            <a:off x="3388672" y="4601592"/>
            <a:ext cx="858267" cy="1520750"/>
          </a:xfrm>
          <a:prstGeom prst="rect">
            <a:avLst/>
          </a:prstGeom>
        </p:spPr>
      </p:pic>
      <p:pic>
        <p:nvPicPr>
          <p:cNvPr id="50" name="Picture 49">
            <a:extLst>
              <a:ext uri="{FF2B5EF4-FFF2-40B4-BE49-F238E27FC236}">
                <a16:creationId xmlns:a16="http://schemas.microsoft.com/office/drawing/2014/main" id="{3A10AA77-9324-9EBE-733F-FF4745233948}"/>
              </a:ext>
            </a:extLst>
          </p:cNvPr>
          <p:cNvPicPr>
            <a:picLocks noChangeAspect="1"/>
          </p:cNvPicPr>
          <p:nvPr/>
        </p:nvPicPr>
        <p:blipFill>
          <a:blip r:embed="rId11"/>
          <a:stretch>
            <a:fillRect/>
          </a:stretch>
        </p:blipFill>
        <p:spPr>
          <a:xfrm>
            <a:off x="7172325" y="2954784"/>
            <a:ext cx="858267" cy="1520750"/>
          </a:xfrm>
          <a:prstGeom prst="rect">
            <a:avLst/>
          </a:prstGeom>
        </p:spPr>
      </p:pic>
      <p:pic>
        <p:nvPicPr>
          <p:cNvPr id="54" name="Picture 53">
            <a:extLst>
              <a:ext uri="{FF2B5EF4-FFF2-40B4-BE49-F238E27FC236}">
                <a16:creationId xmlns:a16="http://schemas.microsoft.com/office/drawing/2014/main" id="{91881424-28FC-0CF1-AD85-66FA9C46CF8E}"/>
              </a:ext>
            </a:extLst>
          </p:cNvPr>
          <p:cNvPicPr>
            <a:picLocks noChangeAspect="1"/>
          </p:cNvPicPr>
          <p:nvPr/>
        </p:nvPicPr>
        <p:blipFill>
          <a:blip r:embed="rId12"/>
          <a:stretch>
            <a:fillRect/>
          </a:stretch>
        </p:blipFill>
        <p:spPr>
          <a:xfrm>
            <a:off x="6184766" y="2954784"/>
            <a:ext cx="858268" cy="1520750"/>
          </a:xfrm>
          <a:prstGeom prst="rect">
            <a:avLst/>
          </a:prstGeom>
        </p:spPr>
      </p:pic>
      <p:pic>
        <p:nvPicPr>
          <p:cNvPr id="56" name="Picture 55">
            <a:extLst>
              <a:ext uri="{FF2B5EF4-FFF2-40B4-BE49-F238E27FC236}">
                <a16:creationId xmlns:a16="http://schemas.microsoft.com/office/drawing/2014/main" id="{8927EA99-0F36-1119-599A-2019ED70A62C}"/>
              </a:ext>
            </a:extLst>
          </p:cNvPr>
          <p:cNvPicPr>
            <a:picLocks noChangeAspect="1"/>
          </p:cNvPicPr>
          <p:nvPr/>
        </p:nvPicPr>
        <p:blipFill>
          <a:blip r:embed="rId13"/>
          <a:stretch>
            <a:fillRect/>
          </a:stretch>
        </p:blipFill>
        <p:spPr>
          <a:xfrm>
            <a:off x="8159883" y="2946268"/>
            <a:ext cx="858269" cy="1529266"/>
          </a:xfrm>
          <a:prstGeom prst="rect">
            <a:avLst/>
          </a:prstGeom>
        </p:spPr>
      </p:pic>
      <p:pic>
        <p:nvPicPr>
          <p:cNvPr id="58" name="Picture 57">
            <a:extLst>
              <a:ext uri="{FF2B5EF4-FFF2-40B4-BE49-F238E27FC236}">
                <a16:creationId xmlns:a16="http://schemas.microsoft.com/office/drawing/2014/main" id="{80CB949A-7EAE-9F41-A5A3-87734778BD5E}"/>
              </a:ext>
            </a:extLst>
          </p:cNvPr>
          <p:cNvPicPr>
            <a:picLocks noChangeAspect="1"/>
          </p:cNvPicPr>
          <p:nvPr/>
        </p:nvPicPr>
        <p:blipFill>
          <a:blip r:embed="rId14"/>
          <a:stretch>
            <a:fillRect/>
          </a:stretch>
        </p:blipFill>
        <p:spPr>
          <a:xfrm>
            <a:off x="9164062" y="2937752"/>
            <a:ext cx="855767" cy="1537782"/>
          </a:xfrm>
          <a:prstGeom prst="rect">
            <a:avLst/>
          </a:prstGeom>
        </p:spPr>
      </p:pic>
      <p:pic>
        <p:nvPicPr>
          <p:cNvPr id="60" name="Picture 59">
            <a:extLst>
              <a:ext uri="{FF2B5EF4-FFF2-40B4-BE49-F238E27FC236}">
                <a16:creationId xmlns:a16="http://schemas.microsoft.com/office/drawing/2014/main" id="{0E003473-3493-F967-8F80-4D1FD46135A1}"/>
              </a:ext>
            </a:extLst>
          </p:cNvPr>
          <p:cNvPicPr>
            <a:picLocks noChangeAspect="1"/>
          </p:cNvPicPr>
          <p:nvPr/>
        </p:nvPicPr>
        <p:blipFill>
          <a:blip r:embed="rId15"/>
          <a:stretch>
            <a:fillRect/>
          </a:stretch>
        </p:blipFill>
        <p:spPr>
          <a:xfrm>
            <a:off x="6184766" y="4601592"/>
            <a:ext cx="858267" cy="1520750"/>
          </a:xfrm>
          <a:prstGeom prst="rect">
            <a:avLst/>
          </a:prstGeom>
        </p:spPr>
      </p:pic>
      <p:pic>
        <p:nvPicPr>
          <p:cNvPr id="62" name="Picture 61">
            <a:extLst>
              <a:ext uri="{FF2B5EF4-FFF2-40B4-BE49-F238E27FC236}">
                <a16:creationId xmlns:a16="http://schemas.microsoft.com/office/drawing/2014/main" id="{38A68204-3475-3B65-EA25-6D379A9DCC81}"/>
              </a:ext>
            </a:extLst>
          </p:cNvPr>
          <p:cNvPicPr>
            <a:picLocks noChangeAspect="1"/>
          </p:cNvPicPr>
          <p:nvPr/>
        </p:nvPicPr>
        <p:blipFill>
          <a:blip r:embed="rId16"/>
          <a:stretch>
            <a:fillRect/>
          </a:stretch>
        </p:blipFill>
        <p:spPr>
          <a:xfrm>
            <a:off x="7172323" y="4601592"/>
            <a:ext cx="858269" cy="1520752"/>
          </a:xfrm>
          <a:prstGeom prst="rect">
            <a:avLst/>
          </a:prstGeom>
        </p:spPr>
      </p:pic>
      <p:pic>
        <p:nvPicPr>
          <p:cNvPr id="64" name="Picture 63">
            <a:extLst>
              <a:ext uri="{FF2B5EF4-FFF2-40B4-BE49-F238E27FC236}">
                <a16:creationId xmlns:a16="http://schemas.microsoft.com/office/drawing/2014/main" id="{FDF80E07-DF3B-21B1-C6D9-A6E82CEDBB80}"/>
              </a:ext>
            </a:extLst>
          </p:cNvPr>
          <p:cNvPicPr>
            <a:picLocks noChangeAspect="1"/>
          </p:cNvPicPr>
          <p:nvPr/>
        </p:nvPicPr>
        <p:blipFill>
          <a:blip r:embed="rId17"/>
          <a:stretch>
            <a:fillRect/>
          </a:stretch>
        </p:blipFill>
        <p:spPr>
          <a:xfrm>
            <a:off x="8162570" y="4601592"/>
            <a:ext cx="855766" cy="1520752"/>
          </a:xfrm>
          <a:prstGeom prst="rect">
            <a:avLst/>
          </a:prstGeom>
        </p:spPr>
      </p:pic>
      <p:pic>
        <p:nvPicPr>
          <p:cNvPr id="3" name="Picture 2">
            <a:extLst>
              <a:ext uri="{FF2B5EF4-FFF2-40B4-BE49-F238E27FC236}">
                <a16:creationId xmlns:a16="http://schemas.microsoft.com/office/drawing/2014/main" id="{81FC84FD-9A2C-67DB-5EC9-51C2A68040EF}"/>
              </a:ext>
            </a:extLst>
          </p:cNvPr>
          <p:cNvPicPr>
            <a:picLocks noChangeAspect="1"/>
          </p:cNvPicPr>
          <p:nvPr/>
        </p:nvPicPr>
        <p:blipFill>
          <a:blip r:embed="rId18"/>
          <a:stretch>
            <a:fillRect/>
          </a:stretch>
        </p:blipFill>
        <p:spPr>
          <a:xfrm>
            <a:off x="9166815" y="4601594"/>
            <a:ext cx="858267" cy="15207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Shape 1"/>
          <p:cNvSpPr/>
          <p:nvPr/>
        </p:nvSpPr>
        <p:spPr>
          <a:xfrm>
            <a:off x="613039" y="757121"/>
            <a:ext cx="37893" cy="454713"/>
          </a:xfrm>
          <a:custGeom>
            <a:avLst/>
            <a:gdLst/>
            <a:ahLst/>
            <a:cxnLst/>
            <a:rect l="l" t="t" r="r" b="b"/>
            <a:pathLst>
              <a:path w="37893" h="454713">
                <a:moveTo>
                  <a:pt x="18946" y="0"/>
                </a:moveTo>
                <a:lnTo>
                  <a:pt x="18946" y="0"/>
                </a:lnTo>
                <a:cubicBezTo>
                  <a:pt x="29410" y="0"/>
                  <a:pt x="37893" y="8483"/>
                  <a:pt x="37893" y="18946"/>
                </a:cubicBezTo>
                <a:lnTo>
                  <a:pt x="37893" y="435767"/>
                </a:lnTo>
                <a:cubicBezTo>
                  <a:pt x="37893" y="446231"/>
                  <a:pt x="29410" y="454713"/>
                  <a:pt x="18946" y="454713"/>
                </a:cubicBezTo>
                <a:lnTo>
                  <a:pt x="18946" y="454713"/>
                </a:lnTo>
                <a:cubicBezTo>
                  <a:pt x="8483" y="454713"/>
                  <a:pt x="0" y="446231"/>
                  <a:pt x="0" y="435767"/>
                </a:cubicBezTo>
                <a:lnTo>
                  <a:pt x="0" y="18946"/>
                </a:lnTo>
                <a:cubicBezTo>
                  <a:pt x="0" y="8483"/>
                  <a:pt x="8483" y="0"/>
                  <a:pt x="18946" y="0"/>
                </a:cubicBezTo>
                <a:close/>
              </a:path>
            </a:pathLst>
          </a:custGeom>
          <a:solidFill>
            <a:srgbClr val="ED7D31"/>
          </a:solidFill>
          <a:ln/>
        </p:spPr>
      </p:sp>
      <p:sp>
        <p:nvSpPr>
          <p:cNvPr id="5" name="Text 2"/>
          <p:cNvSpPr/>
          <p:nvPr/>
        </p:nvSpPr>
        <p:spPr>
          <a:xfrm>
            <a:off x="693556" y="928249"/>
            <a:ext cx="4509240" cy="189464"/>
          </a:xfrm>
          <a:prstGeom prst="rect">
            <a:avLst/>
          </a:prstGeom>
          <a:noFill/>
          <a:ln/>
        </p:spPr>
        <p:txBody>
          <a:bodyPr wrap="square" lIns="0" tIns="0" rIns="0" bIns="0" rtlCol="0" anchor="ctr"/>
          <a:lstStyle/>
          <a:p>
            <a:pPr>
              <a:lnSpc>
                <a:spcPct val="120000"/>
              </a:lnSpc>
            </a:pPr>
            <a:r>
              <a:rPr lang="en-US" sz="1044" b="1" kern="0" spc="52" dirty="0">
                <a:solidFill>
                  <a:srgbClr val="ED7D31"/>
                </a:solidFill>
                <a:latin typeface="MiSans" pitchFamily="34" charset="0"/>
                <a:ea typeface="MiSans" pitchFamily="34" charset="-122"/>
                <a:cs typeface="MiSans" pitchFamily="34" charset="-120"/>
              </a:rPr>
              <a:t>Project Overview</a:t>
            </a:r>
            <a:endParaRPr lang="en-US" sz="1600" dirty="0"/>
          </a:p>
        </p:txBody>
      </p:sp>
      <p:sp>
        <p:nvSpPr>
          <p:cNvPr id="6" name="Text 3"/>
          <p:cNvSpPr/>
          <p:nvPr/>
        </p:nvSpPr>
        <p:spPr>
          <a:xfrm>
            <a:off x="3789277" y="868336"/>
            <a:ext cx="4613445" cy="378928"/>
          </a:xfrm>
          <a:prstGeom prst="rect">
            <a:avLst/>
          </a:prstGeom>
          <a:noFill/>
          <a:ln/>
        </p:spPr>
        <p:txBody>
          <a:bodyPr wrap="square" lIns="0" tIns="0" rIns="0" bIns="0" rtlCol="0" anchor="ctr"/>
          <a:lstStyle/>
          <a:p>
            <a:pPr>
              <a:lnSpc>
                <a:spcPct val="90000"/>
              </a:lnSpc>
            </a:pPr>
            <a:r>
              <a:rPr lang="en-US" sz="2685" b="1" dirty="0">
                <a:solidFill>
                  <a:srgbClr val="16213E"/>
                </a:solidFill>
                <a:latin typeface="得意黑" pitchFamily="34" charset="0"/>
                <a:ea typeface="得意黑" pitchFamily="34" charset="-122"/>
                <a:cs typeface="得意黑" pitchFamily="34" charset="-120"/>
              </a:rPr>
              <a:t>Lý do chọn đề tài &amp; Hướng giải quyết</a:t>
            </a:r>
            <a:endParaRPr lang="en-US" sz="1600" dirty="0"/>
          </a:p>
        </p:txBody>
      </p:sp>
      <p:sp>
        <p:nvSpPr>
          <p:cNvPr id="7" name="Shape 4"/>
          <p:cNvSpPr/>
          <p:nvPr/>
        </p:nvSpPr>
        <p:spPr>
          <a:xfrm>
            <a:off x="378928" y="1288354"/>
            <a:ext cx="454713" cy="454713"/>
          </a:xfrm>
          <a:custGeom>
            <a:avLst/>
            <a:gdLst/>
            <a:ahLst/>
            <a:cxnLst/>
            <a:rect l="l" t="t" r="r" b="b"/>
            <a:pathLst>
              <a:path w="454713" h="454713">
                <a:moveTo>
                  <a:pt x="113678" y="0"/>
                </a:moveTo>
                <a:lnTo>
                  <a:pt x="341035" y="0"/>
                </a:lnTo>
                <a:cubicBezTo>
                  <a:pt x="403818" y="0"/>
                  <a:pt x="454713" y="50896"/>
                  <a:pt x="454713" y="113678"/>
                </a:cubicBezTo>
                <a:lnTo>
                  <a:pt x="454713" y="341035"/>
                </a:lnTo>
                <a:cubicBezTo>
                  <a:pt x="454713" y="403818"/>
                  <a:pt x="403818" y="454713"/>
                  <a:pt x="341035" y="454713"/>
                </a:cubicBezTo>
                <a:lnTo>
                  <a:pt x="113678" y="454713"/>
                </a:lnTo>
                <a:cubicBezTo>
                  <a:pt x="50896" y="454713"/>
                  <a:pt x="0" y="403818"/>
                  <a:pt x="0" y="341035"/>
                </a:cubicBezTo>
                <a:lnTo>
                  <a:pt x="0" y="113678"/>
                </a:lnTo>
                <a:cubicBezTo>
                  <a:pt x="0" y="50938"/>
                  <a:pt x="50938" y="0"/>
                  <a:pt x="113678" y="0"/>
                </a:cubicBezTo>
                <a:close/>
              </a:path>
            </a:pathLst>
          </a:custGeom>
          <a:gradFill flip="none" rotWithShape="1">
            <a:gsLst>
              <a:gs pos="0">
                <a:srgbClr val="ED7D31"/>
              </a:gs>
              <a:gs pos="100000">
                <a:srgbClr val="FFC000"/>
              </a:gs>
            </a:gsLst>
            <a:lin ang="2700000" scaled="1"/>
          </a:gradFill>
          <a:ln/>
        </p:spPr>
      </p:sp>
      <p:sp>
        <p:nvSpPr>
          <p:cNvPr id="8" name="Shape 5"/>
          <p:cNvSpPr/>
          <p:nvPr/>
        </p:nvSpPr>
        <p:spPr>
          <a:xfrm>
            <a:off x="535235" y="1420979"/>
            <a:ext cx="142098" cy="189464"/>
          </a:xfrm>
          <a:custGeom>
            <a:avLst/>
            <a:gdLst/>
            <a:ahLst/>
            <a:cxnLst/>
            <a:rect l="l" t="t" r="r" b="b"/>
            <a:pathLst>
              <a:path w="142098" h="189464">
                <a:moveTo>
                  <a:pt x="108387" y="142098"/>
                </a:moveTo>
                <a:cubicBezTo>
                  <a:pt x="111088" y="133846"/>
                  <a:pt x="116491" y="126371"/>
                  <a:pt x="122596" y="119932"/>
                </a:cubicBezTo>
                <a:cubicBezTo>
                  <a:pt x="134697" y="107203"/>
                  <a:pt x="142098" y="89995"/>
                  <a:pt x="142098" y="71049"/>
                </a:cubicBezTo>
                <a:cubicBezTo>
                  <a:pt x="142098" y="31824"/>
                  <a:pt x="110274" y="0"/>
                  <a:pt x="71049" y="0"/>
                </a:cubicBezTo>
                <a:cubicBezTo>
                  <a:pt x="31824" y="0"/>
                  <a:pt x="0" y="31824"/>
                  <a:pt x="0" y="71049"/>
                </a:cubicBezTo>
                <a:cubicBezTo>
                  <a:pt x="0" y="89995"/>
                  <a:pt x="7401" y="107203"/>
                  <a:pt x="19501" y="119932"/>
                </a:cubicBezTo>
                <a:cubicBezTo>
                  <a:pt x="25607" y="126371"/>
                  <a:pt x="31047" y="133846"/>
                  <a:pt x="33711" y="142098"/>
                </a:cubicBezTo>
                <a:lnTo>
                  <a:pt x="108350" y="142098"/>
                </a:lnTo>
                <a:close/>
                <a:moveTo>
                  <a:pt x="106573" y="159860"/>
                </a:moveTo>
                <a:lnTo>
                  <a:pt x="35524" y="159860"/>
                </a:lnTo>
                <a:lnTo>
                  <a:pt x="35524" y="165781"/>
                </a:lnTo>
                <a:cubicBezTo>
                  <a:pt x="35524" y="182137"/>
                  <a:pt x="48772" y="195385"/>
                  <a:pt x="65128" y="195385"/>
                </a:cubicBezTo>
                <a:lnTo>
                  <a:pt x="76970" y="195385"/>
                </a:lnTo>
                <a:cubicBezTo>
                  <a:pt x="93326" y="195385"/>
                  <a:pt x="106573" y="182137"/>
                  <a:pt x="106573" y="165781"/>
                </a:cubicBezTo>
                <a:lnTo>
                  <a:pt x="106573" y="159860"/>
                </a:lnTo>
                <a:close/>
                <a:moveTo>
                  <a:pt x="68089" y="41445"/>
                </a:moveTo>
                <a:cubicBezTo>
                  <a:pt x="53361" y="41445"/>
                  <a:pt x="41445" y="53361"/>
                  <a:pt x="41445" y="68089"/>
                </a:cubicBezTo>
                <a:cubicBezTo>
                  <a:pt x="41445" y="73010"/>
                  <a:pt x="37486" y="76970"/>
                  <a:pt x="32564" y="76970"/>
                </a:cubicBezTo>
                <a:cubicBezTo>
                  <a:pt x="27642" y="76970"/>
                  <a:pt x="23683" y="73010"/>
                  <a:pt x="23683" y="68089"/>
                </a:cubicBezTo>
                <a:cubicBezTo>
                  <a:pt x="23683" y="43554"/>
                  <a:pt x="43554" y="23683"/>
                  <a:pt x="68089" y="23683"/>
                </a:cubicBezTo>
                <a:cubicBezTo>
                  <a:pt x="73010" y="23683"/>
                  <a:pt x="76970" y="27642"/>
                  <a:pt x="76970" y="32564"/>
                </a:cubicBezTo>
                <a:cubicBezTo>
                  <a:pt x="76970" y="37486"/>
                  <a:pt x="73010" y="41445"/>
                  <a:pt x="68089" y="41445"/>
                </a:cubicBezTo>
                <a:close/>
              </a:path>
            </a:pathLst>
          </a:custGeom>
          <a:solidFill>
            <a:srgbClr val="FFFFFF"/>
          </a:solidFill>
          <a:ln/>
        </p:spPr>
      </p:sp>
      <p:sp>
        <p:nvSpPr>
          <p:cNvPr id="9" name="Text 6"/>
          <p:cNvSpPr/>
          <p:nvPr/>
        </p:nvSpPr>
        <p:spPr>
          <a:xfrm>
            <a:off x="947319" y="1364140"/>
            <a:ext cx="1923058" cy="303142"/>
          </a:xfrm>
          <a:prstGeom prst="rect">
            <a:avLst/>
          </a:prstGeom>
          <a:noFill/>
          <a:ln/>
        </p:spPr>
        <p:txBody>
          <a:bodyPr wrap="square" lIns="0" tIns="0" rIns="0" bIns="0" rtlCol="0" anchor="ctr"/>
          <a:lstStyle/>
          <a:p>
            <a:pPr>
              <a:lnSpc>
                <a:spcPct val="110000"/>
              </a:lnSpc>
            </a:pPr>
            <a:r>
              <a:rPr lang="en-US" sz="1790" b="1" dirty="0">
                <a:solidFill>
                  <a:srgbClr val="16213E"/>
                </a:solidFill>
                <a:latin typeface="MiSans" pitchFamily="34" charset="0"/>
                <a:ea typeface="MiSans" pitchFamily="34" charset="-122"/>
                <a:cs typeface="MiSans" pitchFamily="34" charset="-120"/>
              </a:rPr>
              <a:t>Lý do chọn đề tài</a:t>
            </a:r>
            <a:endParaRPr lang="en-US" sz="1600" dirty="0"/>
          </a:p>
        </p:txBody>
      </p:sp>
      <p:sp>
        <p:nvSpPr>
          <p:cNvPr id="10" name="Shape 7"/>
          <p:cNvSpPr/>
          <p:nvPr/>
        </p:nvSpPr>
        <p:spPr>
          <a:xfrm>
            <a:off x="378928" y="1894639"/>
            <a:ext cx="378928" cy="378928"/>
          </a:xfrm>
          <a:custGeom>
            <a:avLst/>
            <a:gdLst/>
            <a:ahLst/>
            <a:cxnLst/>
            <a:rect l="l" t="t" r="r" b="b"/>
            <a:pathLst>
              <a:path w="378928" h="378928">
                <a:moveTo>
                  <a:pt x="189464" y="0"/>
                </a:moveTo>
                <a:lnTo>
                  <a:pt x="189464" y="0"/>
                </a:lnTo>
                <a:cubicBezTo>
                  <a:pt x="294102" y="0"/>
                  <a:pt x="378928" y="84826"/>
                  <a:pt x="378928" y="189464"/>
                </a:cubicBezTo>
                <a:lnTo>
                  <a:pt x="378928" y="189464"/>
                </a:lnTo>
                <a:cubicBezTo>
                  <a:pt x="378928" y="294102"/>
                  <a:pt x="294102" y="378928"/>
                  <a:pt x="189464" y="378928"/>
                </a:cubicBezTo>
                <a:lnTo>
                  <a:pt x="189464" y="378928"/>
                </a:lnTo>
                <a:cubicBezTo>
                  <a:pt x="84826" y="378928"/>
                  <a:pt x="0" y="294102"/>
                  <a:pt x="0" y="189464"/>
                </a:cubicBezTo>
                <a:lnTo>
                  <a:pt x="0" y="189464"/>
                </a:lnTo>
                <a:cubicBezTo>
                  <a:pt x="0" y="84826"/>
                  <a:pt x="84826" y="0"/>
                  <a:pt x="189464" y="0"/>
                </a:cubicBezTo>
                <a:close/>
              </a:path>
            </a:pathLst>
          </a:custGeom>
          <a:solidFill>
            <a:srgbClr val="ED7D31"/>
          </a:solidFill>
          <a:ln/>
        </p:spPr>
      </p:sp>
      <p:sp>
        <p:nvSpPr>
          <p:cNvPr id="11" name="Text 8"/>
          <p:cNvSpPr/>
          <p:nvPr/>
        </p:nvSpPr>
        <p:spPr>
          <a:xfrm>
            <a:off x="538551" y="1970424"/>
            <a:ext cx="132625" cy="227357"/>
          </a:xfrm>
          <a:prstGeom prst="rect">
            <a:avLst/>
          </a:prstGeom>
          <a:noFill/>
          <a:ln/>
        </p:spPr>
        <p:txBody>
          <a:bodyPr wrap="square" lIns="0" tIns="0" rIns="0" bIns="0" rtlCol="0" anchor="ctr"/>
          <a:lstStyle/>
          <a:p>
            <a:pPr>
              <a:lnSpc>
                <a:spcPct val="130000"/>
              </a:lnSpc>
            </a:pPr>
            <a:r>
              <a:rPr lang="en-US" sz="1193" b="1" dirty="0">
                <a:solidFill>
                  <a:srgbClr val="FFFFFF"/>
                </a:solidFill>
                <a:latin typeface="MiSans" pitchFamily="34" charset="0"/>
                <a:ea typeface="MiSans" pitchFamily="34" charset="-122"/>
                <a:cs typeface="MiSans" pitchFamily="34" charset="-120"/>
              </a:rPr>
              <a:t>1</a:t>
            </a:r>
            <a:endParaRPr lang="en-US" sz="1600" dirty="0"/>
          </a:p>
        </p:txBody>
      </p:sp>
      <p:sp>
        <p:nvSpPr>
          <p:cNvPr id="12" name="Text 9"/>
          <p:cNvSpPr/>
          <p:nvPr/>
        </p:nvSpPr>
        <p:spPr>
          <a:xfrm>
            <a:off x="909427" y="1894639"/>
            <a:ext cx="6337566"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Nhu cầu đặt vé xem phim ngày càng cao</a:t>
            </a:r>
            <a:endParaRPr lang="en-US" sz="1600" dirty="0"/>
          </a:p>
        </p:txBody>
      </p:sp>
      <p:sp>
        <p:nvSpPr>
          <p:cNvPr id="13" name="Text 10"/>
          <p:cNvSpPr/>
          <p:nvPr/>
        </p:nvSpPr>
        <p:spPr>
          <a:xfrm>
            <a:off x="909427" y="2235674"/>
            <a:ext cx="6328093" cy="492606"/>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Xã hội phát triển, nhu cầu giải trí của ngườI dùng tăng cao, đặc biệt là xem phim tại rạp. Ứng dụng đặt vé giúp ngườI dùng dễ dàng tiếp cận và đặt vé nhanh chóng.</a:t>
            </a:r>
            <a:endParaRPr lang="en-US" sz="1600" dirty="0"/>
          </a:p>
        </p:txBody>
      </p:sp>
      <p:sp>
        <p:nvSpPr>
          <p:cNvPr id="14" name="Shape 11"/>
          <p:cNvSpPr/>
          <p:nvPr/>
        </p:nvSpPr>
        <p:spPr>
          <a:xfrm>
            <a:off x="378928" y="2841958"/>
            <a:ext cx="378928" cy="378928"/>
          </a:xfrm>
          <a:custGeom>
            <a:avLst/>
            <a:gdLst/>
            <a:ahLst/>
            <a:cxnLst/>
            <a:rect l="l" t="t" r="r" b="b"/>
            <a:pathLst>
              <a:path w="378928" h="378928">
                <a:moveTo>
                  <a:pt x="189464" y="0"/>
                </a:moveTo>
                <a:lnTo>
                  <a:pt x="189464" y="0"/>
                </a:lnTo>
                <a:cubicBezTo>
                  <a:pt x="294102" y="0"/>
                  <a:pt x="378928" y="84826"/>
                  <a:pt x="378928" y="189464"/>
                </a:cubicBezTo>
                <a:lnTo>
                  <a:pt x="378928" y="189464"/>
                </a:lnTo>
                <a:cubicBezTo>
                  <a:pt x="378928" y="294102"/>
                  <a:pt x="294102" y="378928"/>
                  <a:pt x="189464" y="378928"/>
                </a:cubicBezTo>
                <a:lnTo>
                  <a:pt x="189464" y="378928"/>
                </a:lnTo>
                <a:cubicBezTo>
                  <a:pt x="84826" y="378928"/>
                  <a:pt x="0" y="294102"/>
                  <a:pt x="0" y="189464"/>
                </a:cubicBezTo>
                <a:lnTo>
                  <a:pt x="0" y="189464"/>
                </a:lnTo>
                <a:cubicBezTo>
                  <a:pt x="0" y="84826"/>
                  <a:pt x="84826" y="0"/>
                  <a:pt x="189464" y="0"/>
                </a:cubicBezTo>
                <a:close/>
              </a:path>
            </a:pathLst>
          </a:custGeom>
          <a:solidFill>
            <a:srgbClr val="ED7D31"/>
          </a:solidFill>
          <a:ln/>
        </p:spPr>
      </p:sp>
      <p:sp>
        <p:nvSpPr>
          <p:cNvPr id="15" name="Text 12"/>
          <p:cNvSpPr/>
          <p:nvPr/>
        </p:nvSpPr>
        <p:spPr>
          <a:xfrm>
            <a:off x="525762" y="2917744"/>
            <a:ext cx="161044" cy="227357"/>
          </a:xfrm>
          <a:prstGeom prst="rect">
            <a:avLst/>
          </a:prstGeom>
          <a:noFill/>
          <a:ln/>
        </p:spPr>
        <p:txBody>
          <a:bodyPr wrap="square" lIns="0" tIns="0" rIns="0" bIns="0" rtlCol="0" anchor="ctr"/>
          <a:lstStyle/>
          <a:p>
            <a:pPr>
              <a:lnSpc>
                <a:spcPct val="130000"/>
              </a:lnSpc>
            </a:pPr>
            <a:r>
              <a:rPr lang="en-US" sz="1193" b="1" dirty="0">
                <a:solidFill>
                  <a:srgbClr val="FFFFFF"/>
                </a:solidFill>
                <a:latin typeface="MiSans" pitchFamily="34" charset="0"/>
                <a:ea typeface="MiSans" pitchFamily="34" charset="-122"/>
                <a:cs typeface="MiSans" pitchFamily="34" charset="-120"/>
              </a:rPr>
              <a:t>2</a:t>
            </a:r>
            <a:endParaRPr lang="en-US" sz="1600" dirty="0"/>
          </a:p>
        </p:txBody>
      </p:sp>
      <p:sp>
        <p:nvSpPr>
          <p:cNvPr id="16" name="Text 13"/>
          <p:cNvSpPr/>
          <p:nvPr/>
        </p:nvSpPr>
        <p:spPr>
          <a:xfrm>
            <a:off x="909427" y="2841958"/>
            <a:ext cx="6337566"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Khắc phục hạn chế mua vé truyền thống</a:t>
            </a:r>
            <a:endParaRPr lang="en-US" sz="1600" dirty="0"/>
          </a:p>
        </p:txBody>
      </p:sp>
      <p:sp>
        <p:nvSpPr>
          <p:cNvPr id="17" name="Text 14"/>
          <p:cNvSpPr/>
          <p:nvPr/>
        </p:nvSpPr>
        <p:spPr>
          <a:xfrm>
            <a:off x="909427" y="3182993"/>
            <a:ext cx="6328093" cy="492606"/>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Phương thức mua vé truyền thống tốn thờI gian, phải đến trực tiếp rạp, dễ gặp tình trạng hết vé. Ứng dụng khắc phục các hạn chế này.</a:t>
            </a:r>
            <a:endParaRPr lang="en-US" sz="1600" dirty="0"/>
          </a:p>
        </p:txBody>
      </p:sp>
      <p:sp>
        <p:nvSpPr>
          <p:cNvPr id="18" name="Shape 15"/>
          <p:cNvSpPr/>
          <p:nvPr/>
        </p:nvSpPr>
        <p:spPr>
          <a:xfrm>
            <a:off x="378928" y="3789277"/>
            <a:ext cx="378928" cy="378928"/>
          </a:xfrm>
          <a:custGeom>
            <a:avLst/>
            <a:gdLst/>
            <a:ahLst/>
            <a:cxnLst/>
            <a:rect l="l" t="t" r="r" b="b"/>
            <a:pathLst>
              <a:path w="378928" h="378928">
                <a:moveTo>
                  <a:pt x="189464" y="0"/>
                </a:moveTo>
                <a:lnTo>
                  <a:pt x="189464" y="0"/>
                </a:lnTo>
                <a:cubicBezTo>
                  <a:pt x="294102" y="0"/>
                  <a:pt x="378928" y="84826"/>
                  <a:pt x="378928" y="189464"/>
                </a:cubicBezTo>
                <a:lnTo>
                  <a:pt x="378928" y="189464"/>
                </a:lnTo>
                <a:cubicBezTo>
                  <a:pt x="378928" y="294102"/>
                  <a:pt x="294102" y="378928"/>
                  <a:pt x="189464" y="378928"/>
                </a:cubicBezTo>
                <a:lnTo>
                  <a:pt x="189464" y="378928"/>
                </a:lnTo>
                <a:cubicBezTo>
                  <a:pt x="84826" y="378928"/>
                  <a:pt x="0" y="294102"/>
                  <a:pt x="0" y="189464"/>
                </a:cubicBezTo>
                <a:lnTo>
                  <a:pt x="0" y="189464"/>
                </a:lnTo>
                <a:cubicBezTo>
                  <a:pt x="0" y="84826"/>
                  <a:pt x="84826" y="0"/>
                  <a:pt x="189464" y="0"/>
                </a:cubicBezTo>
                <a:close/>
              </a:path>
            </a:pathLst>
          </a:custGeom>
          <a:solidFill>
            <a:srgbClr val="ED7D31"/>
          </a:solidFill>
          <a:ln/>
        </p:spPr>
      </p:sp>
      <p:sp>
        <p:nvSpPr>
          <p:cNvPr id="19" name="Text 16"/>
          <p:cNvSpPr/>
          <p:nvPr/>
        </p:nvSpPr>
        <p:spPr>
          <a:xfrm>
            <a:off x="523749" y="3865063"/>
            <a:ext cx="161044" cy="227357"/>
          </a:xfrm>
          <a:prstGeom prst="rect">
            <a:avLst/>
          </a:prstGeom>
          <a:noFill/>
          <a:ln/>
        </p:spPr>
        <p:txBody>
          <a:bodyPr wrap="square" lIns="0" tIns="0" rIns="0" bIns="0" rtlCol="0" anchor="ctr"/>
          <a:lstStyle/>
          <a:p>
            <a:pPr>
              <a:lnSpc>
                <a:spcPct val="130000"/>
              </a:lnSpc>
            </a:pPr>
            <a:r>
              <a:rPr lang="en-US" sz="1193" b="1" dirty="0">
                <a:solidFill>
                  <a:srgbClr val="FFFFFF"/>
                </a:solidFill>
                <a:latin typeface="MiSans" pitchFamily="34" charset="0"/>
                <a:ea typeface="MiSans" pitchFamily="34" charset="-122"/>
                <a:cs typeface="MiSans" pitchFamily="34" charset="-120"/>
              </a:rPr>
              <a:t>3</a:t>
            </a:r>
            <a:endParaRPr lang="en-US" sz="1600" dirty="0"/>
          </a:p>
        </p:txBody>
      </p:sp>
      <p:sp>
        <p:nvSpPr>
          <p:cNvPr id="20" name="Text 17"/>
          <p:cNvSpPr/>
          <p:nvPr/>
        </p:nvSpPr>
        <p:spPr>
          <a:xfrm>
            <a:off x="909427" y="3789277"/>
            <a:ext cx="6337566"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Rèn luyện kỹ năng UI/UX và lập trình di động</a:t>
            </a:r>
            <a:endParaRPr lang="en-US" sz="1600" dirty="0"/>
          </a:p>
        </p:txBody>
      </p:sp>
      <p:sp>
        <p:nvSpPr>
          <p:cNvPr id="21" name="Text 18"/>
          <p:cNvSpPr/>
          <p:nvPr/>
        </p:nvSpPr>
        <p:spPr>
          <a:xfrm>
            <a:off x="909427" y="4130312"/>
            <a:ext cx="6328093" cy="492606"/>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Đề tài giúp nhóm rèn luyện và áp dụng các kiến thức về thiết kế giao diện, trải nghiệm ngườI dùng và lập trình ứng dụng di động.</a:t>
            </a:r>
            <a:endParaRPr lang="en-US" sz="1600" dirty="0"/>
          </a:p>
        </p:txBody>
      </p:sp>
      <p:sp>
        <p:nvSpPr>
          <p:cNvPr id="22" name="Shape 19"/>
          <p:cNvSpPr/>
          <p:nvPr/>
        </p:nvSpPr>
        <p:spPr>
          <a:xfrm>
            <a:off x="378928" y="4736597"/>
            <a:ext cx="378928" cy="378928"/>
          </a:xfrm>
          <a:custGeom>
            <a:avLst/>
            <a:gdLst/>
            <a:ahLst/>
            <a:cxnLst/>
            <a:rect l="l" t="t" r="r" b="b"/>
            <a:pathLst>
              <a:path w="378928" h="378928">
                <a:moveTo>
                  <a:pt x="189464" y="0"/>
                </a:moveTo>
                <a:lnTo>
                  <a:pt x="189464" y="0"/>
                </a:lnTo>
                <a:cubicBezTo>
                  <a:pt x="294102" y="0"/>
                  <a:pt x="378928" y="84826"/>
                  <a:pt x="378928" y="189464"/>
                </a:cubicBezTo>
                <a:lnTo>
                  <a:pt x="378928" y="189464"/>
                </a:lnTo>
                <a:cubicBezTo>
                  <a:pt x="378928" y="294102"/>
                  <a:pt x="294102" y="378928"/>
                  <a:pt x="189464" y="378928"/>
                </a:cubicBezTo>
                <a:lnTo>
                  <a:pt x="189464" y="378928"/>
                </a:lnTo>
                <a:cubicBezTo>
                  <a:pt x="84826" y="378928"/>
                  <a:pt x="0" y="294102"/>
                  <a:pt x="0" y="189464"/>
                </a:cubicBezTo>
                <a:lnTo>
                  <a:pt x="0" y="189464"/>
                </a:lnTo>
                <a:cubicBezTo>
                  <a:pt x="0" y="84826"/>
                  <a:pt x="84826" y="0"/>
                  <a:pt x="189464" y="0"/>
                </a:cubicBezTo>
                <a:close/>
              </a:path>
            </a:pathLst>
          </a:custGeom>
          <a:solidFill>
            <a:srgbClr val="ED7D31"/>
          </a:solidFill>
          <a:ln/>
        </p:spPr>
      </p:sp>
      <p:sp>
        <p:nvSpPr>
          <p:cNvPr id="23" name="Text 20"/>
          <p:cNvSpPr/>
          <p:nvPr/>
        </p:nvSpPr>
        <p:spPr>
          <a:xfrm>
            <a:off x="523868" y="4812382"/>
            <a:ext cx="161044" cy="227357"/>
          </a:xfrm>
          <a:prstGeom prst="rect">
            <a:avLst/>
          </a:prstGeom>
          <a:noFill/>
          <a:ln/>
        </p:spPr>
        <p:txBody>
          <a:bodyPr wrap="square" lIns="0" tIns="0" rIns="0" bIns="0" rtlCol="0" anchor="ctr"/>
          <a:lstStyle/>
          <a:p>
            <a:pPr>
              <a:lnSpc>
                <a:spcPct val="130000"/>
              </a:lnSpc>
            </a:pPr>
            <a:r>
              <a:rPr lang="en-US" sz="1193" b="1" dirty="0">
                <a:solidFill>
                  <a:srgbClr val="FFFFFF"/>
                </a:solidFill>
                <a:latin typeface="MiSans" pitchFamily="34" charset="0"/>
                <a:ea typeface="MiSans" pitchFamily="34" charset="-122"/>
                <a:cs typeface="MiSans" pitchFamily="34" charset="-120"/>
              </a:rPr>
              <a:t>4</a:t>
            </a:r>
            <a:endParaRPr lang="en-US" sz="1600" dirty="0"/>
          </a:p>
        </p:txBody>
      </p:sp>
      <p:sp>
        <p:nvSpPr>
          <p:cNvPr id="24" name="Text 21"/>
          <p:cNvSpPr/>
          <p:nvPr/>
        </p:nvSpPr>
        <p:spPr>
          <a:xfrm>
            <a:off x="909427" y="4736597"/>
            <a:ext cx="6337566"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Ứng dụng di động là xu hướng tất yếu</a:t>
            </a:r>
            <a:endParaRPr lang="en-US" sz="1600" dirty="0"/>
          </a:p>
        </p:txBody>
      </p:sp>
      <p:sp>
        <p:nvSpPr>
          <p:cNvPr id="25" name="Text 22"/>
          <p:cNvSpPr/>
          <p:nvPr/>
        </p:nvSpPr>
        <p:spPr>
          <a:xfrm>
            <a:off x="909427" y="5077632"/>
            <a:ext cx="6328093" cy="492606"/>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Với sự phát triển của công nghệ và smartphone, ứng dụng di động ngày càng phổ biến, trở thành xu hướng tất yếu trong đờI sống.</a:t>
            </a:r>
            <a:endParaRPr lang="en-US" sz="1600" dirty="0"/>
          </a:p>
        </p:txBody>
      </p:sp>
      <p:sp>
        <p:nvSpPr>
          <p:cNvPr id="26" name="Shape 23"/>
          <p:cNvSpPr/>
          <p:nvPr/>
        </p:nvSpPr>
        <p:spPr>
          <a:xfrm>
            <a:off x="378928" y="5683916"/>
            <a:ext cx="378928" cy="378928"/>
          </a:xfrm>
          <a:custGeom>
            <a:avLst/>
            <a:gdLst/>
            <a:ahLst/>
            <a:cxnLst/>
            <a:rect l="l" t="t" r="r" b="b"/>
            <a:pathLst>
              <a:path w="378928" h="378928">
                <a:moveTo>
                  <a:pt x="189464" y="0"/>
                </a:moveTo>
                <a:lnTo>
                  <a:pt x="189464" y="0"/>
                </a:lnTo>
                <a:cubicBezTo>
                  <a:pt x="294102" y="0"/>
                  <a:pt x="378928" y="84826"/>
                  <a:pt x="378928" y="189464"/>
                </a:cubicBezTo>
                <a:lnTo>
                  <a:pt x="378928" y="189464"/>
                </a:lnTo>
                <a:cubicBezTo>
                  <a:pt x="378928" y="294102"/>
                  <a:pt x="294102" y="378928"/>
                  <a:pt x="189464" y="378928"/>
                </a:cubicBezTo>
                <a:lnTo>
                  <a:pt x="189464" y="378928"/>
                </a:lnTo>
                <a:cubicBezTo>
                  <a:pt x="84826" y="378928"/>
                  <a:pt x="0" y="294102"/>
                  <a:pt x="0" y="189464"/>
                </a:cubicBezTo>
                <a:lnTo>
                  <a:pt x="0" y="189464"/>
                </a:lnTo>
                <a:cubicBezTo>
                  <a:pt x="0" y="84826"/>
                  <a:pt x="84826" y="0"/>
                  <a:pt x="189464" y="0"/>
                </a:cubicBezTo>
                <a:close/>
              </a:path>
            </a:pathLst>
          </a:custGeom>
          <a:solidFill>
            <a:srgbClr val="ED7D31"/>
          </a:solidFill>
          <a:ln/>
        </p:spPr>
      </p:sp>
      <p:sp>
        <p:nvSpPr>
          <p:cNvPr id="27" name="Text 24"/>
          <p:cNvSpPr/>
          <p:nvPr/>
        </p:nvSpPr>
        <p:spPr>
          <a:xfrm>
            <a:off x="523039" y="5759702"/>
            <a:ext cx="170517" cy="227357"/>
          </a:xfrm>
          <a:prstGeom prst="rect">
            <a:avLst/>
          </a:prstGeom>
          <a:noFill/>
          <a:ln/>
        </p:spPr>
        <p:txBody>
          <a:bodyPr wrap="square" lIns="0" tIns="0" rIns="0" bIns="0" rtlCol="0" anchor="ctr"/>
          <a:lstStyle/>
          <a:p>
            <a:pPr>
              <a:lnSpc>
                <a:spcPct val="130000"/>
              </a:lnSpc>
            </a:pPr>
            <a:r>
              <a:rPr lang="en-US" sz="1193" b="1" dirty="0">
                <a:solidFill>
                  <a:srgbClr val="FFFFFF"/>
                </a:solidFill>
                <a:latin typeface="MiSans" pitchFamily="34" charset="0"/>
                <a:ea typeface="MiSans" pitchFamily="34" charset="-122"/>
                <a:cs typeface="MiSans" pitchFamily="34" charset="-120"/>
              </a:rPr>
              <a:t>5</a:t>
            </a:r>
            <a:endParaRPr lang="en-US" sz="1600" dirty="0"/>
          </a:p>
        </p:txBody>
      </p:sp>
      <p:sp>
        <p:nvSpPr>
          <p:cNvPr id="28" name="Text 25"/>
          <p:cNvSpPr/>
          <p:nvPr/>
        </p:nvSpPr>
        <p:spPr>
          <a:xfrm>
            <a:off x="909427" y="5683916"/>
            <a:ext cx="6337566"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Tính ứng dụng và mở rộng cao</a:t>
            </a:r>
            <a:endParaRPr lang="en-US" sz="1600" dirty="0"/>
          </a:p>
        </p:txBody>
      </p:sp>
      <p:sp>
        <p:nvSpPr>
          <p:cNvPr id="29" name="Text 26"/>
          <p:cNvSpPr/>
          <p:nvPr/>
        </p:nvSpPr>
        <p:spPr>
          <a:xfrm>
            <a:off x="909427" y="6024951"/>
            <a:ext cx="6328093" cy="492606"/>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Ứng dụng có thể mở rộng và phát triển thêm nhiều tính năng, dễ dàng nâng cấp và tùy chỉnh theo nhu cầu thực tế.</a:t>
            </a:r>
            <a:endParaRPr lang="en-US" sz="1600" dirty="0"/>
          </a:p>
        </p:txBody>
      </p:sp>
      <p:sp>
        <p:nvSpPr>
          <p:cNvPr id="30" name="Shape 27"/>
          <p:cNvSpPr/>
          <p:nvPr/>
        </p:nvSpPr>
        <p:spPr>
          <a:xfrm>
            <a:off x="7353566" y="1288354"/>
            <a:ext cx="454713" cy="454713"/>
          </a:xfrm>
          <a:custGeom>
            <a:avLst/>
            <a:gdLst/>
            <a:ahLst/>
            <a:cxnLst/>
            <a:rect l="l" t="t" r="r" b="b"/>
            <a:pathLst>
              <a:path w="454713" h="454713">
                <a:moveTo>
                  <a:pt x="113678" y="0"/>
                </a:moveTo>
                <a:lnTo>
                  <a:pt x="341035" y="0"/>
                </a:lnTo>
                <a:cubicBezTo>
                  <a:pt x="403818" y="0"/>
                  <a:pt x="454713" y="50896"/>
                  <a:pt x="454713" y="113678"/>
                </a:cubicBezTo>
                <a:lnTo>
                  <a:pt x="454713" y="341035"/>
                </a:lnTo>
                <a:cubicBezTo>
                  <a:pt x="454713" y="403818"/>
                  <a:pt x="403818" y="454713"/>
                  <a:pt x="341035" y="454713"/>
                </a:cubicBezTo>
                <a:lnTo>
                  <a:pt x="113678" y="454713"/>
                </a:lnTo>
                <a:cubicBezTo>
                  <a:pt x="50896" y="454713"/>
                  <a:pt x="0" y="403818"/>
                  <a:pt x="0" y="341035"/>
                </a:cubicBezTo>
                <a:lnTo>
                  <a:pt x="0" y="113678"/>
                </a:lnTo>
                <a:cubicBezTo>
                  <a:pt x="0" y="50938"/>
                  <a:pt x="50938" y="0"/>
                  <a:pt x="113678" y="0"/>
                </a:cubicBezTo>
                <a:close/>
              </a:path>
            </a:pathLst>
          </a:custGeom>
          <a:gradFill flip="none" rotWithShape="1">
            <a:gsLst>
              <a:gs pos="0">
                <a:srgbClr val="5B9BD5"/>
              </a:gs>
              <a:gs pos="100000">
                <a:srgbClr val="4472C4"/>
              </a:gs>
            </a:gsLst>
            <a:lin ang="2700000" scaled="1"/>
          </a:gradFill>
          <a:ln/>
        </p:spPr>
      </p:sp>
      <p:sp>
        <p:nvSpPr>
          <p:cNvPr id="31" name="Shape 28"/>
          <p:cNvSpPr/>
          <p:nvPr/>
        </p:nvSpPr>
        <p:spPr>
          <a:xfrm>
            <a:off x="7474350" y="1420979"/>
            <a:ext cx="213147" cy="189464"/>
          </a:xfrm>
          <a:custGeom>
            <a:avLst/>
            <a:gdLst/>
            <a:ahLst/>
            <a:cxnLst/>
            <a:rect l="l" t="t" r="r" b="b"/>
            <a:pathLst>
              <a:path w="213147" h="189464">
                <a:moveTo>
                  <a:pt x="82927" y="35932"/>
                </a:moveTo>
                <a:lnTo>
                  <a:pt x="82927" y="54286"/>
                </a:lnTo>
                <a:lnTo>
                  <a:pt x="83112" y="54471"/>
                </a:lnTo>
                <a:cubicBezTo>
                  <a:pt x="85518" y="23979"/>
                  <a:pt x="111014" y="0"/>
                  <a:pt x="142135" y="0"/>
                </a:cubicBezTo>
                <a:cubicBezTo>
                  <a:pt x="149573" y="0"/>
                  <a:pt x="156715" y="1369"/>
                  <a:pt x="163265" y="3885"/>
                </a:cubicBezTo>
                <a:cubicBezTo>
                  <a:pt x="166965" y="5292"/>
                  <a:pt x="167631" y="9991"/>
                  <a:pt x="164856" y="12804"/>
                </a:cubicBezTo>
                <a:lnTo>
                  <a:pt x="132033" y="45627"/>
                </a:lnTo>
                <a:cubicBezTo>
                  <a:pt x="130922" y="46737"/>
                  <a:pt x="130293" y="48254"/>
                  <a:pt x="130293" y="49808"/>
                </a:cubicBezTo>
                <a:lnTo>
                  <a:pt x="130293" y="65128"/>
                </a:lnTo>
                <a:cubicBezTo>
                  <a:pt x="130293" y="68385"/>
                  <a:pt x="132958" y="71049"/>
                  <a:pt x="136214" y="71049"/>
                </a:cubicBezTo>
                <a:lnTo>
                  <a:pt x="151534" y="71049"/>
                </a:lnTo>
                <a:cubicBezTo>
                  <a:pt x="153088" y="71049"/>
                  <a:pt x="154605" y="70420"/>
                  <a:pt x="155716" y="69310"/>
                </a:cubicBezTo>
                <a:lnTo>
                  <a:pt x="188539" y="36487"/>
                </a:lnTo>
                <a:cubicBezTo>
                  <a:pt x="191351" y="33674"/>
                  <a:pt x="196051" y="34377"/>
                  <a:pt x="197457" y="38078"/>
                </a:cubicBezTo>
                <a:cubicBezTo>
                  <a:pt x="199973" y="44628"/>
                  <a:pt x="201342" y="51770"/>
                  <a:pt x="201342" y="59207"/>
                </a:cubicBezTo>
                <a:cubicBezTo>
                  <a:pt x="201342" y="81632"/>
                  <a:pt x="188872" y="101171"/>
                  <a:pt x="170443" y="111199"/>
                </a:cubicBezTo>
                <a:lnTo>
                  <a:pt x="200602" y="141358"/>
                </a:lnTo>
                <a:cubicBezTo>
                  <a:pt x="207522" y="148278"/>
                  <a:pt x="207522" y="159527"/>
                  <a:pt x="200602" y="166484"/>
                </a:cubicBezTo>
                <a:lnTo>
                  <a:pt x="178362" y="188724"/>
                </a:lnTo>
                <a:cubicBezTo>
                  <a:pt x="171443" y="195644"/>
                  <a:pt x="160193" y="195644"/>
                  <a:pt x="153236" y="188724"/>
                </a:cubicBezTo>
                <a:lnTo>
                  <a:pt x="106610" y="142098"/>
                </a:lnTo>
                <a:cubicBezTo>
                  <a:pt x="96471" y="131959"/>
                  <a:pt x="94177" y="116972"/>
                  <a:pt x="99765" y="104612"/>
                </a:cubicBezTo>
                <a:lnTo>
                  <a:pt x="66201" y="71049"/>
                </a:lnTo>
                <a:lnTo>
                  <a:pt x="47847" y="71049"/>
                </a:lnTo>
                <a:cubicBezTo>
                  <a:pt x="43888" y="71049"/>
                  <a:pt x="40187" y="69088"/>
                  <a:pt x="38004" y="65794"/>
                </a:cubicBezTo>
                <a:lnTo>
                  <a:pt x="8659" y="21796"/>
                </a:lnTo>
                <a:cubicBezTo>
                  <a:pt x="7105" y="19464"/>
                  <a:pt x="7401" y="16319"/>
                  <a:pt x="9399" y="14321"/>
                </a:cubicBezTo>
                <a:lnTo>
                  <a:pt x="26199" y="-2479"/>
                </a:lnTo>
                <a:cubicBezTo>
                  <a:pt x="28198" y="-4478"/>
                  <a:pt x="31306" y="-4774"/>
                  <a:pt x="33674" y="-3219"/>
                </a:cubicBezTo>
                <a:lnTo>
                  <a:pt x="77673" y="26088"/>
                </a:lnTo>
                <a:cubicBezTo>
                  <a:pt x="80966" y="28272"/>
                  <a:pt x="82927" y="31972"/>
                  <a:pt x="82927" y="35932"/>
                </a:cubicBezTo>
                <a:close/>
                <a:moveTo>
                  <a:pt x="79782" y="109756"/>
                </a:moveTo>
                <a:cubicBezTo>
                  <a:pt x="77451" y="123448"/>
                  <a:pt x="80670" y="137916"/>
                  <a:pt x="89551" y="149499"/>
                </a:cubicBezTo>
                <a:lnTo>
                  <a:pt x="54397" y="184616"/>
                </a:lnTo>
                <a:cubicBezTo>
                  <a:pt x="43999" y="195015"/>
                  <a:pt x="27124" y="195015"/>
                  <a:pt x="16726" y="184616"/>
                </a:cubicBezTo>
                <a:cubicBezTo>
                  <a:pt x="6328" y="174218"/>
                  <a:pt x="6328" y="157344"/>
                  <a:pt x="16726" y="146946"/>
                </a:cubicBezTo>
                <a:lnTo>
                  <a:pt x="66830" y="96841"/>
                </a:lnTo>
                <a:lnTo>
                  <a:pt x="79782" y="109793"/>
                </a:lnTo>
                <a:close/>
              </a:path>
            </a:pathLst>
          </a:custGeom>
          <a:solidFill>
            <a:srgbClr val="FFFFFF"/>
          </a:solidFill>
          <a:ln/>
        </p:spPr>
      </p:sp>
      <p:sp>
        <p:nvSpPr>
          <p:cNvPr id="32" name="Text 29"/>
          <p:cNvSpPr/>
          <p:nvPr/>
        </p:nvSpPr>
        <p:spPr>
          <a:xfrm>
            <a:off x="7921958" y="1364140"/>
            <a:ext cx="1894639" cy="303142"/>
          </a:xfrm>
          <a:prstGeom prst="rect">
            <a:avLst/>
          </a:prstGeom>
          <a:noFill/>
          <a:ln/>
        </p:spPr>
        <p:txBody>
          <a:bodyPr wrap="square" lIns="0" tIns="0" rIns="0" bIns="0" rtlCol="0" anchor="ctr"/>
          <a:lstStyle/>
          <a:p>
            <a:pPr>
              <a:lnSpc>
                <a:spcPct val="110000"/>
              </a:lnSpc>
            </a:pPr>
            <a:r>
              <a:rPr lang="en-US" sz="1790" b="1" dirty="0">
                <a:solidFill>
                  <a:srgbClr val="16213E"/>
                </a:solidFill>
                <a:latin typeface="MiSans" pitchFamily="34" charset="0"/>
                <a:ea typeface="MiSans" pitchFamily="34" charset="-122"/>
                <a:cs typeface="MiSans" pitchFamily="34" charset="-120"/>
              </a:rPr>
              <a:t>Hướng giải quyết</a:t>
            </a:r>
            <a:endParaRPr lang="en-US" sz="1600" dirty="0"/>
          </a:p>
        </p:txBody>
      </p:sp>
      <p:sp>
        <p:nvSpPr>
          <p:cNvPr id="33" name="Shape 30"/>
          <p:cNvSpPr/>
          <p:nvPr/>
        </p:nvSpPr>
        <p:spPr>
          <a:xfrm>
            <a:off x="7372513" y="1935610"/>
            <a:ext cx="4442928" cy="1458872"/>
          </a:xfrm>
          <a:custGeom>
            <a:avLst/>
            <a:gdLst/>
            <a:ahLst/>
            <a:cxnLst/>
            <a:rect l="l" t="t" r="r" b="b"/>
            <a:pathLst>
              <a:path w="4442928" h="1458872">
                <a:moveTo>
                  <a:pt x="37893" y="0"/>
                </a:moveTo>
                <a:lnTo>
                  <a:pt x="4291351" y="0"/>
                </a:lnTo>
                <a:cubicBezTo>
                  <a:pt x="4375008" y="0"/>
                  <a:pt x="4442928" y="67919"/>
                  <a:pt x="4442928" y="151577"/>
                </a:cubicBezTo>
                <a:lnTo>
                  <a:pt x="4442928" y="1307295"/>
                </a:lnTo>
                <a:cubicBezTo>
                  <a:pt x="4442928" y="1391009"/>
                  <a:pt x="4375065" y="1458872"/>
                  <a:pt x="4291351" y="1458872"/>
                </a:cubicBezTo>
                <a:lnTo>
                  <a:pt x="37893" y="1458872"/>
                </a:lnTo>
                <a:cubicBezTo>
                  <a:pt x="16965" y="1458872"/>
                  <a:pt x="0" y="1441907"/>
                  <a:pt x="0" y="1420979"/>
                </a:cubicBezTo>
                <a:lnTo>
                  <a:pt x="0" y="37893"/>
                </a:lnTo>
                <a:cubicBezTo>
                  <a:pt x="0" y="16965"/>
                  <a:pt x="16965" y="0"/>
                  <a:pt x="37893" y="0"/>
                </a:cubicBezTo>
                <a:close/>
              </a:path>
            </a:pathLst>
          </a:custGeom>
          <a:gradFill flip="none" rotWithShape="1">
            <a:gsLst>
              <a:gs pos="0">
                <a:srgbClr val="5B9BD5">
                  <a:alpha val="10000"/>
                </a:srgbClr>
              </a:gs>
              <a:gs pos="100000">
                <a:srgbClr val="4472C4">
                  <a:alpha val="5000"/>
                </a:srgbClr>
              </a:gs>
            </a:gsLst>
            <a:lin ang="2700000" scaled="1"/>
          </a:gradFill>
          <a:ln/>
        </p:spPr>
      </p:sp>
      <p:sp>
        <p:nvSpPr>
          <p:cNvPr id="34" name="Shape 31"/>
          <p:cNvSpPr/>
          <p:nvPr/>
        </p:nvSpPr>
        <p:spPr>
          <a:xfrm>
            <a:off x="7372513" y="1935610"/>
            <a:ext cx="37893" cy="1458872"/>
          </a:xfrm>
          <a:custGeom>
            <a:avLst/>
            <a:gdLst/>
            <a:ahLst/>
            <a:cxnLst/>
            <a:rect l="l" t="t" r="r" b="b"/>
            <a:pathLst>
              <a:path w="37893" h="1458872">
                <a:moveTo>
                  <a:pt x="37893" y="0"/>
                </a:moveTo>
                <a:lnTo>
                  <a:pt x="37893" y="0"/>
                </a:lnTo>
                <a:lnTo>
                  <a:pt x="37893" y="1458872"/>
                </a:lnTo>
                <a:lnTo>
                  <a:pt x="37893" y="1458872"/>
                </a:lnTo>
                <a:cubicBezTo>
                  <a:pt x="16965" y="1458872"/>
                  <a:pt x="0" y="1441907"/>
                  <a:pt x="0" y="1420979"/>
                </a:cubicBezTo>
                <a:lnTo>
                  <a:pt x="0" y="37893"/>
                </a:lnTo>
                <a:cubicBezTo>
                  <a:pt x="0" y="16965"/>
                  <a:pt x="16965" y="0"/>
                  <a:pt x="37893" y="0"/>
                </a:cubicBezTo>
                <a:close/>
              </a:path>
            </a:pathLst>
          </a:custGeom>
          <a:solidFill>
            <a:srgbClr val="5B9BD5"/>
          </a:solidFill>
          <a:ln/>
        </p:spPr>
      </p:sp>
      <p:sp>
        <p:nvSpPr>
          <p:cNvPr id="35" name="Shape 32"/>
          <p:cNvSpPr/>
          <p:nvPr/>
        </p:nvSpPr>
        <p:spPr>
          <a:xfrm>
            <a:off x="7580923" y="2125074"/>
            <a:ext cx="454713" cy="454713"/>
          </a:xfrm>
          <a:custGeom>
            <a:avLst/>
            <a:gdLst/>
            <a:ahLst/>
            <a:cxnLst/>
            <a:rect l="l" t="t" r="r" b="b"/>
            <a:pathLst>
              <a:path w="454713" h="454713">
                <a:moveTo>
                  <a:pt x="113678" y="0"/>
                </a:moveTo>
                <a:lnTo>
                  <a:pt x="341035" y="0"/>
                </a:lnTo>
                <a:cubicBezTo>
                  <a:pt x="403818" y="0"/>
                  <a:pt x="454713" y="50896"/>
                  <a:pt x="454713" y="113678"/>
                </a:cubicBezTo>
                <a:lnTo>
                  <a:pt x="454713" y="341035"/>
                </a:lnTo>
                <a:cubicBezTo>
                  <a:pt x="454713" y="403818"/>
                  <a:pt x="403818" y="454713"/>
                  <a:pt x="341035" y="454713"/>
                </a:cubicBezTo>
                <a:lnTo>
                  <a:pt x="113678" y="454713"/>
                </a:lnTo>
                <a:cubicBezTo>
                  <a:pt x="50896" y="454713"/>
                  <a:pt x="0" y="403818"/>
                  <a:pt x="0" y="341035"/>
                </a:cubicBezTo>
                <a:lnTo>
                  <a:pt x="0" y="113678"/>
                </a:lnTo>
                <a:cubicBezTo>
                  <a:pt x="0" y="50938"/>
                  <a:pt x="50938" y="0"/>
                  <a:pt x="113678" y="0"/>
                </a:cubicBezTo>
                <a:close/>
              </a:path>
            </a:pathLst>
          </a:custGeom>
          <a:solidFill>
            <a:srgbClr val="5B9BD5"/>
          </a:solidFill>
          <a:ln/>
        </p:spPr>
      </p:sp>
      <p:sp>
        <p:nvSpPr>
          <p:cNvPr id="36" name="Shape 33"/>
          <p:cNvSpPr/>
          <p:nvPr/>
        </p:nvSpPr>
        <p:spPr>
          <a:xfrm>
            <a:off x="7737231" y="2257698"/>
            <a:ext cx="142098" cy="189464"/>
          </a:xfrm>
          <a:custGeom>
            <a:avLst/>
            <a:gdLst/>
            <a:ahLst/>
            <a:cxnLst/>
            <a:rect l="l" t="t" r="r" b="b"/>
            <a:pathLst>
              <a:path w="142098" h="189464">
                <a:moveTo>
                  <a:pt x="5921" y="23683"/>
                </a:moveTo>
                <a:cubicBezTo>
                  <a:pt x="5921" y="10620"/>
                  <a:pt x="16541" y="0"/>
                  <a:pt x="29604" y="0"/>
                </a:cubicBezTo>
                <a:lnTo>
                  <a:pt x="112494" y="0"/>
                </a:lnTo>
                <a:cubicBezTo>
                  <a:pt x="125557" y="0"/>
                  <a:pt x="136177" y="10620"/>
                  <a:pt x="136177" y="23683"/>
                </a:cubicBezTo>
                <a:lnTo>
                  <a:pt x="136177" y="165781"/>
                </a:lnTo>
                <a:cubicBezTo>
                  <a:pt x="136177" y="178844"/>
                  <a:pt x="125557" y="189464"/>
                  <a:pt x="112494" y="189464"/>
                </a:cubicBezTo>
                <a:lnTo>
                  <a:pt x="29604" y="189464"/>
                </a:lnTo>
                <a:cubicBezTo>
                  <a:pt x="16541" y="189464"/>
                  <a:pt x="5921" y="178844"/>
                  <a:pt x="5921" y="165781"/>
                </a:cubicBezTo>
                <a:lnTo>
                  <a:pt x="5921" y="23683"/>
                </a:lnTo>
                <a:close/>
                <a:moveTo>
                  <a:pt x="29604" y="23683"/>
                </a:moveTo>
                <a:lnTo>
                  <a:pt x="29604" y="136177"/>
                </a:lnTo>
                <a:lnTo>
                  <a:pt x="112494" y="136177"/>
                </a:lnTo>
                <a:lnTo>
                  <a:pt x="112494" y="23683"/>
                </a:lnTo>
                <a:lnTo>
                  <a:pt x="29604" y="23683"/>
                </a:lnTo>
                <a:close/>
                <a:moveTo>
                  <a:pt x="71049" y="174662"/>
                </a:moveTo>
                <a:cubicBezTo>
                  <a:pt x="77599" y="174662"/>
                  <a:pt x="82890" y="169370"/>
                  <a:pt x="82890" y="162821"/>
                </a:cubicBezTo>
                <a:cubicBezTo>
                  <a:pt x="82890" y="156271"/>
                  <a:pt x="77599" y="150979"/>
                  <a:pt x="71049" y="150979"/>
                </a:cubicBezTo>
                <a:cubicBezTo>
                  <a:pt x="64499" y="150979"/>
                  <a:pt x="59207" y="156271"/>
                  <a:pt x="59207" y="162821"/>
                </a:cubicBezTo>
                <a:cubicBezTo>
                  <a:pt x="59207" y="169370"/>
                  <a:pt x="64499" y="174662"/>
                  <a:pt x="71049" y="174662"/>
                </a:cubicBezTo>
                <a:close/>
              </a:path>
            </a:pathLst>
          </a:custGeom>
          <a:solidFill>
            <a:srgbClr val="FFFFFF"/>
          </a:solidFill>
          <a:ln/>
        </p:spPr>
      </p:sp>
      <p:sp>
        <p:nvSpPr>
          <p:cNvPr id="37" name="Text 34"/>
          <p:cNvSpPr/>
          <p:nvPr/>
        </p:nvSpPr>
        <p:spPr>
          <a:xfrm>
            <a:off x="8187207" y="2125074"/>
            <a:ext cx="3524028"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Thiết kế trực quan, dễ sử dụng</a:t>
            </a:r>
            <a:endParaRPr lang="en-US" sz="1600" dirty="0"/>
          </a:p>
        </p:txBody>
      </p:sp>
      <p:sp>
        <p:nvSpPr>
          <p:cNvPr id="38" name="Text 35"/>
          <p:cNvSpPr/>
          <p:nvPr/>
        </p:nvSpPr>
        <p:spPr>
          <a:xfrm>
            <a:off x="8187207" y="2466109"/>
            <a:ext cx="3514555" cy="738909"/>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Tập trung vào UI/UX thân thiện, giúp ngườI dùng dễ dàng thao tác, đặt vé nhanh chóng chỉ với vài thao tác đơn giản.</a:t>
            </a:r>
            <a:endParaRPr lang="en-US" sz="1600" dirty="0"/>
          </a:p>
        </p:txBody>
      </p:sp>
      <p:sp>
        <p:nvSpPr>
          <p:cNvPr id="39" name="Shape 36"/>
          <p:cNvSpPr/>
          <p:nvPr/>
        </p:nvSpPr>
        <p:spPr>
          <a:xfrm>
            <a:off x="7372513" y="3476544"/>
            <a:ext cx="4442928" cy="1458872"/>
          </a:xfrm>
          <a:custGeom>
            <a:avLst/>
            <a:gdLst/>
            <a:ahLst/>
            <a:cxnLst/>
            <a:rect l="l" t="t" r="r" b="b"/>
            <a:pathLst>
              <a:path w="4442928" h="1458872">
                <a:moveTo>
                  <a:pt x="37893" y="0"/>
                </a:moveTo>
                <a:lnTo>
                  <a:pt x="4291351" y="0"/>
                </a:lnTo>
                <a:cubicBezTo>
                  <a:pt x="4375008" y="0"/>
                  <a:pt x="4442928" y="67919"/>
                  <a:pt x="4442928" y="151577"/>
                </a:cubicBezTo>
                <a:lnTo>
                  <a:pt x="4442928" y="1307295"/>
                </a:lnTo>
                <a:cubicBezTo>
                  <a:pt x="4442928" y="1391009"/>
                  <a:pt x="4375065" y="1458872"/>
                  <a:pt x="4291351" y="1458872"/>
                </a:cubicBezTo>
                <a:lnTo>
                  <a:pt x="37893" y="1458872"/>
                </a:lnTo>
                <a:cubicBezTo>
                  <a:pt x="16965" y="1458872"/>
                  <a:pt x="0" y="1441907"/>
                  <a:pt x="0" y="1420979"/>
                </a:cubicBezTo>
                <a:lnTo>
                  <a:pt x="0" y="37893"/>
                </a:lnTo>
                <a:cubicBezTo>
                  <a:pt x="0" y="16965"/>
                  <a:pt x="16965" y="0"/>
                  <a:pt x="37893" y="0"/>
                </a:cubicBezTo>
                <a:close/>
              </a:path>
            </a:pathLst>
          </a:custGeom>
          <a:gradFill flip="none" rotWithShape="1">
            <a:gsLst>
              <a:gs pos="0">
                <a:srgbClr val="70AD47">
                  <a:alpha val="10000"/>
                </a:srgbClr>
              </a:gs>
              <a:gs pos="100000">
                <a:srgbClr val="A5A5A5">
                  <a:alpha val="5000"/>
                </a:srgbClr>
              </a:gs>
            </a:gsLst>
            <a:lin ang="2700000" scaled="1"/>
          </a:gradFill>
          <a:ln/>
        </p:spPr>
      </p:sp>
      <p:sp>
        <p:nvSpPr>
          <p:cNvPr id="40" name="Shape 37"/>
          <p:cNvSpPr/>
          <p:nvPr/>
        </p:nvSpPr>
        <p:spPr>
          <a:xfrm>
            <a:off x="7372513" y="3476544"/>
            <a:ext cx="37893" cy="1458872"/>
          </a:xfrm>
          <a:custGeom>
            <a:avLst/>
            <a:gdLst/>
            <a:ahLst/>
            <a:cxnLst/>
            <a:rect l="l" t="t" r="r" b="b"/>
            <a:pathLst>
              <a:path w="37893" h="1458872">
                <a:moveTo>
                  <a:pt x="37893" y="0"/>
                </a:moveTo>
                <a:lnTo>
                  <a:pt x="37893" y="0"/>
                </a:lnTo>
                <a:lnTo>
                  <a:pt x="37893" y="1458872"/>
                </a:lnTo>
                <a:lnTo>
                  <a:pt x="37893" y="1458872"/>
                </a:lnTo>
                <a:cubicBezTo>
                  <a:pt x="16965" y="1458872"/>
                  <a:pt x="0" y="1441907"/>
                  <a:pt x="0" y="1420979"/>
                </a:cubicBezTo>
                <a:lnTo>
                  <a:pt x="0" y="37893"/>
                </a:lnTo>
                <a:cubicBezTo>
                  <a:pt x="0" y="16965"/>
                  <a:pt x="16965" y="0"/>
                  <a:pt x="37893" y="0"/>
                </a:cubicBezTo>
                <a:close/>
              </a:path>
            </a:pathLst>
          </a:custGeom>
          <a:solidFill>
            <a:srgbClr val="70AD47"/>
          </a:solidFill>
          <a:ln/>
        </p:spPr>
      </p:sp>
      <p:sp>
        <p:nvSpPr>
          <p:cNvPr id="41" name="Shape 38"/>
          <p:cNvSpPr/>
          <p:nvPr/>
        </p:nvSpPr>
        <p:spPr>
          <a:xfrm>
            <a:off x="7580923" y="3666008"/>
            <a:ext cx="454713" cy="454713"/>
          </a:xfrm>
          <a:custGeom>
            <a:avLst/>
            <a:gdLst/>
            <a:ahLst/>
            <a:cxnLst/>
            <a:rect l="l" t="t" r="r" b="b"/>
            <a:pathLst>
              <a:path w="454713" h="454713">
                <a:moveTo>
                  <a:pt x="113678" y="0"/>
                </a:moveTo>
                <a:lnTo>
                  <a:pt x="341035" y="0"/>
                </a:lnTo>
                <a:cubicBezTo>
                  <a:pt x="403818" y="0"/>
                  <a:pt x="454713" y="50896"/>
                  <a:pt x="454713" y="113678"/>
                </a:cubicBezTo>
                <a:lnTo>
                  <a:pt x="454713" y="341035"/>
                </a:lnTo>
                <a:cubicBezTo>
                  <a:pt x="454713" y="403818"/>
                  <a:pt x="403818" y="454713"/>
                  <a:pt x="341035" y="454713"/>
                </a:cubicBezTo>
                <a:lnTo>
                  <a:pt x="113678" y="454713"/>
                </a:lnTo>
                <a:cubicBezTo>
                  <a:pt x="50896" y="454713"/>
                  <a:pt x="0" y="403818"/>
                  <a:pt x="0" y="341035"/>
                </a:cubicBezTo>
                <a:lnTo>
                  <a:pt x="0" y="113678"/>
                </a:lnTo>
                <a:cubicBezTo>
                  <a:pt x="0" y="50938"/>
                  <a:pt x="50938" y="0"/>
                  <a:pt x="113678" y="0"/>
                </a:cubicBezTo>
                <a:close/>
              </a:path>
            </a:pathLst>
          </a:custGeom>
          <a:solidFill>
            <a:srgbClr val="70AD47"/>
          </a:solidFill>
          <a:ln/>
        </p:spPr>
      </p:sp>
      <p:sp>
        <p:nvSpPr>
          <p:cNvPr id="42" name="Shape 39"/>
          <p:cNvSpPr/>
          <p:nvPr/>
        </p:nvSpPr>
        <p:spPr>
          <a:xfrm>
            <a:off x="7713548" y="3798633"/>
            <a:ext cx="189464" cy="189464"/>
          </a:xfrm>
          <a:custGeom>
            <a:avLst/>
            <a:gdLst/>
            <a:ahLst/>
            <a:cxnLst/>
            <a:rect l="l" t="t" r="r" b="b"/>
            <a:pathLst>
              <a:path w="189464" h="189464">
                <a:moveTo>
                  <a:pt x="47366" y="118415"/>
                </a:moveTo>
                <a:lnTo>
                  <a:pt x="9066" y="118415"/>
                </a:lnTo>
                <a:cubicBezTo>
                  <a:pt x="-148" y="118415"/>
                  <a:pt x="-5810" y="108387"/>
                  <a:pt x="-1073" y="100468"/>
                </a:cubicBezTo>
                <a:lnTo>
                  <a:pt x="18502" y="67830"/>
                </a:lnTo>
                <a:cubicBezTo>
                  <a:pt x="21722" y="62464"/>
                  <a:pt x="27494" y="59207"/>
                  <a:pt x="33748" y="59207"/>
                </a:cubicBezTo>
                <a:lnTo>
                  <a:pt x="68903" y="59207"/>
                </a:lnTo>
                <a:cubicBezTo>
                  <a:pt x="97063" y="11508"/>
                  <a:pt x="139064" y="9103"/>
                  <a:pt x="167150" y="13211"/>
                </a:cubicBezTo>
                <a:cubicBezTo>
                  <a:pt x="171887" y="13914"/>
                  <a:pt x="175587" y="17614"/>
                  <a:pt x="176253" y="22314"/>
                </a:cubicBezTo>
                <a:cubicBezTo>
                  <a:pt x="180361" y="50400"/>
                  <a:pt x="177955" y="92401"/>
                  <a:pt x="130256" y="120561"/>
                </a:cubicBezTo>
                <a:lnTo>
                  <a:pt x="130256" y="155716"/>
                </a:lnTo>
                <a:cubicBezTo>
                  <a:pt x="130256" y="161969"/>
                  <a:pt x="127000" y="167742"/>
                  <a:pt x="121634" y="170962"/>
                </a:cubicBezTo>
                <a:lnTo>
                  <a:pt x="88996" y="190537"/>
                </a:lnTo>
                <a:cubicBezTo>
                  <a:pt x="81114" y="195274"/>
                  <a:pt x="71049" y="189575"/>
                  <a:pt x="71049" y="180398"/>
                </a:cubicBezTo>
                <a:lnTo>
                  <a:pt x="71049" y="142098"/>
                </a:lnTo>
                <a:cubicBezTo>
                  <a:pt x="71049" y="129035"/>
                  <a:pt x="60429" y="118415"/>
                  <a:pt x="47366" y="118415"/>
                </a:cubicBezTo>
                <a:lnTo>
                  <a:pt x="47329" y="118415"/>
                </a:lnTo>
                <a:close/>
                <a:moveTo>
                  <a:pt x="148019" y="59207"/>
                </a:moveTo>
                <a:cubicBezTo>
                  <a:pt x="148019" y="49404"/>
                  <a:pt x="140060" y="41445"/>
                  <a:pt x="130256" y="41445"/>
                </a:cubicBezTo>
                <a:cubicBezTo>
                  <a:pt x="120453" y="41445"/>
                  <a:pt x="112494" y="49404"/>
                  <a:pt x="112494" y="59207"/>
                </a:cubicBezTo>
                <a:cubicBezTo>
                  <a:pt x="112494" y="69011"/>
                  <a:pt x="120453" y="76970"/>
                  <a:pt x="130256" y="76970"/>
                </a:cubicBezTo>
                <a:cubicBezTo>
                  <a:pt x="140060" y="76970"/>
                  <a:pt x="148019" y="69011"/>
                  <a:pt x="148019" y="59207"/>
                </a:cubicBezTo>
                <a:close/>
              </a:path>
            </a:pathLst>
          </a:custGeom>
          <a:solidFill>
            <a:srgbClr val="FFFFFF"/>
          </a:solidFill>
          <a:ln/>
        </p:spPr>
      </p:sp>
      <p:sp>
        <p:nvSpPr>
          <p:cNvPr id="43" name="Text 40"/>
          <p:cNvSpPr/>
          <p:nvPr/>
        </p:nvSpPr>
        <p:spPr>
          <a:xfrm>
            <a:off x="8187207" y="3666008"/>
            <a:ext cx="3524028"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Ứng dụng công nghệ hiện đại</a:t>
            </a:r>
            <a:endParaRPr lang="en-US" sz="1600" dirty="0"/>
          </a:p>
        </p:txBody>
      </p:sp>
      <p:sp>
        <p:nvSpPr>
          <p:cNvPr id="44" name="Text 41"/>
          <p:cNvSpPr/>
          <p:nvPr/>
        </p:nvSpPr>
        <p:spPr>
          <a:xfrm>
            <a:off x="8187207" y="4007043"/>
            <a:ext cx="3514555" cy="738909"/>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Sử dụng các công nghệ tiên tiến như Flutter, Node.js, Firebase để đảm bảo hiệu năng và khả năng mở rộng của ứng dụng.</a:t>
            </a:r>
            <a:endParaRPr lang="en-US" sz="1600" dirty="0"/>
          </a:p>
        </p:txBody>
      </p:sp>
      <p:sp>
        <p:nvSpPr>
          <p:cNvPr id="45" name="Shape 42"/>
          <p:cNvSpPr/>
          <p:nvPr/>
        </p:nvSpPr>
        <p:spPr>
          <a:xfrm>
            <a:off x="7372513" y="5017596"/>
            <a:ext cx="4442928" cy="1458872"/>
          </a:xfrm>
          <a:custGeom>
            <a:avLst/>
            <a:gdLst/>
            <a:ahLst/>
            <a:cxnLst/>
            <a:rect l="l" t="t" r="r" b="b"/>
            <a:pathLst>
              <a:path w="4442928" h="1458872">
                <a:moveTo>
                  <a:pt x="37893" y="0"/>
                </a:moveTo>
                <a:lnTo>
                  <a:pt x="4291351" y="0"/>
                </a:lnTo>
                <a:cubicBezTo>
                  <a:pt x="4375008" y="0"/>
                  <a:pt x="4442928" y="67919"/>
                  <a:pt x="4442928" y="151577"/>
                </a:cubicBezTo>
                <a:lnTo>
                  <a:pt x="4442928" y="1307295"/>
                </a:lnTo>
                <a:cubicBezTo>
                  <a:pt x="4442928" y="1391009"/>
                  <a:pt x="4375065" y="1458872"/>
                  <a:pt x="4291351" y="1458872"/>
                </a:cubicBezTo>
                <a:lnTo>
                  <a:pt x="37893" y="1458872"/>
                </a:lnTo>
                <a:cubicBezTo>
                  <a:pt x="16965" y="1458872"/>
                  <a:pt x="0" y="1441907"/>
                  <a:pt x="0" y="1420979"/>
                </a:cubicBezTo>
                <a:lnTo>
                  <a:pt x="0" y="37893"/>
                </a:lnTo>
                <a:cubicBezTo>
                  <a:pt x="0" y="16965"/>
                  <a:pt x="16965" y="0"/>
                  <a:pt x="37893" y="0"/>
                </a:cubicBezTo>
                <a:close/>
              </a:path>
            </a:pathLst>
          </a:custGeom>
          <a:gradFill flip="none" rotWithShape="1">
            <a:gsLst>
              <a:gs pos="0">
                <a:srgbClr val="FFC000">
                  <a:alpha val="10000"/>
                </a:srgbClr>
              </a:gs>
              <a:gs pos="100000">
                <a:srgbClr val="ED7D31">
                  <a:alpha val="5000"/>
                </a:srgbClr>
              </a:gs>
            </a:gsLst>
            <a:lin ang="2700000" scaled="1"/>
          </a:gradFill>
          <a:ln/>
        </p:spPr>
      </p:sp>
      <p:sp>
        <p:nvSpPr>
          <p:cNvPr id="46" name="Shape 43"/>
          <p:cNvSpPr/>
          <p:nvPr/>
        </p:nvSpPr>
        <p:spPr>
          <a:xfrm>
            <a:off x="7372513" y="5017596"/>
            <a:ext cx="37893" cy="1458872"/>
          </a:xfrm>
          <a:custGeom>
            <a:avLst/>
            <a:gdLst/>
            <a:ahLst/>
            <a:cxnLst/>
            <a:rect l="l" t="t" r="r" b="b"/>
            <a:pathLst>
              <a:path w="37893" h="1458872">
                <a:moveTo>
                  <a:pt x="37893" y="0"/>
                </a:moveTo>
                <a:lnTo>
                  <a:pt x="37893" y="0"/>
                </a:lnTo>
                <a:lnTo>
                  <a:pt x="37893" y="1458872"/>
                </a:lnTo>
                <a:lnTo>
                  <a:pt x="37893" y="1458872"/>
                </a:lnTo>
                <a:cubicBezTo>
                  <a:pt x="16965" y="1458872"/>
                  <a:pt x="0" y="1441907"/>
                  <a:pt x="0" y="1420979"/>
                </a:cubicBezTo>
                <a:lnTo>
                  <a:pt x="0" y="37893"/>
                </a:lnTo>
                <a:cubicBezTo>
                  <a:pt x="0" y="16965"/>
                  <a:pt x="16965" y="0"/>
                  <a:pt x="37893" y="0"/>
                </a:cubicBezTo>
                <a:close/>
              </a:path>
            </a:pathLst>
          </a:custGeom>
          <a:solidFill>
            <a:srgbClr val="FFC000"/>
          </a:solidFill>
          <a:ln/>
        </p:spPr>
      </p:sp>
      <p:sp>
        <p:nvSpPr>
          <p:cNvPr id="47" name="Shape 44"/>
          <p:cNvSpPr/>
          <p:nvPr/>
        </p:nvSpPr>
        <p:spPr>
          <a:xfrm>
            <a:off x="7580923" y="5207060"/>
            <a:ext cx="454713" cy="454713"/>
          </a:xfrm>
          <a:custGeom>
            <a:avLst/>
            <a:gdLst/>
            <a:ahLst/>
            <a:cxnLst/>
            <a:rect l="l" t="t" r="r" b="b"/>
            <a:pathLst>
              <a:path w="454713" h="454713">
                <a:moveTo>
                  <a:pt x="113678" y="0"/>
                </a:moveTo>
                <a:lnTo>
                  <a:pt x="341035" y="0"/>
                </a:lnTo>
                <a:cubicBezTo>
                  <a:pt x="403818" y="0"/>
                  <a:pt x="454713" y="50896"/>
                  <a:pt x="454713" y="113678"/>
                </a:cubicBezTo>
                <a:lnTo>
                  <a:pt x="454713" y="341035"/>
                </a:lnTo>
                <a:cubicBezTo>
                  <a:pt x="454713" y="403818"/>
                  <a:pt x="403818" y="454713"/>
                  <a:pt x="341035" y="454713"/>
                </a:cubicBezTo>
                <a:lnTo>
                  <a:pt x="113678" y="454713"/>
                </a:lnTo>
                <a:cubicBezTo>
                  <a:pt x="50896" y="454713"/>
                  <a:pt x="0" y="403818"/>
                  <a:pt x="0" y="341035"/>
                </a:cubicBezTo>
                <a:lnTo>
                  <a:pt x="0" y="113678"/>
                </a:lnTo>
                <a:cubicBezTo>
                  <a:pt x="0" y="50938"/>
                  <a:pt x="50938" y="0"/>
                  <a:pt x="113678" y="0"/>
                </a:cubicBezTo>
                <a:close/>
              </a:path>
            </a:pathLst>
          </a:custGeom>
          <a:solidFill>
            <a:srgbClr val="FFC000"/>
          </a:solidFill>
          <a:ln/>
        </p:spPr>
      </p:sp>
      <p:sp>
        <p:nvSpPr>
          <p:cNvPr id="48" name="Shape 45"/>
          <p:cNvSpPr/>
          <p:nvPr/>
        </p:nvSpPr>
        <p:spPr>
          <a:xfrm>
            <a:off x="7725389" y="5339685"/>
            <a:ext cx="165781" cy="189464"/>
          </a:xfrm>
          <a:custGeom>
            <a:avLst/>
            <a:gdLst/>
            <a:ahLst/>
            <a:cxnLst/>
            <a:rect l="l" t="t" r="r" b="b"/>
            <a:pathLst>
              <a:path w="165781" h="189464">
                <a:moveTo>
                  <a:pt x="62168" y="11841"/>
                </a:moveTo>
                <a:lnTo>
                  <a:pt x="8881" y="11841"/>
                </a:lnTo>
                <a:cubicBezTo>
                  <a:pt x="3959" y="11841"/>
                  <a:pt x="0" y="15801"/>
                  <a:pt x="0" y="20723"/>
                </a:cubicBezTo>
                <a:lnTo>
                  <a:pt x="0" y="74009"/>
                </a:lnTo>
                <a:cubicBezTo>
                  <a:pt x="0" y="77599"/>
                  <a:pt x="2146" y="80855"/>
                  <a:pt x="5477" y="82224"/>
                </a:cubicBezTo>
                <a:cubicBezTo>
                  <a:pt x="8807" y="83594"/>
                  <a:pt x="12619" y="82816"/>
                  <a:pt x="15172" y="80300"/>
                </a:cubicBezTo>
                <a:lnTo>
                  <a:pt x="29974" y="65498"/>
                </a:lnTo>
                <a:lnTo>
                  <a:pt x="59207" y="94732"/>
                </a:lnTo>
                <a:lnTo>
                  <a:pt x="29974" y="123966"/>
                </a:lnTo>
                <a:lnTo>
                  <a:pt x="15172" y="109164"/>
                </a:lnTo>
                <a:cubicBezTo>
                  <a:pt x="12619" y="106610"/>
                  <a:pt x="8807" y="105870"/>
                  <a:pt x="5477" y="107240"/>
                </a:cubicBezTo>
                <a:cubicBezTo>
                  <a:pt x="2146" y="108609"/>
                  <a:pt x="0" y="111865"/>
                  <a:pt x="0" y="115455"/>
                </a:cubicBezTo>
                <a:lnTo>
                  <a:pt x="0" y="168741"/>
                </a:lnTo>
                <a:cubicBezTo>
                  <a:pt x="0" y="173663"/>
                  <a:pt x="3959" y="177622"/>
                  <a:pt x="8881" y="177622"/>
                </a:cubicBezTo>
                <a:lnTo>
                  <a:pt x="62168" y="177622"/>
                </a:lnTo>
                <a:cubicBezTo>
                  <a:pt x="65757" y="177622"/>
                  <a:pt x="69014" y="175476"/>
                  <a:pt x="70383" y="172146"/>
                </a:cubicBezTo>
                <a:cubicBezTo>
                  <a:pt x="71752" y="168815"/>
                  <a:pt x="71012" y="165004"/>
                  <a:pt x="68459" y="162450"/>
                </a:cubicBezTo>
                <a:lnTo>
                  <a:pt x="53657" y="147649"/>
                </a:lnTo>
                <a:lnTo>
                  <a:pt x="82890" y="118415"/>
                </a:lnTo>
                <a:lnTo>
                  <a:pt x="112124" y="147649"/>
                </a:lnTo>
                <a:lnTo>
                  <a:pt x="97322" y="162450"/>
                </a:lnTo>
                <a:cubicBezTo>
                  <a:pt x="94769" y="165004"/>
                  <a:pt x="94029" y="168815"/>
                  <a:pt x="95398" y="172146"/>
                </a:cubicBezTo>
                <a:cubicBezTo>
                  <a:pt x="96767" y="175476"/>
                  <a:pt x="100024" y="177622"/>
                  <a:pt x="103613" y="177622"/>
                </a:cubicBezTo>
                <a:lnTo>
                  <a:pt x="156900" y="177622"/>
                </a:lnTo>
                <a:cubicBezTo>
                  <a:pt x="161821" y="177622"/>
                  <a:pt x="165781" y="173663"/>
                  <a:pt x="165781" y="168741"/>
                </a:cubicBezTo>
                <a:lnTo>
                  <a:pt x="165781" y="115455"/>
                </a:lnTo>
                <a:cubicBezTo>
                  <a:pt x="165781" y="111865"/>
                  <a:pt x="163635" y="108609"/>
                  <a:pt x="160304" y="107240"/>
                </a:cubicBezTo>
                <a:cubicBezTo>
                  <a:pt x="156974" y="105870"/>
                  <a:pt x="153162" y="106610"/>
                  <a:pt x="150609" y="109164"/>
                </a:cubicBezTo>
                <a:lnTo>
                  <a:pt x="135807" y="123966"/>
                </a:lnTo>
                <a:lnTo>
                  <a:pt x="106573" y="94732"/>
                </a:lnTo>
                <a:lnTo>
                  <a:pt x="135807" y="65498"/>
                </a:lnTo>
                <a:lnTo>
                  <a:pt x="150609" y="80300"/>
                </a:lnTo>
                <a:cubicBezTo>
                  <a:pt x="153162" y="82853"/>
                  <a:pt x="156974" y="83594"/>
                  <a:pt x="160304" y="82224"/>
                </a:cubicBezTo>
                <a:cubicBezTo>
                  <a:pt x="163635" y="80855"/>
                  <a:pt x="165781" y="77599"/>
                  <a:pt x="165781" y="74009"/>
                </a:cubicBezTo>
                <a:lnTo>
                  <a:pt x="165781" y="20723"/>
                </a:lnTo>
                <a:cubicBezTo>
                  <a:pt x="165781" y="15801"/>
                  <a:pt x="161821" y="11841"/>
                  <a:pt x="156900" y="11841"/>
                </a:cubicBezTo>
                <a:lnTo>
                  <a:pt x="103613" y="11841"/>
                </a:lnTo>
                <a:cubicBezTo>
                  <a:pt x="100024" y="11841"/>
                  <a:pt x="96767" y="13988"/>
                  <a:pt x="95398" y="17318"/>
                </a:cubicBezTo>
                <a:cubicBezTo>
                  <a:pt x="94029" y="20649"/>
                  <a:pt x="94806" y="24460"/>
                  <a:pt x="97322" y="27013"/>
                </a:cubicBezTo>
                <a:lnTo>
                  <a:pt x="112124" y="41815"/>
                </a:lnTo>
                <a:lnTo>
                  <a:pt x="82890" y="71049"/>
                </a:lnTo>
                <a:lnTo>
                  <a:pt x="53657" y="41815"/>
                </a:lnTo>
                <a:lnTo>
                  <a:pt x="68459" y="27013"/>
                </a:lnTo>
                <a:cubicBezTo>
                  <a:pt x="71012" y="24460"/>
                  <a:pt x="71752" y="20649"/>
                  <a:pt x="70383" y="17318"/>
                </a:cubicBezTo>
                <a:cubicBezTo>
                  <a:pt x="69014" y="13988"/>
                  <a:pt x="65757" y="11841"/>
                  <a:pt x="62168" y="11841"/>
                </a:cubicBezTo>
                <a:close/>
              </a:path>
            </a:pathLst>
          </a:custGeom>
          <a:solidFill>
            <a:srgbClr val="FFFFFF"/>
          </a:solidFill>
          <a:ln/>
        </p:spPr>
      </p:sp>
      <p:sp>
        <p:nvSpPr>
          <p:cNvPr id="49" name="Text 46"/>
          <p:cNvSpPr/>
          <p:nvPr/>
        </p:nvSpPr>
        <p:spPr>
          <a:xfrm>
            <a:off x="8187207" y="5207060"/>
            <a:ext cx="3524028" cy="265249"/>
          </a:xfrm>
          <a:prstGeom prst="rect">
            <a:avLst/>
          </a:prstGeom>
          <a:noFill/>
          <a:ln/>
        </p:spPr>
        <p:txBody>
          <a:bodyPr wrap="square" lIns="0" tIns="0" rIns="0" bIns="0" rtlCol="0" anchor="ctr"/>
          <a:lstStyle/>
          <a:p>
            <a:pPr>
              <a:lnSpc>
                <a:spcPct val="130000"/>
              </a:lnSpc>
            </a:pPr>
            <a:r>
              <a:rPr lang="en-US" sz="1343" b="1" dirty="0">
                <a:solidFill>
                  <a:srgbClr val="16213E"/>
                </a:solidFill>
                <a:latin typeface="MiSans" pitchFamily="34" charset="0"/>
                <a:ea typeface="MiSans" pitchFamily="34" charset="-122"/>
                <a:cs typeface="MiSans" pitchFamily="34" charset="-120"/>
              </a:rPr>
              <a:t>Mở rộng hướng đến tương lai</a:t>
            </a:r>
            <a:endParaRPr lang="en-US" sz="1600" dirty="0"/>
          </a:p>
        </p:txBody>
      </p:sp>
      <p:sp>
        <p:nvSpPr>
          <p:cNvPr id="50" name="Text 47"/>
          <p:cNvSpPr/>
          <p:nvPr/>
        </p:nvSpPr>
        <p:spPr>
          <a:xfrm>
            <a:off x="8187207" y="5548095"/>
            <a:ext cx="3514555" cy="738909"/>
          </a:xfrm>
          <a:prstGeom prst="rect">
            <a:avLst/>
          </a:prstGeom>
          <a:noFill/>
          <a:ln/>
        </p:spPr>
        <p:txBody>
          <a:bodyPr wrap="square" lIns="0" tIns="0" rIns="0" bIns="0" rtlCol="0" anchor="ctr"/>
          <a:lstStyle/>
          <a:p>
            <a:pPr>
              <a:lnSpc>
                <a:spcPct val="140000"/>
              </a:lnSpc>
            </a:pPr>
            <a:r>
              <a:rPr lang="en-US" sz="1193" dirty="0">
                <a:solidFill>
                  <a:srgbClr val="44546A"/>
                </a:solidFill>
                <a:latin typeface="MiSans" pitchFamily="34" charset="0"/>
                <a:ea typeface="MiSans" pitchFamily="34" charset="-122"/>
                <a:cs typeface="MiSans" pitchFamily="34" charset="-120"/>
              </a:rPr>
              <a:t>Thiết kế hệ thống có khả năng mở rộng, dễ dàng thêm tính năng mới và tích hợp với các dịch vụ khác trong tương lai.</a:t>
            </a:r>
            <a:endParaRPr lang="en-US" sz="1600" dirty="0"/>
          </a:p>
        </p:txBody>
      </p:sp>
      <p:sp>
        <p:nvSpPr>
          <p:cNvPr id="51" name="Shape 48"/>
          <p:cNvSpPr/>
          <p:nvPr/>
        </p:nvSpPr>
        <p:spPr>
          <a:xfrm>
            <a:off x="378928" y="6725967"/>
            <a:ext cx="606284" cy="37893"/>
          </a:xfrm>
          <a:custGeom>
            <a:avLst/>
            <a:gdLst/>
            <a:ahLst/>
            <a:cxnLst/>
            <a:rect l="l" t="t" r="r" b="b"/>
            <a:pathLst>
              <a:path w="606284" h="37893">
                <a:moveTo>
                  <a:pt x="18946" y="0"/>
                </a:moveTo>
                <a:lnTo>
                  <a:pt x="587338" y="0"/>
                </a:lnTo>
                <a:cubicBezTo>
                  <a:pt x="597802" y="0"/>
                  <a:pt x="606284" y="8483"/>
                  <a:pt x="606284" y="18946"/>
                </a:cubicBezTo>
                <a:lnTo>
                  <a:pt x="606284" y="18946"/>
                </a:lnTo>
                <a:cubicBezTo>
                  <a:pt x="606284" y="29410"/>
                  <a:pt x="597802" y="37893"/>
                  <a:pt x="587338" y="37893"/>
                </a:cubicBezTo>
                <a:lnTo>
                  <a:pt x="18946" y="37893"/>
                </a:lnTo>
                <a:cubicBezTo>
                  <a:pt x="8483" y="37893"/>
                  <a:pt x="0" y="29410"/>
                  <a:pt x="0" y="18946"/>
                </a:cubicBezTo>
                <a:lnTo>
                  <a:pt x="0" y="18946"/>
                </a:lnTo>
                <a:cubicBezTo>
                  <a:pt x="0" y="8483"/>
                  <a:pt x="8483" y="0"/>
                  <a:pt x="18946" y="0"/>
                </a:cubicBezTo>
                <a:close/>
              </a:path>
            </a:pathLst>
          </a:custGeom>
          <a:gradFill flip="none" rotWithShape="1">
            <a:gsLst>
              <a:gs pos="0">
                <a:srgbClr val="ED7D31"/>
              </a:gs>
              <a:gs pos="100000">
                <a:srgbClr val="FFC000"/>
              </a:gs>
            </a:gsLst>
            <a:lin ang="0" scaled="1"/>
          </a:gradFill>
          <a:ln/>
        </p:spPr>
      </p:sp>
      <p:sp>
        <p:nvSpPr>
          <p:cNvPr id="52" name="Text 49"/>
          <p:cNvSpPr/>
          <p:nvPr/>
        </p:nvSpPr>
        <p:spPr>
          <a:xfrm>
            <a:off x="1098890" y="6631235"/>
            <a:ext cx="3495608" cy="227357"/>
          </a:xfrm>
          <a:prstGeom prst="rect">
            <a:avLst/>
          </a:prstGeom>
          <a:noFill/>
          <a:ln/>
        </p:spPr>
        <p:txBody>
          <a:bodyPr wrap="square" lIns="0" tIns="0" rIns="0" bIns="0" rtlCol="0" anchor="ctr"/>
          <a:lstStyle/>
          <a:p>
            <a:pPr>
              <a:lnSpc>
                <a:spcPct val="130000"/>
              </a:lnSpc>
            </a:pPr>
            <a:r>
              <a:rPr lang="en-US" sz="1193" b="1" dirty="0">
                <a:solidFill>
                  <a:srgbClr val="44546A"/>
                </a:solidFill>
                <a:latin typeface="MiSans" pitchFamily="34" charset="0"/>
                <a:ea typeface="MiSans" pitchFamily="34" charset="-122"/>
                <a:cs typeface="MiSans" pitchFamily="34" charset="-120"/>
              </a:rPr>
              <a:t>KIẾN THỨC - KỸ NĂNG - SÁNG TẠO - HỘI NHẬP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Shape 1"/>
          <p:cNvSpPr/>
          <p:nvPr/>
        </p:nvSpPr>
        <p:spPr>
          <a:xfrm>
            <a:off x="11765531" y="851981"/>
            <a:ext cx="38100" cy="457200"/>
          </a:xfrm>
          <a:custGeom>
            <a:avLst/>
            <a:gdLst/>
            <a:ahLst/>
            <a:cxnLst/>
            <a:rect l="l" t="t" r="r" b="b"/>
            <a:pathLst>
              <a:path w="38100" h="457200">
                <a:moveTo>
                  <a:pt x="19050" y="0"/>
                </a:moveTo>
                <a:lnTo>
                  <a:pt x="19050" y="0"/>
                </a:lnTo>
                <a:cubicBezTo>
                  <a:pt x="29564" y="0"/>
                  <a:pt x="38100" y="8536"/>
                  <a:pt x="38100" y="19050"/>
                </a:cubicBezTo>
                <a:lnTo>
                  <a:pt x="38100" y="438150"/>
                </a:lnTo>
                <a:cubicBezTo>
                  <a:pt x="38100" y="448664"/>
                  <a:pt x="29564" y="457200"/>
                  <a:pt x="19050" y="457200"/>
                </a:cubicBezTo>
                <a:lnTo>
                  <a:pt x="19050" y="457200"/>
                </a:lnTo>
                <a:cubicBezTo>
                  <a:pt x="8536" y="457200"/>
                  <a:pt x="0" y="448664"/>
                  <a:pt x="0" y="438150"/>
                </a:cubicBezTo>
                <a:lnTo>
                  <a:pt x="0" y="19050"/>
                </a:lnTo>
                <a:cubicBezTo>
                  <a:pt x="0" y="8536"/>
                  <a:pt x="8536" y="0"/>
                  <a:pt x="19050" y="0"/>
                </a:cubicBezTo>
                <a:close/>
              </a:path>
            </a:pathLst>
          </a:custGeom>
          <a:solidFill>
            <a:srgbClr val="4472C4"/>
          </a:solidFill>
          <a:ln/>
        </p:spPr>
      </p:sp>
      <p:sp>
        <p:nvSpPr>
          <p:cNvPr id="5" name="Text 2"/>
          <p:cNvSpPr/>
          <p:nvPr/>
        </p:nvSpPr>
        <p:spPr>
          <a:xfrm>
            <a:off x="10747443" y="990600"/>
            <a:ext cx="2466975" cy="190500"/>
          </a:xfrm>
          <a:prstGeom prst="rect">
            <a:avLst/>
          </a:prstGeom>
          <a:noFill/>
          <a:ln/>
        </p:spPr>
        <p:txBody>
          <a:bodyPr wrap="square" lIns="0" tIns="0" rIns="0" bIns="0" rtlCol="0" anchor="ctr"/>
          <a:lstStyle/>
          <a:p>
            <a:pPr>
              <a:lnSpc>
                <a:spcPct val="120000"/>
              </a:lnSpc>
            </a:pPr>
            <a:r>
              <a:rPr lang="en-US" sz="1050" b="1" kern="0" spc="53" dirty="0">
                <a:solidFill>
                  <a:srgbClr val="4472C4"/>
                </a:solidFill>
                <a:latin typeface="MiSans" pitchFamily="34" charset="0"/>
                <a:ea typeface="MiSans" pitchFamily="34" charset="-122"/>
                <a:cs typeface="MiSans" pitchFamily="34" charset="-120"/>
              </a:rPr>
              <a:t>Project Scope</a:t>
            </a:r>
            <a:endParaRPr lang="en-US" sz="1600" dirty="0"/>
          </a:p>
        </p:txBody>
      </p:sp>
      <p:sp>
        <p:nvSpPr>
          <p:cNvPr id="6" name="Text 3"/>
          <p:cNvSpPr/>
          <p:nvPr/>
        </p:nvSpPr>
        <p:spPr>
          <a:xfrm>
            <a:off x="381000" y="895350"/>
            <a:ext cx="2571750" cy="381000"/>
          </a:xfrm>
          <a:prstGeom prst="rect">
            <a:avLst/>
          </a:prstGeom>
          <a:noFill/>
          <a:ln/>
        </p:spPr>
        <p:txBody>
          <a:bodyPr wrap="square" lIns="0" tIns="0" rIns="0" bIns="0" rtlCol="0" anchor="ctr"/>
          <a:lstStyle/>
          <a:p>
            <a:pPr>
              <a:lnSpc>
                <a:spcPct val="90000"/>
              </a:lnSpc>
            </a:pPr>
            <a:r>
              <a:rPr lang="en-US" sz="2700" b="1" dirty="0">
                <a:solidFill>
                  <a:srgbClr val="16213E"/>
                </a:solidFill>
                <a:latin typeface="得意黑" pitchFamily="34" charset="0"/>
                <a:ea typeface="得意黑" pitchFamily="34" charset="-122"/>
                <a:cs typeface="得意黑" pitchFamily="34" charset="-120"/>
              </a:rPr>
              <a:t>Phạm vi và Giới hạn</a:t>
            </a:r>
            <a:endParaRPr lang="en-US" sz="1600" dirty="0"/>
          </a:p>
        </p:txBody>
      </p:sp>
      <p:sp>
        <p:nvSpPr>
          <p:cNvPr id="7" name="Shape 4"/>
          <p:cNvSpPr/>
          <p:nvPr/>
        </p:nvSpPr>
        <p:spPr>
          <a:xfrm>
            <a:off x="381000" y="12954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4472C4"/>
              </a:gs>
              <a:gs pos="100000">
                <a:srgbClr val="5B9BD5"/>
              </a:gs>
            </a:gsLst>
            <a:lin ang="2700000" scaled="1"/>
          </a:gradFill>
          <a:ln/>
        </p:spPr>
      </p:sp>
      <p:sp>
        <p:nvSpPr>
          <p:cNvPr id="8" name="Shape 5"/>
          <p:cNvSpPr/>
          <p:nvPr/>
        </p:nvSpPr>
        <p:spPr>
          <a:xfrm>
            <a:off x="514350" y="1428750"/>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FFFFFF"/>
          </a:solidFill>
          <a:ln/>
        </p:spPr>
      </p:sp>
      <p:sp>
        <p:nvSpPr>
          <p:cNvPr id="9" name="Text 6"/>
          <p:cNvSpPr/>
          <p:nvPr/>
        </p:nvSpPr>
        <p:spPr>
          <a:xfrm>
            <a:off x="952500" y="1371600"/>
            <a:ext cx="942975"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Phạm vi</a:t>
            </a:r>
            <a:endParaRPr lang="en-US" sz="1600" dirty="0"/>
          </a:p>
        </p:txBody>
      </p:sp>
      <p:sp>
        <p:nvSpPr>
          <p:cNvPr id="10" name="Shape 7"/>
          <p:cNvSpPr/>
          <p:nvPr/>
        </p:nvSpPr>
        <p:spPr>
          <a:xfrm>
            <a:off x="381000" y="1905000"/>
            <a:ext cx="5600700" cy="4229100"/>
          </a:xfrm>
          <a:custGeom>
            <a:avLst/>
            <a:gdLst/>
            <a:ahLst/>
            <a:cxnLst/>
            <a:rect l="l" t="t" r="r" b="b"/>
            <a:pathLst>
              <a:path w="5600700" h="4229100">
                <a:moveTo>
                  <a:pt x="152417" y="0"/>
                </a:moveTo>
                <a:lnTo>
                  <a:pt x="5448283" y="0"/>
                </a:lnTo>
                <a:cubicBezTo>
                  <a:pt x="5532461" y="0"/>
                  <a:pt x="5600700" y="68239"/>
                  <a:pt x="5600700" y="152417"/>
                </a:cubicBezTo>
                <a:lnTo>
                  <a:pt x="5600700" y="4076683"/>
                </a:lnTo>
                <a:cubicBezTo>
                  <a:pt x="5600700" y="4160861"/>
                  <a:pt x="5532461" y="4229100"/>
                  <a:pt x="5448283" y="4229100"/>
                </a:cubicBezTo>
                <a:lnTo>
                  <a:pt x="152417" y="4229100"/>
                </a:lnTo>
                <a:cubicBezTo>
                  <a:pt x="68239" y="4229100"/>
                  <a:pt x="0" y="4160861"/>
                  <a:pt x="0" y="4076683"/>
                </a:cubicBezTo>
                <a:lnTo>
                  <a:pt x="0" y="152417"/>
                </a:lnTo>
                <a:cubicBezTo>
                  <a:pt x="0" y="68296"/>
                  <a:pt x="68296" y="0"/>
                  <a:pt x="152417" y="0"/>
                </a:cubicBezTo>
                <a:close/>
              </a:path>
            </a:pathLst>
          </a:custGeom>
          <a:solidFill>
            <a:srgbClr val="FFFFFF"/>
          </a:solidFill>
          <a:ln/>
          <a:effectLst>
            <a:outerShdw blurRad="142875" dist="95250" dir="5400000" algn="bl" rotWithShape="0">
              <a:srgbClr val="000000">
                <a:alpha val="10196"/>
              </a:srgbClr>
            </a:outerShdw>
          </a:effectLst>
        </p:spPr>
      </p:sp>
      <p:sp>
        <p:nvSpPr>
          <p:cNvPr id="11" name="Text 8"/>
          <p:cNvSpPr/>
          <p:nvPr/>
        </p:nvSpPr>
        <p:spPr>
          <a:xfrm>
            <a:off x="571500" y="2095500"/>
            <a:ext cx="5295900" cy="495300"/>
          </a:xfrm>
          <a:prstGeom prst="rect">
            <a:avLst/>
          </a:prstGeom>
          <a:noFill/>
          <a:ln/>
        </p:spPr>
        <p:txBody>
          <a:bodyPr wrap="square" lIns="0" tIns="0" rIns="0" bIns="0" rtlCol="0" anchor="ctr"/>
          <a:lstStyle/>
          <a:p>
            <a:pPr>
              <a:lnSpc>
                <a:spcPct val="140000"/>
              </a:lnSpc>
            </a:pPr>
            <a:r>
              <a:rPr lang="en-US" sz="1200" b="1" dirty="0">
                <a:solidFill>
                  <a:srgbClr val="4472C4"/>
                </a:solidFill>
                <a:latin typeface="MiSans" pitchFamily="34" charset="0"/>
                <a:ea typeface="MiSans" pitchFamily="34" charset="-122"/>
                <a:cs typeface="MiSans" pitchFamily="34" charset="-120"/>
              </a:rPr>
              <a:t>Xây dựng một ứng dụng đặt vé xem phim trên thiết bị di động</a:t>
            </a:r>
            <a:r>
              <a:rPr lang="en-US" sz="1200" dirty="0">
                <a:solidFill>
                  <a:srgbClr val="16213E"/>
                </a:solidFill>
                <a:latin typeface="MiSans" pitchFamily="34" charset="0"/>
                <a:ea typeface="MiSans" pitchFamily="34" charset="-122"/>
                <a:cs typeface="MiSans" pitchFamily="34" charset="-120"/>
              </a:rPr>
              <a:t> với các chức năng phục vụ nhu cầu sử dụng thực tế của ngườI dùng.</a:t>
            </a:r>
            <a:endParaRPr lang="en-US" sz="1600" dirty="0"/>
          </a:p>
        </p:txBody>
      </p:sp>
      <p:sp>
        <p:nvSpPr>
          <p:cNvPr id="12" name="Shape 9"/>
          <p:cNvSpPr/>
          <p:nvPr/>
        </p:nvSpPr>
        <p:spPr>
          <a:xfrm>
            <a:off x="571500" y="27813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472C4">
              <a:alpha val="10196"/>
            </a:srgbClr>
          </a:solidFill>
          <a:ln/>
        </p:spPr>
      </p:sp>
      <p:sp>
        <p:nvSpPr>
          <p:cNvPr id="13" name="Shape 10"/>
          <p:cNvSpPr/>
          <p:nvPr/>
        </p:nvSpPr>
        <p:spPr>
          <a:xfrm>
            <a:off x="657225" y="28575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472C4"/>
          </a:solidFill>
          <a:ln/>
        </p:spPr>
      </p:sp>
      <p:sp>
        <p:nvSpPr>
          <p:cNvPr id="14" name="Text 11"/>
          <p:cNvSpPr/>
          <p:nvPr/>
        </p:nvSpPr>
        <p:spPr>
          <a:xfrm>
            <a:off x="990600" y="2743200"/>
            <a:ext cx="4876800" cy="49530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Thiết kế giao diện </a:t>
            </a:r>
            <a:r>
              <a:rPr lang="en-US" sz="1200" b="1" dirty="0">
                <a:solidFill>
                  <a:srgbClr val="16213E"/>
                </a:solidFill>
                <a:latin typeface="MiSans" pitchFamily="34" charset="0"/>
                <a:ea typeface="MiSans" pitchFamily="34" charset="-122"/>
                <a:cs typeface="MiSans" pitchFamily="34" charset="-120"/>
              </a:rPr>
              <a:t>trực quan, thân thiện</a:t>
            </a:r>
            <a:r>
              <a:rPr lang="en-US" sz="1200" dirty="0">
                <a:solidFill>
                  <a:srgbClr val="44546A"/>
                </a:solidFill>
                <a:latin typeface="MiSans" pitchFamily="34" charset="0"/>
                <a:ea typeface="MiSans" pitchFamily="34" charset="-122"/>
                <a:cs typeface="MiSans" pitchFamily="34" charset="-120"/>
              </a:rPr>
              <a:t> và tối ưu hóa trải nghiệm ngườI dùng</a:t>
            </a:r>
            <a:endParaRPr lang="en-US" sz="1600" dirty="0"/>
          </a:p>
        </p:txBody>
      </p:sp>
      <p:sp>
        <p:nvSpPr>
          <p:cNvPr id="15" name="Shape 12"/>
          <p:cNvSpPr/>
          <p:nvPr/>
        </p:nvSpPr>
        <p:spPr>
          <a:xfrm>
            <a:off x="571500" y="33909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472C4">
              <a:alpha val="10196"/>
            </a:srgbClr>
          </a:solidFill>
          <a:ln/>
        </p:spPr>
      </p:sp>
      <p:sp>
        <p:nvSpPr>
          <p:cNvPr id="16" name="Shape 13"/>
          <p:cNvSpPr/>
          <p:nvPr/>
        </p:nvSpPr>
        <p:spPr>
          <a:xfrm>
            <a:off x="657225" y="34671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472C4"/>
          </a:solidFill>
          <a:ln/>
        </p:spPr>
      </p:sp>
      <p:sp>
        <p:nvSpPr>
          <p:cNvPr id="17" name="Text 14"/>
          <p:cNvSpPr/>
          <p:nvPr/>
        </p:nvSpPr>
        <p:spPr>
          <a:xfrm>
            <a:off x="990600" y="3352800"/>
            <a:ext cx="4400550" cy="24765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Tổ chức </a:t>
            </a:r>
            <a:r>
              <a:rPr lang="en-US" sz="1200" b="1" dirty="0">
                <a:solidFill>
                  <a:srgbClr val="16213E"/>
                </a:solidFill>
                <a:latin typeface="MiSans" pitchFamily="34" charset="0"/>
                <a:ea typeface="MiSans" pitchFamily="34" charset="-122"/>
                <a:cs typeface="MiSans" pitchFamily="34" charset="-120"/>
              </a:rPr>
              <a:t>luồng thao tác</a:t>
            </a:r>
            <a:r>
              <a:rPr lang="en-US" sz="1200" dirty="0">
                <a:solidFill>
                  <a:srgbClr val="44546A"/>
                </a:solidFill>
                <a:latin typeface="MiSans" pitchFamily="34" charset="0"/>
                <a:ea typeface="MiSans" pitchFamily="34" charset="-122"/>
                <a:cs typeface="MiSans" pitchFamily="34" charset="-120"/>
              </a:rPr>
              <a:t> mạch lạc, logic từ tìm kiếm đến đặt vé</a:t>
            </a:r>
            <a:endParaRPr lang="en-US" sz="1600" dirty="0"/>
          </a:p>
        </p:txBody>
      </p:sp>
      <p:sp>
        <p:nvSpPr>
          <p:cNvPr id="18" name="Shape 15"/>
          <p:cNvSpPr/>
          <p:nvPr/>
        </p:nvSpPr>
        <p:spPr>
          <a:xfrm>
            <a:off x="571500" y="38481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472C4">
              <a:alpha val="10196"/>
            </a:srgbClr>
          </a:solidFill>
          <a:ln/>
        </p:spPr>
      </p:sp>
      <p:sp>
        <p:nvSpPr>
          <p:cNvPr id="19" name="Shape 16"/>
          <p:cNvSpPr/>
          <p:nvPr/>
        </p:nvSpPr>
        <p:spPr>
          <a:xfrm>
            <a:off x="657225" y="39243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472C4"/>
          </a:solidFill>
          <a:ln/>
        </p:spPr>
      </p:sp>
      <p:sp>
        <p:nvSpPr>
          <p:cNvPr id="20" name="Text 17"/>
          <p:cNvSpPr/>
          <p:nvPr/>
        </p:nvSpPr>
        <p:spPr>
          <a:xfrm>
            <a:off x="990600" y="3810000"/>
            <a:ext cx="4619625" cy="24765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Quá trình </a:t>
            </a:r>
            <a:r>
              <a:rPr lang="en-US" sz="1200" b="1" dirty="0">
                <a:solidFill>
                  <a:srgbClr val="16213E"/>
                </a:solidFill>
                <a:latin typeface="MiSans" pitchFamily="34" charset="0"/>
                <a:ea typeface="MiSans" pitchFamily="34" charset="-122"/>
                <a:cs typeface="MiSans" pitchFamily="34" charset="-120"/>
              </a:rPr>
              <a:t>tìm kiếm phim, lựa chọn suất chiếu, chọn ghế và đặt vé</a:t>
            </a:r>
            <a:endParaRPr lang="en-US" sz="1600" dirty="0"/>
          </a:p>
        </p:txBody>
      </p:sp>
      <p:sp>
        <p:nvSpPr>
          <p:cNvPr id="21" name="Shape 18"/>
          <p:cNvSpPr/>
          <p:nvPr/>
        </p:nvSpPr>
        <p:spPr>
          <a:xfrm>
            <a:off x="571500" y="43053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472C4">
              <a:alpha val="10196"/>
            </a:srgbClr>
          </a:solidFill>
          <a:ln/>
        </p:spPr>
      </p:sp>
      <p:sp>
        <p:nvSpPr>
          <p:cNvPr id="22" name="Shape 19"/>
          <p:cNvSpPr/>
          <p:nvPr/>
        </p:nvSpPr>
        <p:spPr>
          <a:xfrm>
            <a:off x="657225" y="43815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472C4"/>
          </a:solidFill>
          <a:ln/>
        </p:spPr>
      </p:sp>
      <p:sp>
        <p:nvSpPr>
          <p:cNvPr id="23" name="Text 20"/>
          <p:cNvSpPr/>
          <p:nvPr/>
        </p:nvSpPr>
        <p:spPr>
          <a:xfrm>
            <a:off x="990600" y="4267200"/>
            <a:ext cx="4086225" cy="24765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Đáp ứng yêu cầu về </a:t>
            </a:r>
            <a:r>
              <a:rPr lang="en-US" sz="1200" b="1" dirty="0">
                <a:solidFill>
                  <a:srgbClr val="16213E"/>
                </a:solidFill>
                <a:latin typeface="MiSans" pitchFamily="34" charset="0"/>
                <a:ea typeface="MiSans" pitchFamily="34" charset="-122"/>
                <a:cs typeface="MiSans" pitchFamily="34" charset="-120"/>
              </a:rPr>
              <a:t>tính tiện lợi, trực quan và dễ sử dụng</a:t>
            </a:r>
            <a:endParaRPr lang="en-US" sz="1600" dirty="0"/>
          </a:p>
        </p:txBody>
      </p:sp>
      <p:sp>
        <p:nvSpPr>
          <p:cNvPr id="24" name="Shape 21"/>
          <p:cNvSpPr/>
          <p:nvPr/>
        </p:nvSpPr>
        <p:spPr>
          <a:xfrm>
            <a:off x="590550" y="4762500"/>
            <a:ext cx="5200650" cy="800100"/>
          </a:xfrm>
          <a:custGeom>
            <a:avLst/>
            <a:gdLst/>
            <a:ahLst/>
            <a:cxnLst/>
            <a:rect l="l" t="t" r="r" b="b"/>
            <a:pathLst>
              <a:path w="5200650" h="800100">
                <a:moveTo>
                  <a:pt x="38100" y="0"/>
                </a:moveTo>
                <a:lnTo>
                  <a:pt x="5086348" y="0"/>
                </a:lnTo>
                <a:cubicBezTo>
                  <a:pt x="5149433" y="0"/>
                  <a:pt x="5200650" y="51217"/>
                  <a:pt x="5200650" y="114302"/>
                </a:cubicBezTo>
                <a:lnTo>
                  <a:pt x="5200650" y="685798"/>
                </a:lnTo>
                <a:cubicBezTo>
                  <a:pt x="5200650" y="748883"/>
                  <a:pt x="5149433" y="800100"/>
                  <a:pt x="5086348" y="800100"/>
                </a:cubicBezTo>
                <a:lnTo>
                  <a:pt x="38100" y="800100"/>
                </a:lnTo>
                <a:cubicBezTo>
                  <a:pt x="17072" y="800100"/>
                  <a:pt x="0" y="783028"/>
                  <a:pt x="0" y="762000"/>
                </a:cubicBezTo>
                <a:lnTo>
                  <a:pt x="0" y="38100"/>
                </a:lnTo>
                <a:cubicBezTo>
                  <a:pt x="0" y="17072"/>
                  <a:pt x="17072" y="0"/>
                  <a:pt x="38100" y="0"/>
                </a:cubicBezTo>
                <a:close/>
              </a:path>
            </a:pathLst>
          </a:custGeom>
          <a:solidFill>
            <a:srgbClr val="4472C4">
              <a:alpha val="5098"/>
            </a:srgbClr>
          </a:solidFill>
          <a:ln/>
        </p:spPr>
      </p:sp>
      <p:sp>
        <p:nvSpPr>
          <p:cNvPr id="25" name="Shape 22"/>
          <p:cNvSpPr/>
          <p:nvPr/>
        </p:nvSpPr>
        <p:spPr>
          <a:xfrm>
            <a:off x="590550" y="4762500"/>
            <a:ext cx="38100" cy="800100"/>
          </a:xfrm>
          <a:custGeom>
            <a:avLst/>
            <a:gdLst/>
            <a:ahLst/>
            <a:cxnLst/>
            <a:rect l="l" t="t" r="r" b="b"/>
            <a:pathLst>
              <a:path w="38100" h="800100">
                <a:moveTo>
                  <a:pt x="38100" y="0"/>
                </a:moveTo>
                <a:lnTo>
                  <a:pt x="38100" y="0"/>
                </a:lnTo>
                <a:lnTo>
                  <a:pt x="38100" y="800100"/>
                </a:lnTo>
                <a:lnTo>
                  <a:pt x="38100" y="800100"/>
                </a:lnTo>
                <a:cubicBezTo>
                  <a:pt x="17072" y="800100"/>
                  <a:pt x="0" y="783028"/>
                  <a:pt x="0" y="762000"/>
                </a:cubicBezTo>
                <a:lnTo>
                  <a:pt x="0" y="38100"/>
                </a:lnTo>
                <a:cubicBezTo>
                  <a:pt x="0" y="17072"/>
                  <a:pt x="17072" y="0"/>
                  <a:pt x="38100" y="0"/>
                </a:cubicBezTo>
                <a:close/>
              </a:path>
            </a:pathLst>
          </a:custGeom>
          <a:solidFill>
            <a:srgbClr val="4472C4"/>
          </a:solidFill>
          <a:ln/>
        </p:spPr>
      </p:sp>
      <p:sp>
        <p:nvSpPr>
          <p:cNvPr id="26" name="Text 23"/>
          <p:cNvSpPr/>
          <p:nvPr/>
        </p:nvSpPr>
        <p:spPr>
          <a:xfrm>
            <a:off x="762000" y="4914900"/>
            <a:ext cx="4953000" cy="49530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Các nội dung nghiên cứu </a:t>
            </a:r>
            <a:r>
              <a:rPr lang="en-US" sz="1200" b="1" dirty="0">
                <a:solidFill>
                  <a:srgbClr val="16213E"/>
                </a:solidFill>
                <a:latin typeface="MiSans" pitchFamily="34" charset="0"/>
                <a:ea typeface="MiSans" pitchFamily="34" charset="-122"/>
                <a:cs typeface="MiSans" pitchFamily="34" charset="-120"/>
              </a:rPr>
              <a:t>tập trung vào góc độ ngườI dùng cuối</a:t>
            </a:r>
            <a:r>
              <a:rPr lang="en-US" sz="1200" dirty="0">
                <a:solidFill>
                  <a:srgbClr val="44546A"/>
                </a:solidFill>
                <a:latin typeface="MiSans" pitchFamily="34" charset="0"/>
                <a:ea typeface="MiSans" pitchFamily="34" charset="-122"/>
                <a:cs typeface="MiSans" pitchFamily="34" charset="-120"/>
              </a:rPr>
              <a:t> và hiệu quả sử dụng của ứng dụng trong môi trường thực tế.</a:t>
            </a:r>
            <a:endParaRPr lang="en-US" sz="1600" dirty="0"/>
          </a:p>
        </p:txBody>
      </p:sp>
      <p:sp>
        <p:nvSpPr>
          <p:cNvPr id="27" name="Shape 24"/>
          <p:cNvSpPr/>
          <p:nvPr/>
        </p:nvSpPr>
        <p:spPr>
          <a:xfrm>
            <a:off x="6210300" y="129540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A5A5A5"/>
              </a:gs>
              <a:gs pos="100000">
                <a:srgbClr val="44546A"/>
              </a:gs>
            </a:gsLst>
            <a:lin ang="2700000" scaled="1"/>
          </a:gradFill>
          <a:ln/>
        </p:spPr>
      </p:sp>
      <p:sp>
        <p:nvSpPr>
          <p:cNvPr id="28" name="Shape 25"/>
          <p:cNvSpPr/>
          <p:nvPr/>
        </p:nvSpPr>
        <p:spPr>
          <a:xfrm>
            <a:off x="6343650" y="142875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FFFFF"/>
          </a:solidFill>
          <a:ln/>
        </p:spPr>
      </p:sp>
      <p:sp>
        <p:nvSpPr>
          <p:cNvPr id="29" name="Text 26"/>
          <p:cNvSpPr/>
          <p:nvPr/>
        </p:nvSpPr>
        <p:spPr>
          <a:xfrm>
            <a:off x="6781800" y="1371600"/>
            <a:ext cx="981075"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Giới hạn</a:t>
            </a:r>
            <a:endParaRPr lang="en-US" sz="1600" dirty="0"/>
          </a:p>
        </p:txBody>
      </p:sp>
      <p:sp>
        <p:nvSpPr>
          <p:cNvPr id="30" name="Shape 27"/>
          <p:cNvSpPr/>
          <p:nvPr/>
        </p:nvSpPr>
        <p:spPr>
          <a:xfrm>
            <a:off x="6229350" y="1917622"/>
            <a:ext cx="5581650" cy="1466850"/>
          </a:xfrm>
          <a:custGeom>
            <a:avLst/>
            <a:gdLst/>
            <a:ahLst/>
            <a:cxnLst/>
            <a:rect l="l" t="t" r="r" b="b"/>
            <a:pathLst>
              <a:path w="5581650" h="1466850">
                <a:moveTo>
                  <a:pt x="38100" y="0"/>
                </a:moveTo>
                <a:lnTo>
                  <a:pt x="5429244" y="0"/>
                </a:lnTo>
                <a:cubicBezTo>
                  <a:pt x="5513359" y="0"/>
                  <a:pt x="5581650" y="68291"/>
                  <a:pt x="5581650" y="152406"/>
                </a:cubicBezTo>
                <a:lnTo>
                  <a:pt x="5581650" y="1314444"/>
                </a:lnTo>
                <a:cubicBezTo>
                  <a:pt x="5581650" y="1398559"/>
                  <a:pt x="5513359" y="1466850"/>
                  <a:pt x="5429244" y="1466850"/>
                </a:cubicBezTo>
                <a:lnTo>
                  <a:pt x="38100" y="1466850"/>
                </a:lnTo>
                <a:cubicBezTo>
                  <a:pt x="17072" y="1466850"/>
                  <a:pt x="0" y="1449778"/>
                  <a:pt x="0" y="1428750"/>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31" name="Shape 28"/>
          <p:cNvSpPr/>
          <p:nvPr/>
        </p:nvSpPr>
        <p:spPr>
          <a:xfrm>
            <a:off x="6229350" y="1917622"/>
            <a:ext cx="38100" cy="1466850"/>
          </a:xfrm>
          <a:custGeom>
            <a:avLst/>
            <a:gdLst/>
            <a:ahLst/>
            <a:cxnLst/>
            <a:rect l="l" t="t" r="r" b="b"/>
            <a:pathLst>
              <a:path w="38100" h="1466850">
                <a:moveTo>
                  <a:pt x="38100" y="0"/>
                </a:moveTo>
                <a:lnTo>
                  <a:pt x="38100" y="0"/>
                </a:lnTo>
                <a:lnTo>
                  <a:pt x="38100" y="1466850"/>
                </a:lnTo>
                <a:lnTo>
                  <a:pt x="38100" y="1466850"/>
                </a:lnTo>
                <a:cubicBezTo>
                  <a:pt x="17072" y="1466850"/>
                  <a:pt x="0" y="1449778"/>
                  <a:pt x="0" y="1428750"/>
                </a:cubicBezTo>
                <a:lnTo>
                  <a:pt x="0" y="38100"/>
                </a:lnTo>
                <a:cubicBezTo>
                  <a:pt x="0" y="17072"/>
                  <a:pt x="17072" y="0"/>
                  <a:pt x="38100" y="0"/>
                </a:cubicBezTo>
                <a:close/>
              </a:path>
            </a:pathLst>
          </a:custGeom>
          <a:solidFill>
            <a:srgbClr val="A5A5A5"/>
          </a:solidFill>
          <a:ln/>
        </p:spPr>
      </p:sp>
      <p:sp>
        <p:nvSpPr>
          <p:cNvPr id="32" name="Shape 29"/>
          <p:cNvSpPr/>
          <p:nvPr/>
        </p:nvSpPr>
        <p:spPr>
          <a:xfrm>
            <a:off x="6438900" y="2108122"/>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A5A5A5"/>
          </a:solidFill>
          <a:ln/>
        </p:spPr>
      </p:sp>
      <p:sp>
        <p:nvSpPr>
          <p:cNvPr id="33" name="Shape 30"/>
          <p:cNvSpPr/>
          <p:nvPr/>
        </p:nvSpPr>
        <p:spPr>
          <a:xfrm>
            <a:off x="6572250" y="2241472"/>
            <a:ext cx="190500" cy="190500"/>
          </a:xfrm>
          <a:custGeom>
            <a:avLst/>
            <a:gdLst/>
            <a:ahLst/>
            <a:cxnLst/>
            <a:rect l="l" t="t" r="r" b="b"/>
            <a:pathLst>
              <a:path w="190500" h="190500">
                <a:moveTo>
                  <a:pt x="72591" y="3535"/>
                </a:moveTo>
                <a:cubicBezTo>
                  <a:pt x="73707" y="-1972"/>
                  <a:pt x="78581" y="-5953"/>
                  <a:pt x="84237" y="-5953"/>
                </a:cubicBezTo>
                <a:lnTo>
                  <a:pt x="106487" y="-5953"/>
                </a:lnTo>
                <a:cubicBezTo>
                  <a:pt x="112142" y="-5953"/>
                  <a:pt x="117016" y="-1972"/>
                  <a:pt x="118132" y="3535"/>
                </a:cubicBezTo>
                <a:lnTo>
                  <a:pt x="123527" y="29580"/>
                </a:lnTo>
                <a:cubicBezTo>
                  <a:pt x="128774" y="31812"/>
                  <a:pt x="133685" y="34677"/>
                  <a:pt x="138150" y="38063"/>
                </a:cubicBezTo>
                <a:lnTo>
                  <a:pt x="163376" y="29691"/>
                </a:lnTo>
                <a:cubicBezTo>
                  <a:pt x="168734" y="27905"/>
                  <a:pt x="174613" y="30138"/>
                  <a:pt x="177440" y="35049"/>
                </a:cubicBezTo>
                <a:lnTo>
                  <a:pt x="188565" y="54322"/>
                </a:lnTo>
                <a:cubicBezTo>
                  <a:pt x="191393" y="59234"/>
                  <a:pt x="190388" y="65410"/>
                  <a:pt x="186147" y="69168"/>
                </a:cubicBezTo>
                <a:lnTo>
                  <a:pt x="166315" y="86804"/>
                </a:lnTo>
                <a:cubicBezTo>
                  <a:pt x="166650" y="89557"/>
                  <a:pt x="166799" y="92385"/>
                  <a:pt x="166799" y="95250"/>
                </a:cubicBezTo>
                <a:cubicBezTo>
                  <a:pt x="166799" y="98115"/>
                  <a:pt x="166613" y="100943"/>
                  <a:pt x="166315" y="103696"/>
                </a:cubicBezTo>
                <a:lnTo>
                  <a:pt x="186184" y="121369"/>
                </a:lnTo>
                <a:cubicBezTo>
                  <a:pt x="190426" y="125127"/>
                  <a:pt x="191393" y="131341"/>
                  <a:pt x="188602" y="136215"/>
                </a:cubicBezTo>
                <a:lnTo>
                  <a:pt x="177478" y="155488"/>
                </a:lnTo>
                <a:cubicBezTo>
                  <a:pt x="174650" y="160362"/>
                  <a:pt x="168771" y="162632"/>
                  <a:pt x="163413" y="160846"/>
                </a:cubicBezTo>
                <a:lnTo>
                  <a:pt x="138187" y="152474"/>
                </a:lnTo>
                <a:cubicBezTo>
                  <a:pt x="133685" y="155860"/>
                  <a:pt x="128774" y="158688"/>
                  <a:pt x="123565" y="160958"/>
                </a:cubicBezTo>
                <a:lnTo>
                  <a:pt x="118207" y="186965"/>
                </a:lnTo>
                <a:cubicBezTo>
                  <a:pt x="117053" y="192509"/>
                  <a:pt x="112179" y="196453"/>
                  <a:pt x="106561" y="196453"/>
                </a:cubicBezTo>
                <a:lnTo>
                  <a:pt x="84311" y="196453"/>
                </a:lnTo>
                <a:cubicBezTo>
                  <a:pt x="78656" y="196453"/>
                  <a:pt x="73782" y="192472"/>
                  <a:pt x="72665" y="186965"/>
                </a:cubicBezTo>
                <a:lnTo>
                  <a:pt x="67308" y="160958"/>
                </a:lnTo>
                <a:cubicBezTo>
                  <a:pt x="62061" y="158725"/>
                  <a:pt x="57187" y="155860"/>
                  <a:pt x="52685" y="152474"/>
                </a:cubicBezTo>
                <a:lnTo>
                  <a:pt x="27347" y="160846"/>
                </a:lnTo>
                <a:cubicBezTo>
                  <a:pt x="21989" y="162632"/>
                  <a:pt x="16111" y="160400"/>
                  <a:pt x="13283" y="155488"/>
                </a:cubicBezTo>
                <a:lnTo>
                  <a:pt x="2158" y="136215"/>
                </a:lnTo>
                <a:cubicBezTo>
                  <a:pt x="-670" y="131304"/>
                  <a:pt x="335" y="125127"/>
                  <a:pt x="4576" y="121369"/>
                </a:cubicBezTo>
                <a:lnTo>
                  <a:pt x="24445" y="103696"/>
                </a:lnTo>
                <a:cubicBezTo>
                  <a:pt x="24110" y="100943"/>
                  <a:pt x="23961" y="98115"/>
                  <a:pt x="23961" y="95250"/>
                </a:cubicBezTo>
                <a:cubicBezTo>
                  <a:pt x="23961" y="92385"/>
                  <a:pt x="24147" y="89557"/>
                  <a:pt x="24445" y="86804"/>
                </a:cubicBezTo>
                <a:lnTo>
                  <a:pt x="4576" y="69131"/>
                </a:lnTo>
                <a:cubicBezTo>
                  <a:pt x="335" y="65373"/>
                  <a:pt x="-633" y="59159"/>
                  <a:pt x="2158" y="54285"/>
                </a:cubicBezTo>
                <a:lnTo>
                  <a:pt x="13283" y="35012"/>
                </a:lnTo>
                <a:cubicBezTo>
                  <a:pt x="16111" y="30100"/>
                  <a:pt x="21989" y="27868"/>
                  <a:pt x="27347" y="29654"/>
                </a:cubicBezTo>
                <a:lnTo>
                  <a:pt x="52574" y="38026"/>
                </a:lnTo>
                <a:cubicBezTo>
                  <a:pt x="57076" y="34640"/>
                  <a:pt x="61987" y="31812"/>
                  <a:pt x="67196" y="29542"/>
                </a:cubicBezTo>
                <a:lnTo>
                  <a:pt x="72591" y="3535"/>
                </a:lnTo>
                <a:close/>
                <a:moveTo>
                  <a:pt x="95362" y="125016"/>
                </a:moveTo>
                <a:cubicBezTo>
                  <a:pt x="105996" y="124976"/>
                  <a:pt x="115801" y="119266"/>
                  <a:pt x="121084" y="110036"/>
                </a:cubicBezTo>
                <a:cubicBezTo>
                  <a:pt x="126366" y="100807"/>
                  <a:pt x="126324" y="89460"/>
                  <a:pt x="120972" y="80271"/>
                </a:cubicBezTo>
                <a:cubicBezTo>
                  <a:pt x="115620" y="71081"/>
                  <a:pt x="105773" y="65444"/>
                  <a:pt x="95138" y="65484"/>
                </a:cubicBezTo>
                <a:cubicBezTo>
                  <a:pt x="84504" y="65524"/>
                  <a:pt x="74699" y="71234"/>
                  <a:pt x="69416" y="80464"/>
                </a:cubicBezTo>
                <a:cubicBezTo>
                  <a:pt x="64134" y="89693"/>
                  <a:pt x="64176" y="101040"/>
                  <a:pt x="69528" y="110229"/>
                </a:cubicBezTo>
                <a:cubicBezTo>
                  <a:pt x="74880" y="119419"/>
                  <a:pt x="84727" y="125056"/>
                  <a:pt x="95362" y="125016"/>
                </a:cubicBezTo>
                <a:close/>
              </a:path>
            </a:pathLst>
          </a:custGeom>
          <a:solidFill>
            <a:srgbClr val="FFFFFF"/>
          </a:solidFill>
          <a:ln/>
        </p:spPr>
      </p:sp>
      <p:sp>
        <p:nvSpPr>
          <p:cNvPr id="34" name="Text 31"/>
          <p:cNvSpPr/>
          <p:nvPr/>
        </p:nvSpPr>
        <p:spPr>
          <a:xfrm>
            <a:off x="7048500" y="2108122"/>
            <a:ext cx="4657725" cy="266700"/>
          </a:xfrm>
          <a:prstGeom prst="rect">
            <a:avLst/>
          </a:prstGeom>
          <a:noFill/>
          <a:ln/>
        </p:spPr>
        <p:txBody>
          <a:bodyPr wrap="square" lIns="0" tIns="0" rIns="0" bIns="0" rtlCol="0" anchor="ctr"/>
          <a:lstStyle/>
          <a:p>
            <a:pPr>
              <a:lnSpc>
                <a:spcPct val="130000"/>
              </a:lnSpc>
            </a:pPr>
            <a:r>
              <a:rPr lang="en-US" sz="1350" b="1" dirty="0">
                <a:solidFill>
                  <a:srgbClr val="16213E"/>
                </a:solidFill>
                <a:latin typeface="MiSans" pitchFamily="34" charset="0"/>
                <a:ea typeface="MiSans" pitchFamily="34" charset="-122"/>
                <a:cs typeface="MiSans" pitchFamily="34" charset="-120"/>
              </a:rPr>
              <a:t>Hạn chế về các chức năng</a:t>
            </a:r>
            <a:endParaRPr lang="en-US" sz="1600" dirty="0"/>
          </a:p>
        </p:txBody>
      </p:sp>
      <p:sp>
        <p:nvSpPr>
          <p:cNvPr id="35" name="Text 32"/>
          <p:cNvSpPr/>
          <p:nvPr/>
        </p:nvSpPr>
        <p:spPr>
          <a:xfrm>
            <a:off x="7048500" y="2451022"/>
            <a:ext cx="4648200" cy="74295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Do thờI gian và phạm vi đề tài, ứng dụng tập trung vào các chức năng cơ bản, chưa bao gồm các tính năng nâng cao như gợi ý phim, đánh giá phim, hoặc tích hợp mạng xã hội.</a:t>
            </a:r>
            <a:endParaRPr lang="en-US" sz="1600" dirty="0"/>
          </a:p>
        </p:txBody>
      </p:sp>
      <p:sp>
        <p:nvSpPr>
          <p:cNvPr id="36" name="Shape 33"/>
          <p:cNvSpPr/>
          <p:nvPr/>
        </p:nvSpPr>
        <p:spPr>
          <a:xfrm>
            <a:off x="6229350" y="3409831"/>
            <a:ext cx="5581650" cy="1466850"/>
          </a:xfrm>
          <a:custGeom>
            <a:avLst/>
            <a:gdLst/>
            <a:ahLst/>
            <a:cxnLst/>
            <a:rect l="l" t="t" r="r" b="b"/>
            <a:pathLst>
              <a:path w="5581650" h="1466850">
                <a:moveTo>
                  <a:pt x="38100" y="0"/>
                </a:moveTo>
                <a:lnTo>
                  <a:pt x="5429244" y="0"/>
                </a:lnTo>
                <a:cubicBezTo>
                  <a:pt x="5513359" y="0"/>
                  <a:pt x="5581650" y="68291"/>
                  <a:pt x="5581650" y="152406"/>
                </a:cubicBezTo>
                <a:lnTo>
                  <a:pt x="5581650" y="1314444"/>
                </a:lnTo>
                <a:cubicBezTo>
                  <a:pt x="5581650" y="1398559"/>
                  <a:pt x="5513359" y="1466850"/>
                  <a:pt x="5429244" y="1466850"/>
                </a:cubicBezTo>
                <a:lnTo>
                  <a:pt x="38100" y="1466850"/>
                </a:lnTo>
                <a:cubicBezTo>
                  <a:pt x="17072" y="1466850"/>
                  <a:pt x="0" y="1449778"/>
                  <a:pt x="0" y="1428750"/>
                </a:cubicBezTo>
                <a:lnTo>
                  <a:pt x="0" y="38100"/>
                </a:lnTo>
                <a:cubicBezTo>
                  <a:pt x="0" y="17072"/>
                  <a:pt x="17072" y="0"/>
                  <a:pt x="38100" y="0"/>
                </a:cubicBezTo>
                <a:close/>
              </a:path>
            </a:pathLst>
          </a:custGeom>
          <a:solidFill>
            <a:srgbClr val="FFFFFF"/>
          </a:solidFill>
          <a:ln/>
          <a:effectLst>
            <a:outerShdw blurRad="142875" dist="95250" dir="5400000" algn="bl" rotWithShape="0">
              <a:srgbClr val="000000">
                <a:alpha val="10196"/>
              </a:srgbClr>
            </a:outerShdw>
          </a:effectLst>
        </p:spPr>
      </p:sp>
      <p:sp>
        <p:nvSpPr>
          <p:cNvPr id="37" name="Shape 34"/>
          <p:cNvSpPr/>
          <p:nvPr/>
        </p:nvSpPr>
        <p:spPr>
          <a:xfrm>
            <a:off x="6229350" y="3409831"/>
            <a:ext cx="38100" cy="1466850"/>
          </a:xfrm>
          <a:custGeom>
            <a:avLst/>
            <a:gdLst/>
            <a:ahLst/>
            <a:cxnLst/>
            <a:rect l="l" t="t" r="r" b="b"/>
            <a:pathLst>
              <a:path w="38100" h="1466850">
                <a:moveTo>
                  <a:pt x="38100" y="0"/>
                </a:moveTo>
                <a:lnTo>
                  <a:pt x="38100" y="0"/>
                </a:lnTo>
                <a:lnTo>
                  <a:pt x="38100" y="1466850"/>
                </a:lnTo>
                <a:lnTo>
                  <a:pt x="38100" y="1466850"/>
                </a:lnTo>
                <a:cubicBezTo>
                  <a:pt x="17072" y="1466850"/>
                  <a:pt x="0" y="1449778"/>
                  <a:pt x="0" y="1428750"/>
                </a:cubicBezTo>
                <a:lnTo>
                  <a:pt x="0" y="38100"/>
                </a:lnTo>
                <a:cubicBezTo>
                  <a:pt x="0" y="17072"/>
                  <a:pt x="17072" y="0"/>
                  <a:pt x="38100" y="0"/>
                </a:cubicBezTo>
                <a:close/>
              </a:path>
            </a:pathLst>
          </a:custGeom>
          <a:solidFill>
            <a:srgbClr val="44546A"/>
          </a:solidFill>
          <a:ln/>
        </p:spPr>
      </p:sp>
      <p:sp>
        <p:nvSpPr>
          <p:cNvPr id="38" name="Shape 35"/>
          <p:cNvSpPr/>
          <p:nvPr/>
        </p:nvSpPr>
        <p:spPr>
          <a:xfrm>
            <a:off x="6438900" y="360033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44546A"/>
          </a:solidFill>
          <a:ln/>
        </p:spPr>
      </p:sp>
      <p:sp>
        <p:nvSpPr>
          <p:cNvPr id="39" name="Shape 36"/>
          <p:cNvSpPr/>
          <p:nvPr/>
        </p:nvSpPr>
        <p:spPr>
          <a:xfrm>
            <a:off x="6548438" y="3733681"/>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FFFFFF"/>
          </a:solidFill>
          <a:ln/>
        </p:spPr>
      </p:sp>
      <p:sp>
        <p:nvSpPr>
          <p:cNvPr id="40" name="Text 37"/>
          <p:cNvSpPr/>
          <p:nvPr/>
        </p:nvSpPr>
        <p:spPr>
          <a:xfrm>
            <a:off x="7048500" y="3600331"/>
            <a:ext cx="4657725" cy="266700"/>
          </a:xfrm>
          <a:prstGeom prst="rect">
            <a:avLst/>
          </a:prstGeom>
          <a:noFill/>
          <a:ln/>
        </p:spPr>
        <p:txBody>
          <a:bodyPr wrap="square" lIns="0" tIns="0" rIns="0" bIns="0" rtlCol="0" anchor="ctr"/>
          <a:lstStyle/>
          <a:p>
            <a:pPr>
              <a:lnSpc>
                <a:spcPct val="130000"/>
              </a:lnSpc>
            </a:pPr>
            <a:r>
              <a:rPr lang="en-US" sz="1350" b="1" dirty="0">
                <a:solidFill>
                  <a:srgbClr val="16213E"/>
                </a:solidFill>
                <a:latin typeface="MiSans" pitchFamily="34" charset="0"/>
                <a:ea typeface="MiSans" pitchFamily="34" charset="-122"/>
                <a:cs typeface="MiSans" pitchFamily="34" charset="-120"/>
              </a:rPr>
              <a:t>Chưa đánh giá hiệu quả trên quy mô ngườI dùng lớn</a:t>
            </a:r>
            <a:endParaRPr lang="en-US" sz="1600" dirty="0"/>
          </a:p>
        </p:txBody>
      </p:sp>
      <p:sp>
        <p:nvSpPr>
          <p:cNvPr id="41" name="Text 38"/>
          <p:cNvSpPr/>
          <p:nvPr/>
        </p:nvSpPr>
        <p:spPr>
          <a:xfrm>
            <a:off x="7048500" y="3943231"/>
            <a:ext cx="4648200" cy="74295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Ứng dụng hiện chỉ ở dạng mẫu (prototype) và chưa được thử nghiệm, đánh giá hiệu quả trong môi trường có số lượng ngườI dùng lớn.</a:t>
            </a:r>
            <a:endParaRPr lang="en-US" sz="1600" dirty="0"/>
          </a:p>
        </p:txBody>
      </p:sp>
      <p:sp>
        <p:nvSpPr>
          <p:cNvPr id="44" name="Text 41"/>
          <p:cNvSpPr/>
          <p:nvPr/>
        </p:nvSpPr>
        <p:spPr>
          <a:xfrm>
            <a:off x="6692979" y="5092661"/>
            <a:ext cx="50101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MiSans" pitchFamily="34" charset="0"/>
                <a:ea typeface="MiSans" pitchFamily="34" charset="-122"/>
                <a:cs typeface="MiSans" pitchFamily="34" charset="-120"/>
              </a:rPr>
              <a:t>Lưu ý quan trọng</a:t>
            </a:r>
            <a:endParaRPr lang="en-US" sz="1600" dirty="0"/>
          </a:p>
        </p:txBody>
      </p:sp>
      <p:sp>
        <p:nvSpPr>
          <p:cNvPr id="45" name="Text 42"/>
          <p:cNvSpPr/>
          <p:nvPr/>
        </p:nvSpPr>
        <p:spPr>
          <a:xfrm>
            <a:off x="6692979" y="5435561"/>
            <a:ext cx="5000625" cy="495300"/>
          </a:xfrm>
          <a:prstGeom prst="rect">
            <a:avLst/>
          </a:prstGeom>
          <a:noFill/>
          <a:ln/>
        </p:spPr>
        <p:txBody>
          <a:bodyPr wrap="square" lIns="0" tIns="0" rIns="0" bIns="0" rtlCol="0" anchor="ctr"/>
          <a:lstStyle/>
          <a:p>
            <a:pPr>
              <a:lnSpc>
                <a:spcPct val="140000"/>
              </a:lnSpc>
            </a:pPr>
            <a:r>
              <a:rPr lang="en-US" sz="1200" dirty="0">
                <a:solidFill>
                  <a:srgbClr val="FFFFFF">
                    <a:alpha val="90000"/>
                  </a:srgbClr>
                </a:solidFill>
                <a:latin typeface="MiSans" pitchFamily="34" charset="0"/>
                <a:ea typeface="MiSans" pitchFamily="34" charset="-122"/>
                <a:cs typeface="MiSans" pitchFamily="34" charset="-120"/>
              </a:rPr>
              <a:t>Đây là sản phẩm mô phỏng phục vụ mục đích học tập và nghiên cứu, chưa được triển khai thực tế tại các rạp chiếu phim.</a:t>
            </a:r>
            <a:endParaRPr lang="en-US" sz="1600" dirty="0"/>
          </a:p>
        </p:txBody>
      </p:sp>
      <p:sp>
        <p:nvSpPr>
          <p:cNvPr id="46" name="Shape 43"/>
          <p:cNvSpPr/>
          <p:nvPr/>
        </p:nvSpPr>
        <p:spPr>
          <a:xfrm>
            <a:off x="381000" y="6343650"/>
            <a:ext cx="609600" cy="38100"/>
          </a:xfrm>
          <a:custGeom>
            <a:avLst/>
            <a:gdLst/>
            <a:ahLst/>
            <a:cxnLst/>
            <a:rect l="l" t="t" r="r" b="b"/>
            <a:pathLst>
              <a:path w="609600" h="38100">
                <a:moveTo>
                  <a:pt x="19050" y="0"/>
                </a:moveTo>
                <a:lnTo>
                  <a:pt x="590550" y="0"/>
                </a:lnTo>
                <a:cubicBezTo>
                  <a:pt x="601064" y="0"/>
                  <a:pt x="609600" y="8536"/>
                  <a:pt x="609600" y="19050"/>
                </a:cubicBezTo>
                <a:lnTo>
                  <a:pt x="609600" y="19050"/>
                </a:lnTo>
                <a:cubicBezTo>
                  <a:pt x="609600" y="29564"/>
                  <a:pt x="601064" y="38100"/>
                  <a:pt x="590550" y="38100"/>
                </a:cubicBezTo>
                <a:lnTo>
                  <a:pt x="19050" y="38100"/>
                </a:lnTo>
                <a:cubicBezTo>
                  <a:pt x="8536" y="38100"/>
                  <a:pt x="0" y="29564"/>
                  <a:pt x="0" y="19050"/>
                </a:cubicBezTo>
                <a:lnTo>
                  <a:pt x="0" y="19050"/>
                </a:lnTo>
                <a:cubicBezTo>
                  <a:pt x="0" y="8536"/>
                  <a:pt x="8536" y="0"/>
                  <a:pt x="19050" y="0"/>
                </a:cubicBezTo>
                <a:close/>
              </a:path>
            </a:pathLst>
          </a:custGeom>
          <a:gradFill flip="none" rotWithShape="1">
            <a:gsLst>
              <a:gs pos="0">
                <a:srgbClr val="4472C4"/>
              </a:gs>
              <a:gs pos="100000">
                <a:srgbClr val="5B9BD5"/>
              </a:gs>
            </a:gsLst>
            <a:lin ang="0" scaled="1"/>
          </a:gradFill>
          <a:ln/>
        </p:spPr>
      </p:sp>
      <p:sp>
        <p:nvSpPr>
          <p:cNvPr id="47" name="Text 44"/>
          <p:cNvSpPr/>
          <p:nvPr/>
        </p:nvSpPr>
        <p:spPr>
          <a:xfrm>
            <a:off x="1104900" y="6248400"/>
            <a:ext cx="3514725" cy="228600"/>
          </a:xfrm>
          <a:prstGeom prst="rect">
            <a:avLst/>
          </a:prstGeom>
          <a:noFill/>
          <a:ln/>
        </p:spPr>
        <p:txBody>
          <a:bodyPr wrap="square" lIns="0" tIns="0" rIns="0" bIns="0" rtlCol="0" anchor="ctr"/>
          <a:lstStyle/>
          <a:p>
            <a:pPr>
              <a:lnSpc>
                <a:spcPct val="130000"/>
              </a:lnSpc>
            </a:pPr>
            <a:r>
              <a:rPr lang="en-US" sz="1200" b="1" dirty="0">
                <a:solidFill>
                  <a:srgbClr val="44546A"/>
                </a:solidFill>
                <a:latin typeface="MiSans" pitchFamily="34" charset="0"/>
                <a:ea typeface="MiSans" pitchFamily="34" charset="-122"/>
                <a:cs typeface="MiSans" pitchFamily="34" charset="-120"/>
              </a:rPr>
              <a:t>KIẾN THỨC - KỸ NĂNG - SÁNG TẠO - HỘI NHẬP</a:t>
            </a:r>
            <a:endParaRPr lang="en-US" sz="1600" dirty="0"/>
          </a:p>
        </p:txBody>
      </p:sp>
      <p:sp>
        <p:nvSpPr>
          <p:cNvPr id="48" name="Text 45"/>
          <p:cNvSpPr/>
          <p:nvPr/>
        </p:nvSpPr>
        <p:spPr>
          <a:xfrm>
            <a:off x="11002923" y="6248400"/>
            <a:ext cx="885825" cy="228600"/>
          </a:xfrm>
          <a:prstGeom prst="rect">
            <a:avLst/>
          </a:prstGeom>
          <a:noFill/>
          <a:ln/>
        </p:spPr>
        <p:txBody>
          <a:bodyPr wrap="square" lIns="0" tIns="0" rIns="0" bIns="0" rtlCol="0" anchor="ctr"/>
          <a:lstStyle/>
          <a:p>
            <a:pPr>
              <a:lnSpc>
                <a:spcPct val="130000"/>
              </a:lnSpc>
            </a:pPr>
            <a:r>
              <a:rPr lang="en-US" sz="1200" dirty="0">
                <a:solidFill>
                  <a:srgbClr val="44546A"/>
                </a:solidFill>
                <a:latin typeface="MiSans" pitchFamily="34" charset="0"/>
                <a:ea typeface="MiSans" pitchFamily="34" charset="-122"/>
                <a:cs typeface="MiSans" pitchFamily="34" charset="-120"/>
              </a:rPr>
              <a:t>24/01/2026</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93000"/>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46851" y="907771"/>
            <a:ext cx="412553" cy="412553"/>
          </a:xfrm>
          <a:custGeom>
            <a:avLst/>
            <a:gdLst/>
            <a:ahLst/>
            <a:cxnLst/>
            <a:rect l="l" t="t" r="r" b="b"/>
            <a:pathLst>
              <a:path w="434136" h="434136">
                <a:moveTo>
                  <a:pt x="72358" y="0"/>
                </a:moveTo>
                <a:lnTo>
                  <a:pt x="361779" y="0"/>
                </a:lnTo>
                <a:cubicBezTo>
                  <a:pt x="401741" y="0"/>
                  <a:pt x="434136" y="32396"/>
                  <a:pt x="434136" y="72358"/>
                </a:cubicBezTo>
                <a:lnTo>
                  <a:pt x="434136" y="361779"/>
                </a:lnTo>
                <a:cubicBezTo>
                  <a:pt x="434136" y="401741"/>
                  <a:pt x="401741" y="434136"/>
                  <a:pt x="361779" y="434136"/>
                </a:cubicBezTo>
                <a:lnTo>
                  <a:pt x="72358" y="434136"/>
                </a:lnTo>
                <a:cubicBezTo>
                  <a:pt x="32396" y="434136"/>
                  <a:pt x="0" y="401741"/>
                  <a:pt x="0" y="361779"/>
                </a:cubicBezTo>
                <a:lnTo>
                  <a:pt x="0" y="72358"/>
                </a:lnTo>
                <a:cubicBezTo>
                  <a:pt x="0" y="32396"/>
                  <a:pt x="32396" y="0"/>
                  <a:pt x="72358" y="0"/>
                </a:cubicBezTo>
                <a:close/>
              </a:path>
            </a:pathLst>
          </a:custGeom>
          <a:solidFill>
            <a:srgbClr val="C5A56A"/>
          </a:solidFill>
          <a:ln/>
        </p:spPr>
        <p:txBody>
          <a:bodyPr/>
          <a:lstStyle/>
          <a:p>
            <a:endParaRPr lang="en-US" dirty="0"/>
          </a:p>
        </p:txBody>
      </p:sp>
      <p:sp>
        <p:nvSpPr>
          <p:cNvPr id="4" name="Shape 1"/>
          <p:cNvSpPr/>
          <p:nvPr/>
        </p:nvSpPr>
        <p:spPr>
          <a:xfrm>
            <a:off x="777924" y="1038470"/>
            <a:ext cx="150410" cy="171897"/>
          </a:xfrm>
          <a:custGeom>
            <a:avLst/>
            <a:gdLst/>
            <a:ahLst/>
            <a:cxnLst/>
            <a:rect l="l" t="t" r="r" b="b"/>
            <a:pathLst>
              <a:path w="158279" h="180890">
                <a:moveTo>
                  <a:pt x="158279" y="72709"/>
                </a:moveTo>
                <a:cubicBezTo>
                  <a:pt x="153050" y="76172"/>
                  <a:pt x="147044" y="78963"/>
                  <a:pt x="140791" y="81189"/>
                </a:cubicBezTo>
                <a:cubicBezTo>
                  <a:pt x="124185" y="87124"/>
                  <a:pt x="102387" y="90445"/>
                  <a:pt x="79139" y="90445"/>
                </a:cubicBezTo>
                <a:cubicBezTo>
                  <a:pt x="55892" y="90445"/>
                  <a:pt x="34058" y="87089"/>
                  <a:pt x="17488" y="81189"/>
                </a:cubicBezTo>
                <a:cubicBezTo>
                  <a:pt x="11270" y="78963"/>
                  <a:pt x="5229" y="76172"/>
                  <a:pt x="0" y="72709"/>
                </a:cubicBezTo>
                <a:lnTo>
                  <a:pt x="0" y="101751"/>
                </a:lnTo>
                <a:cubicBezTo>
                  <a:pt x="0" y="117367"/>
                  <a:pt x="35436" y="130015"/>
                  <a:pt x="79139" y="130015"/>
                </a:cubicBezTo>
                <a:cubicBezTo>
                  <a:pt x="122843" y="130015"/>
                  <a:pt x="158279" y="117367"/>
                  <a:pt x="158279" y="101751"/>
                </a:cubicBezTo>
                <a:lnTo>
                  <a:pt x="158279" y="72709"/>
                </a:lnTo>
                <a:close/>
                <a:moveTo>
                  <a:pt x="158279" y="45223"/>
                </a:moveTo>
                <a:lnTo>
                  <a:pt x="158279" y="28264"/>
                </a:lnTo>
                <a:cubicBezTo>
                  <a:pt x="158279" y="12648"/>
                  <a:pt x="122843" y="0"/>
                  <a:pt x="79139" y="0"/>
                </a:cubicBezTo>
                <a:cubicBezTo>
                  <a:pt x="35436" y="0"/>
                  <a:pt x="0" y="12648"/>
                  <a:pt x="0" y="28264"/>
                </a:cubicBezTo>
                <a:lnTo>
                  <a:pt x="0" y="45223"/>
                </a:lnTo>
                <a:cubicBezTo>
                  <a:pt x="0" y="60838"/>
                  <a:pt x="35436" y="73487"/>
                  <a:pt x="79139" y="73487"/>
                </a:cubicBezTo>
                <a:cubicBezTo>
                  <a:pt x="122843" y="73487"/>
                  <a:pt x="158279" y="60838"/>
                  <a:pt x="158279" y="45223"/>
                </a:cubicBezTo>
                <a:close/>
                <a:moveTo>
                  <a:pt x="140791" y="137717"/>
                </a:moveTo>
                <a:cubicBezTo>
                  <a:pt x="124221" y="143617"/>
                  <a:pt x="102422" y="146973"/>
                  <a:pt x="79139" y="146973"/>
                </a:cubicBezTo>
                <a:cubicBezTo>
                  <a:pt x="55857" y="146973"/>
                  <a:pt x="34058" y="143617"/>
                  <a:pt x="17488" y="137717"/>
                </a:cubicBezTo>
                <a:cubicBezTo>
                  <a:pt x="11270" y="135491"/>
                  <a:pt x="5229" y="132700"/>
                  <a:pt x="0" y="129238"/>
                </a:cubicBezTo>
                <a:lnTo>
                  <a:pt x="0" y="152626"/>
                </a:lnTo>
                <a:cubicBezTo>
                  <a:pt x="0" y="168242"/>
                  <a:pt x="35436" y="180890"/>
                  <a:pt x="79139" y="180890"/>
                </a:cubicBezTo>
                <a:cubicBezTo>
                  <a:pt x="122843" y="180890"/>
                  <a:pt x="158279" y="168242"/>
                  <a:pt x="158279" y="152626"/>
                </a:cubicBezTo>
                <a:lnTo>
                  <a:pt x="158279" y="129238"/>
                </a:lnTo>
                <a:cubicBezTo>
                  <a:pt x="153050" y="132700"/>
                  <a:pt x="147044" y="135491"/>
                  <a:pt x="140791" y="137717"/>
                </a:cubicBezTo>
                <a:close/>
              </a:path>
            </a:pathLst>
          </a:custGeom>
          <a:solidFill>
            <a:srgbClr val="101820"/>
          </a:solidFill>
          <a:ln/>
        </p:spPr>
      </p:sp>
      <p:sp>
        <p:nvSpPr>
          <p:cNvPr id="6" name="Text 3"/>
          <p:cNvSpPr/>
          <p:nvPr/>
        </p:nvSpPr>
        <p:spPr>
          <a:xfrm>
            <a:off x="1162544" y="980769"/>
            <a:ext cx="10459958" cy="240656"/>
          </a:xfrm>
          <a:prstGeom prst="rect">
            <a:avLst/>
          </a:prstGeom>
          <a:noFill/>
          <a:ln/>
        </p:spPr>
        <p:txBody>
          <a:bodyPr wrap="square" lIns="0" tIns="0" rIns="0" bIns="0" rtlCol="0" anchor="ctr"/>
          <a:lstStyle/>
          <a:p>
            <a:pPr>
              <a:lnSpc>
                <a:spcPct val="130000"/>
              </a:lnSpc>
            </a:pPr>
            <a:r>
              <a:rPr lang="en-US" sz="2400" dirty="0">
                <a:solidFill>
                  <a:schemeClr val="accent4">
                    <a:lumMod val="75000"/>
                  </a:schemeClr>
                </a:solidFill>
                <a:latin typeface="Arial" panose="020B0604020202020204" pitchFamily="34" charset="0"/>
                <a:ea typeface="Liter" pitchFamily="34" charset="-122"/>
                <a:cs typeface="Arial" panose="020B0604020202020204" pitchFamily="34" charset="0"/>
              </a:rPr>
              <a:t>Sequence</a:t>
            </a:r>
            <a:r>
              <a:rPr lang="vi-VN" sz="2400" dirty="0">
                <a:solidFill>
                  <a:schemeClr val="accent4">
                    <a:lumMod val="75000"/>
                  </a:schemeClr>
                </a:solidFill>
                <a:latin typeface="Arial" panose="020B0604020202020204" pitchFamily="34" charset="0"/>
                <a:ea typeface="Liter" pitchFamily="34" charset="-122"/>
                <a:cs typeface="Arial" panose="020B0604020202020204" pitchFamily="34" charset="0"/>
              </a:rPr>
              <a:t> </a:t>
            </a:r>
            <a:r>
              <a:rPr lang="en-US" sz="2400" dirty="0">
                <a:solidFill>
                  <a:schemeClr val="accent4">
                    <a:lumMod val="75000"/>
                  </a:schemeClr>
                </a:solidFill>
                <a:latin typeface="Arial" panose="020B0604020202020204" pitchFamily="34" charset="0"/>
                <a:ea typeface="Liter" pitchFamily="34" charset="-122"/>
                <a:cs typeface="Arial" panose="020B0604020202020204" pitchFamily="34" charset="0"/>
              </a:rPr>
              <a:t>Diagram</a:t>
            </a:r>
            <a:endParaRPr lang="en-US" sz="2400" dirty="0">
              <a:solidFill>
                <a:schemeClr val="accent4">
                  <a:lumMod val="75000"/>
                </a:schemeClr>
              </a:solidFill>
              <a:latin typeface="Arial" panose="020B0604020202020204" pitchFamily="34" charset="0"/>
              <a:cs typeface="Arial" panose="020B0604020202020204" pitchFamily="34" charset="0"/>
            </a:endParaRPr>
          </a:p>
        </p:txBody>
      </p:sp>
      <p:sp>
        <p:nvSpPr>
          <p:cNvPr id="24" name="Shape 21"/>
          <p:cNvSpPr/>
          <p:nvPr/>
        </p:nvSpPr>
        <p:spPr>
          <a:xfrm>
            <a:off x="646851" y="4933457"/>
            <a:ext cx="25785" cy="0"/>
          </a:xfrm>
          <a:custGeom>
            <a:avLst/>
            <a:gdLst/>
            <a:ahLst/>
            <a:cxnLst/>
            <a:rect l="l" t="t" r="r" b="b"/>
            <a:pathLst>
              <a:path w="27134">
                <a:moveTo>
                  <a:pt x="0" y="0"/>
                </a:moveTo>
                <a:lnTo>
                  <a:pt x="27134" y="0"/>
                </a:lnTo>
                <a:lnTo>
                  <a:pt x="27134" y="0"/>
                </a:lnTo>
                <a:lnTo>
                  <a:pt x="0" y="0"/>
                </a:lnTo>
                <a:lnTo>
                  <a:pt x="0" y="0"/>
                </a:lnTo>
                <a:close/>
              </a:path>
            </a:pathLst>
          </a:custGeom>
          <a:solidFill>
            <a:srgbClr val="C5A56A"/>
          </a:solidFill>
          <a:ln/>
        </p:spPr>
      </p:sp>
      <p:sp>
        <p:nvSpPr>
          <p:cNvPr id="38" name="Text 35"/>
          <p:cNvSpPr/>
          <p:nvPr/>
        </p:nvSpPr>
        <p:spPr>
          <a:xfrm>
            <a:off x="8446925" y="968059"/>
            <a:ext cx="3175578" cy="379004"/>
          </a:xfrm>
          <a:prstGeom prst="rect">
            <a:avLst/>
          </a:prstGeom>
          <a:noFill/>
          <a:ln/>
        </p:spPr>
        <p:txBody>
          <a:bodyPr wrap="square" lIns="0" tIns="0" rIns="0" bIns="0" rtlCol="0" anchor="ctr"/>
          <a:lstStyle/>
          <a:p>
            <a:pPr>
              <a:lnSpc>
                <a:spcPct val="120000"/>
              </a:lnSpc>
            </a:pPr>
            <a:r>
              <a:rPr lang="en-US" sz="1100" dirty="0">
                <a:solidFill>
                  <a:schemeClr val="accent4">
                    <a:lumMod val="75000"/>
                  </a:schemeClr>
                </a:solidFill>
                <a:latin typeface="Liter" pitchFamily="34" charset="0"/>
                <a:ea typeface="Liter" pitchFamily="34" charset="-122"/>
                <a:cs typeface="Liter" pitchFamily="34" charset="-120"/>
              </a:rPr>
              <a:t>Mobile App Development - Movie Ticket Booking</a:t>
            </a:r>
            <a:endParaRPr lang="en-US" sz="1100" dirty="0">
              <a:solidFill>
                <a:schemeClr val="accent4">
                  <a:lumMod val="75000"/>
                </a:schemeClr>
              </a:solidFill>
            </a:endParaRPr>
          </a:p>
        </p:txBody>
      </p:sp>
      <p:sp>
        <p:nvSpPr>
          <p:cNvPr id="39" name="Shape 36"/>
          <p:cNvSpPr/>
          <p:nvPr/>
        </p:nvSpPr>
        <p:spPr>
          <a:xfrm>
            <a:off x="11026341" y="6583672"/>
            <a:ext cx="34379" cy="34379"/>
          </a:xfrm>
          <a:custGeom>
            <a:avLst/>
            <a:gdLst/>
            <a:ahLst/>
            <a:cxnLst/>
            <a:rect l="l" t="t" r="r" b="b"/>
            <a:pathLst>
              <a:path w="36178" h="36178">
                <a:moveTo>
                  <a:pt x="18089" y="0"/>
                </a:moveTo>
                <a:lnTo>
                  <a:pt x="18089" y="0"/>
                </a:lnTo>
                <a:cubicBezTo>
                  <a:pt x="28073" y="0"/>
                  <a:pt x="36178" y="8105"/>
                  <a:pt x="36178" y="18089"/>
                </a:cubicBezTo>
                <a:lnTo>
                  <a:pt x="36178" y="18089"/>
                </a:lnTo>
                <a:cubicBezTo>
                  <a:pt x="36178" y="28073"/>
                  <a:pt x="28073" y="36178"/>
                  <a:pt x="18089" y="36178"/>
                </a:cubicBezTo>
                <a:lnTo>
                  <a:pt x="18089" y="36178"/>
                </a:lnTo>
                <a:cubicBezTo>
                  <a:pt x="8105" y="36178"/>
                  <a:pt x="0" y="28073"/>
                  <a:pt x="0" y="18089"/>
                </a:cubicBezTo>
                <a:lnTo>
                  <a:pt x="0" y="18089"/>
                </a:lnTo>
                <a:cubicBezTo>
                  <a:pt x="0" y="8105"/>
                  <a:pt x="8105" y="0"/>
                  <a:pt x="18089" y="0"/>
                </a:cubicBezTo>
                <a:close/>
              </a:path>
            </a:pathLst>
          </a:custGeom>
          <a:solidFill>
            <a:srgbClr val="6A7480"/>
          </a:solidFill>
          <a:ln/>
        </p:spPr>
      </p:sp>
      <p:pic>
        <p:nvPicPr>
          <p:cNvPr id="44" name="Picture 43">
            <a:extLst>
              <a:ext uri="{FF2B5EF4-FFF2-40B4-BE49-F238E27FC236}">
                <a16:creationId xmlns:a16="http://schemas.microsoft.com/office/drawing/2014/main" id="{21874B07-AE4E-4711-E463-857971A6398C}"/>
              </a:ext>
            </a:extLst>
          </p:cNvPr>
          <p:cNvPicPr>
            <a:picLocks noChangeAspect="1"/>
          </p:cNvPicPr>
          <p:nvPr/>
        </p:nvPicPr>
        <p:blipFill>
          <a:blip r:embed="rId4"/>
          <a:stretch>
            <a:fillRect/>
          </a:stretch>
        </p:blipFill>
        <p:spPr>
          <a:xfrm>
            <a:off x="980756" y="1352124"/>
            <a:ext cx="10045586" cy="5505876"/>
          </a:xfrm>
          <a:prstGeom prst="rect">
            <a:avLst/>
          </a:prstGeom>
        </p:spPr>
      </p:pic>
      <p:sp>
        <p:nvSpPr>
          <p:cNvPr id="45" name="Rectangle 44">
            <a:extLst>
              <a:ext uri="{FF2B5EF4-FFF2-40B4-BE49-F238E27FC236}">
                <a16:creationId xmlns:a16="http://schemas.microsoft.com/office/drawing/2014/main" id="{FB5070B1-813A-0D42-F53D-57EC615EC8EE}"/>
              </a:ext>
            </a:extLst>
          </p:cNvPr>
          <p:cNvSpPr/>
          <p:nvPr/>
        </p:nvSpPr>
        <p:spPr>
          <a:xfrm>
            <a:off x="0" y="5426110"/>
            <a:ext cx="990646" cy="14247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F1310890-3E99-8AB1-52E4-02BABEE94846}"/>
              </a:ext>
            </a:extLst>
          </p:cNvPr>
          <p:cNvSpPr/>
          <p:nvPr/>
        </p:nvSpPr>
        <p:spPr>
          <a:xfrm>
            <a:off x="10952704" y="5601166"/>
            <a:ext cx="1225014" cy="12467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7" name="Shape 4"/>
          <p:cNvSpPr/>
          <p:nvPr/>
        </p:nvSpPr>
        <p:spPr>
          <a:xfrm>
            <a:off x="371142" y="1261881"/>
            <a:ext cx="445370" cy="445370"/>
          </a:xfrm>
          <a:custGeom>
            <a:avLst/>
            <a:gdLst/>
            <a:ahLst/>
            <a:cxnLst/>
            <a:rect l="l" t="t" r="r" b="b"/>
            <a:pathLst>
              <a:path w="445370" h="445370">
                <a:moveTo>
                  <a:pt x="111342" y="0"/>
                </a:moveTo>
                <a:lnTo>
                  <a:pt x="334027" y="0"/>
                </a:lnTo>
                <a:cubicBezTo>
                  <a:pt x="395520" y="0"/>
                  <a:pt x="445370" y="49850"/>
                  <a:pt x="445370" y="111342"/>
                </a:cubicBezTo>
                <a:lnTo>
                  <a:pt x="445370" y="334027"/>
                </a:lnTo>
                <a:cubicBezTo>
                  <a:pt x="445370" y="395520"/>
                  <a:pt x="395520" y="445370"/>
                  <a:pt x="334027" y="445370"/>
                </a:cubicBezTo>
                <a:lnTo>
                  <a:pt x="111342" y="445370"/>
                </a:lnTo>
                <a:cubicBezTo>
                  <a:pt x="49850" y="445370"/>
                  <a:pt x="0" y="395520"/>
                  <a:pt x="0" y="334027"/>
                </a:cubicBezTo>
                <a:lnTo>
                  <a:pt x="0" y="111342"/>
                </a:lnTo>
                <a:cubicBezTo>
                  <a:pt x="0" y="49850"/>
                  <a:pt x="49850" y="0"/>
                  <a:pt x="111342" y="0"/>
                </a:cubicBezTo>
                <a:close/>
              </a:path>
            </a:pathLst>
          </a:custGeom>
          <a:gradFill flip="none" rotWithShape="1">
            <a:gsLst>
              <a:gs pos="0">
                <a:srgbClr val="5B9BD5"/>
              </a:gs>
              <a:gs pos="100000">
                <a:srgbClr val="4472C4"/>
              </a:gs>
            </a:gsLst>
            <a:lin ang="2700000" scaled="1"/>
          </a:gradFill>
          <a:ln/>
        </p:spPr>
      </p:sp>
      <p:sp>
        <p:nvSpPr>
          <p:cNvPr id="8" name="Shape 5"/>
          <p:cNvSpPr/>
          <p:nvPr/>
        </p:nvSpPr>
        <p:spPr>
          <a:xfrm>
            <a:off x="489443" y="1391781"/>
            <a:ext cx="208767" cy="185571"/>
          </a:xfrm>
          <a:custGeom>
            <a:avLst/>
            <a:gdLst/>
            <a:ahLst/>
            <a:cxnLst/>
            <a:rect l="l" t="t" r="r" b="b"/>
            <a:pathLst>
              <a:path w="208767" h="185571">
                <a:moveTo>
                  <a:pt x="130769" y="435"/>
                </a:moveTo>
                <a:cubicBezTo>
                  <a:pt x="124608" y="-1341"/>
                  <a:pt x="118193" y="2247"/>
                  <a:pt x="116417" y="8409"/>
                </a:cubicBezTo>
                <a:lnTo>
                  <a:pt x="70024" y="170783"/>
                </a:lnTo>
                <a:cubicBezTo>
                  <a:pt x="68248" y="176945"/>
                  <a:pt x="71836" y="183360"/>
                  <a:pt x="77998" y="185136"/>
                </a:cubicBezTo>
                <a:cubicBezTo>
                  <a:pt x="84159" y="186912"/>
                  <a:pt x="90574" y="183324"/>
                  <a:pt x="92350" y="177162"/>
                </a:cubicBezTo>
                <a:lnTo>
                  <a:pt x="138743" y="14788"/>
                </a:lnTo>
                <a:cubicBezTo>
                  <a:pt x="140519" y="8626"/>
                  <a:pt x="136931" y="2211"/>
                  <a:pt x="130769" y="435"/>
                </a:cubicBezTo>
                <a:close/>
                <a:moveTo>
                  <a:pt x="154183" y="49763"/>
                </a:moveTo>
                <a:cubicBezTo>
                  <a:pt x="149653" y="54294"/>
                  <a:pt x="149653" y="61652"/>
                  <a:pt x="154183" y="66182"/>
                </a:cubicBezTo>
                <a:lnTo>
                  <a:pt x="180787" y="92785"/>
                </a:lnTo>
                <a:lnTo>
                  <a:pt x="154183" y="119389"/>
                </a:lnTo>
                <a:cubicBezTo>
                  <a:pt x="149653" y="123919"/>
                  <a:pt x="149653" y="131277"/>
                  <a:pt x="154183" y="135807"/>
                </a:cubicBezTo>
                <a:cubicBezTo>
                  <a:pt x="158714" y="140338"/>
                  <a:pt x="166071" y="140338"/>
                  <a:pt x="170602" y="135807"/>
                </a:cubicBezTo>
                <a:lnTo>
                  <a:pt x="205396" y="101013"/>
                </a:lnTo>
                <a:cubicBezTo>
                  <a:pt x="209927" y="96482"/>
                  <a:pt x="209927" y="89125"/>
                  <a:pt x="205396" y="84594"/>
                </a:cubicBezTo>
                <a:lnTo>
                  <a:pt x="170602" y="49800"/>
                </a:lnTo>
                <a:cubicBezTo>
                  <a:pt x="166071" y="45269"/>
                  <a:pt x="158714" y="45269"/>
                  <a:pt x="154183" y="49800"/>
                </a:cubicBezTo>
                <a:close/>
                <a:moveTo>
                  <a:pt x="54620" y="49763"/>
                </a:moveTo>
                <a:cubicBezTo>
                  <a:pt x="50090" y="45233"/>
                  <a:pt x="42732" y="45233"/>
                  <a:pt x="38201" y="49763"/>
                </a:cubicBezTo>
                <a:lnTo>
                  <a:pt x="3407" y="84558"/>
                </a:lnTo>
                <a:cubicBezTo>
                  <a:pt x="-1124" y="89088"/>
                  <a:pt x="-1124" y="96446"/>
                  <a:pt x="3407" y="100977"/>
                </a:cubicBezTo>
                <a:lnTo>
                  <a:pt x="38201" y="135771"/>
                </a:lnTo>
                <a:cubicBezTo>
                  <a:pt x="42732" y="140302"/>
                  <a:pt x="50090" y="140302"/>
                  <a:pt x="54620" y="135771"/>
                </a:cubicBezTo>
                <a:cubicBezTo>
                  <a:pt x="59151" y="131241"/>
                  <a:pt x="59151" y="123883"/>
                  <a:pt x="54620" y="119352"/>
                </a:cubicBezTo>
                <a:lnTo>
                  <a:pt x="28017" y="92785"/>
                </a:lnTo>
                <a:lnTo>
                  <a:pt x="54584" y="66182"/>
                </a:lnTo>
                <a:cubicBezTo>
                  <a:pt x="59114" y="61652"/>
                  <a:pt x="59114" y="54294"/>
                  <a:pt x="54584" y="49763"/>
                </a:cubicBezTo>
                <a:close/>
              </a:path>
            </a:pathLst>
          </a:custGeom>
          <a:solidFill>
            <a:srgbClr val="FFFFFF"/>
          </a:solidFill>
          <a:ln/>
        </p:spPr>
      </p:sp>
      <p:sp>
        <p:nvSpPr>
          <p:cNvPr id="9" name="Text 6"/>
          <p:cNvSpPr/>
          <p:nvPr/>
        </p:nvSpPr>
        <p:spPr>
          <a:xfrm>
            <a:off x="927854" y="1336110"/>
            <a:ext cx="1234046" cy="296913"/>
          </a:xfrm>
          <a:prstGeom prst="rect">
            <a:avLst/>
          </a:prstGeom>
          <a:noFill/>
          <a:ln/>
        </p:spPr>
        <p:txBody>
          <a:bodyPr wrap="square" lIns="0" tIns="0" rIns="0" bIns="0" rtlCol="0" anchor="ctr"/>
          <a:lstStyle/>
          <a:p>
            <a:pPr>
              <a:lnSpc>
                <a:spcPct val="110000"/>
              </a:lnSpc>
            </a:pPr>
            <a:r>
              <a:rPr lang="en-US" sz="1753" b="1" dirty="0">
                <a:solidFill>
                  <a:schemeClr val="accent5">
                    <a:lumMod val="60000"/>
                    <a:lumOff val="40000"/>
                  </a:schemeClr>
                </a:solidFill>
                <a:latin typeface="MiSans" pitchFamily="34" charset="0"/>
                <a:ea typeface="MiSans" pitchFamily="34" charset="-122"/>
                <a:cs typeface="MiSans" pitchFamily="34" charset="-120"/>
              </a:rPr>
              <a:t>Công nghệ</a:t>
            </a:r>
            <a:endParaRPr lang="en-US" sz="1600" dirty="0">
              <a:solidFill>
                <a:schemeClr val="accent5">
                  <a:lumMod val="60000"/>
                  <a:lumOff val="40000"/>
                </a:schemeClr>
              </a:solidFill>
            </a:endParaRPr>
          </a:p>
        </p:txBody>
      </p:sp>
      <p:sp>
        <p:nvSpPr>
          <p:cNvPr id="10" name="Shape 7"/>
          <p:cNvSpPr/>
          <p:nvPr/>
        </p:nvSpPr>
        <p:spPr>
          <a:xfrm>
            <a:off x="374853" y="1859419"/>
            <a:ext cx="5602382" cy="1065176"/>
          </a:xfrm>
          <a:custGeom>
            <a:avLst/>
            <a:gdLst/>
            <a:ahLst/>
            <a:cxnLst/>
            <a:rect l="l" t="t" r="r" b="b"/>
            <a:pathLst>
              <a:path w="5602382" h="1065176">
                <a:moveTo>
                  <a:pt x="148454" y="0"/>
                </a:moveTo>
                <a:lnTo>
                  <a:pt x="5453928" y="0"/>
                </a:lnTo>
                <a:cubicBezTo>
                  <a:pt x="5535917" y="0"/>
                  <a:pt x="5602382" y="66465"/>
                  <a:pt x="5602382" y="148454"/>
                </a:cubicBezTo>
                <a:lnTo>
                  <a:pt x="5602382" y="916723"/>
                </a:lnTo>
                <a:cubicBezTo>
                  <a:pt x="5602382" y="998711"/>
                  <a:pt x="5535917" y="1065176"/>
                  <a:pt x="5453928" y="1065176"/>
                </a:cubicBezTo>
                <a:lnTo>
                  <a:pt x="148454" y="1065176"/>
                </a:lnTo>
                <a:cubicBezTo>
                  <a:pt x="66465" y="1065176"/>
                  <a:pt x="0" y="998711"/>
                  <a:pt x="0" y="916723"/>
                </a:cubicBezTo>
                <a:lnTo>
                  <a:pt x="0" y="148454"/>
                </a:lnTo>
                <a:cubicBezTo>
                  <a:pt x="0" y="66520"/>
                  <a:pt x="66520" y="0"/>
                  <a:pt x="148454" y="0"/>
                </a:cubicBezTo>
                <a:close/>
              </a:path>
            </a:pathLst>
          </a:custGeom>
          <a:solidFill>
            <a:schemeClr val="accent5">
              <a:lumMod val="60000"/>
              <a:lumOff val="40000"/>
              <a:alpha val="60000"/>
            </a:schemeClr>
          </a:solidFill>
          <a:ln w="10160">
            <a:solidFill>
              <a:srgbClr val="FFFFFF">
                <a:alpha val="10196"/>
              </a:srgbClr>
            </a:solidFill>
            <a:prstDash val="solid"/>
          </a:ln>
        </p:spPr>
      </p:sp>
      <p:sp>
        <p:nvSpPr>
          <p:cNvPr id="11" name="Shape 8"/>
          <p:cNvSpPr/>
          <p:nvPr/>
        </p:nvSpPr>
        <p:spPr>
          <a:xfrm>
            <a:off x="527021" y="2011588"/>
            <a:ext cx="371142" cy="371142"/>
          </a:xfrm>
          <a:custGeom>
            <a:avLst/>
            <a:gdLst/>
            <a:ahLst/>
            <a:cxnLst/>
            <a:rect l="l" t="t" r="r" b="b"/>
            <a:pathLst>
              <a:path w="371142" h="371142">
                <a:moveTo>
                  <a:pt x="111342" y="0"/>
                </a:moveTo>
                <a:lnTo>
                  <a:pt x="259799" y="0"/>
                </a:lnTo>
                <a:cubicBezTo>
                  <a:pt x="321292" y="0"/>
                  <a:pt x="371142" y="49850"/>
                  <a:pt x="371142" y="111342"/>
                </a:cubicBezTo>
                <a:lnTo>
                  <a:pt x="371142" y="259799"/>
                </a:lnTo>
                <a:cubicBezTo>
                  <a:pt x="371142" y="321292"/>
                  <a:pt x="321292" y="371142"/>
                  <a:pt x="259799" y="371142"/>
                </a:cubicBezTo>
                <a:lnTo>
                  <a:pt x="111342" y="371142"/>
                </a:lnTo>
                <a:cubicBezTo>
                  <a:pt x="49850" y="371142"/>
                  <a:pt x="0" y="321292"/>
                  <a:pt x="0" y="259799"/>
                </a:cubicBezTo>
                <a:lnTo>
                  <a:pt x="0" y="111342"/>
                </a:lnTo>
                <a:cubicBezTo>
                  <a:pt x="0" y="49850"/>
                  <a:pt x="49850" y="0"/>
                  <a:pt x="111342" y="0"/>
                </a:cubicBezTo>
                <a:close/>
              </a:path>
            </a:pathLst>
          </a:custGeom>
          <a:solidFill>
            <a:srgbClr val="5B9BD5"/>
          </a:solidFill>
          <a:ln/>
        </p:spPr>
      </p:sp>
      <p:sp>
        <p:nvSpPr>
          <p:cNvPr id="12" name="Shape 9"/>
          <p:cNvSpPr/>
          <p:nvPr/>
        </p:nvSpPr>
        <p:spPr>
          <a:xfrm>
            <a:off x="647642" y="2122930"/>
            <a:ext cx="129900" cy="148457"/>
          </a:xfrm>
          <a:custGeom>
            <a:avLst/>
            <a:gdLst/>
            <a:ahLst/>
            <a:cxnLst/>
            <a:rect l="l" t="t" r="r" b="b"/>
            <a:pathLst>
              <a:path w="129900" h="148457">
                <a:moveTo>
                  <a:pt x="18557" y="9279"/>
                </a:moveTo>
                <a:cubicBezTo>
                  <a:pt x="8322" y="9279"/>
                  <a:pt x="0" y="17600"/>
                  <a:pt x="0" y="27836"/>
                </a:cubicBezTo>
                <a:lnTo>
                  <a:pt x="0" y="46393"/>
                </a:lnTo>
                <a:cubicBezTo>
                  <a:pt x="0" y="56628"/>
                  <a:pt x="8322" y="64950"/>
                  <a:pt x="18557" y="64950"/>
                </a:cubicBezTo>
                <a:lnTo>
                  <a:pt x="111342" y="64950"/>
                </a:lnTo>
                <a:cubicBezTo>
                  <a:pt x="121578" y="64950"/>
                  <a:pt x="129900" y="56628"/>
                  <a:pt x="129900" y="46393"/>
                </a:cubicBezTo>
                <a:lnTo>
                  <a:pt x="129900" y="27836"/>
                </a:lnTo>
                <a:cubicBezTo>
                  <a:pt x="129900" y="17600"/>
                  <a:pt x="121578" y="9279"/>
                  <a:pt x="111342" y="9279"/>
                </a:cubicBezTo>
                <a:lnTo>
                  <a:pt x="18557" y="9279"/>
                </a:lnTo>
                <a:close/>
                <a:moveTo>
                  <a:pt x="81187" y="30155"/>
                </a:moveTo>
                <a:cubicBezTo>
                  <a:pt x="85028" y="30155"/>
                  <a:pt x="88146" y="33273"/>
                  <a:pt x="88146" y="37114"/>
                </a:cubicBezTo>
                <a:cubicBezTo>
                  <a:pt x="88146" y="40955"/>
                  <a:pt x="85028" y="44073"/>
                  <a:pt x="81187" y="44073"/>
                </a:cubicBezTo>
                <a:cubicBezTo>
                  <a:pt x="77346" y="44073"/>
                  <a:pt x="74228" y="40955"/>
                  <a:pt x="74228" y="37114"/>
                </a:cubicBezTo>
                <a:cubicBezTo>
                  <a:pt x="74228" y="33273"/>
                  <a:pt x="77346" y="30155"/>
                  <a:pt x="81187" y="30155"/>
                </a:cubicBezTo>
                <a:close/>
                <a:moveTo>
                  <a:pt x="97425" y="37114"/>
                </a:moveTo>
                <a:cubicBezTo>
                  <a:pt x="97425" y="33273"/>
                  <a:pt x="100543" y="30155"/>
                  <a:pt x="104384" y="30155"/>
                </a:cubicBezTo>
                <a:cubicBezTo>
                  <a:pt x="108224" y="30155"/>
                  <a:pt x="111342" y="33273"/>
                  <a:pt x="111342" y="37114"/>
                </a:cubicBezTo>
                <a:cubicBezTo>
                  <a:pt x="111342" y="40955"/>
                  <a:pt x="108224" y="44073"/>
                  <a:pt x="104384" y="44073"/>
                </a:cubicBezTo>
                <a:cubicBezTo>
                  <a:pt x="100543" y="44073"/>
                  <a:pt x="97425" y="40955"/>
                  <a:pt x="97425" y="37114"/>
                </a:cubicBezTo>
                <a:close/>
                <a:moveTo>
                  <a:pt x="18557" y="83507"/>
                </a:moveTo>
                <a:cubicBezTo>
                  <a:pt x="8322" y="83507"/>
                  <a:pt x="0" y="91829"/>
                  <a:pt x="0" y="102064"/>
                </a:cubicBezTo>
                <a:lnTo>
                  <a:pt x="0" y="120621"/>
                </a:lnTo>
                <a:cubicBezTo>
                  <a:pt x="0" y="130856"/>
                  <a:pt x="8322" y="139178"/>
                  <a:pt x="18557" y="139178"/>
                </a:cubicBezTo>
                <a:lnTo>
                  <a:pt x="111342" y="139178"/>
                </a:lnTo>
                <a:cubicBezTo>
                  <a:pt x="121578" y="139178"/>
                  <a:pt x="129900" y="130856"/>
                  <a:pt x="129900" y="120621"/>
                </a:cubicBezTo>
                <a:lnTo>
                  <a:pt x="129900" y="102064"/>
                </a:lnTo>
                <a:cubicBezTo>
                  <a:pt x="129900" y="91829"/>
                  <a:pt x="121578" y="83507"/>
                  <a:pt x="111342" y="83507"/>
                </a:cubicBezTo>
                <a:lnTo>
                  <a:pt x="18557" y="83507"/>
                </a:lnTo>
                <a:close/>
                <a:moveTo>
                  <a:pt x="81187" y="104384"/>
                </a:moveTo>
                <a:cubicBezTo>
                  <a:pt x="85028" y="104384"/>
                  <a:pt x="88146" y="107502"/>
                  <a:pt x="88146" y="111342"/>
                </a:cubicBezTo>
                <a:cubicBezTo>
                  <a:pt x="88146" y="115183"/>
                  <a:pt x="85028" y="118301"/>
                  <a:pt x="81187" y="118301"/>
                </a:cubicBezTo>
                <a:cubicBezTo>
                  <a:pt x="77346" y="118301"/>
                  <a:pt x="74228" y="115183"/>
                  <a:pt x="74228" y="111342"/>
                </a:cubicBezTo>
                <a:cubicBezTo>
                  <a:pt x="74228" y="107502"/>
                  <a:pt x="77346" y="104384"/>
                  <a:pt x="81187" y="104384"/>
                </a:cubicBezTo>
                <a:close/>
                <a:moveTo>
                  <a:pt x="97425" y="111342"/>
                </a:moveTo>
                <a:cubicBezTo>
                  <a:pt x="97425" y="107502"/>
                  <a:pt x="100543" y="104384"/>
                  <a:pt x="104384" y="104384"/>
                </a:cubicBezTo>
                <a:cubicBezTo>
                  <a:pt x="108224" y="104384"/>
                  <a:pt x="111342" y="107502"/>
                  <a:pt x="111342" y="111342"/>
                </a:cubicBezTo>
                <a:cubicBezTo>
                  <a:pt x="111342" y="115183"/>
                  <a:pt x="108224" y="118301"/>
                  <a:pt x="104384" y="118301"/>
                </a:cubicBezTo>
                <a:cubicBezTo>
                  <a:pt x="100543" y="118301"/>
                  <a:pt x="97425" y="115183"/>
                  <a:pt x="97425" y="111342"/>
                </a:cubicBezTo>
                <a:close/>
              </a:path>
            </a:pathLst>
          </a:custGeom>
          <a:solidFill>
            <a:srgbClr val="FFFFFF"/>
          </a:solidFill>
          <a:ln/>
        </p:spPr>
      </p:sp>
      <p:sp>
        <p:nvSpPr>
          <p:cNvPr id="13" name="Text 10"/>
          <p:cNvSpPr/>
          <p:nvPr/>
        </p:nvSpPr>
        <p:spPr>
          <a:xfrm>
            <a:off x="1009505" y="2067259"/>
            <a:ext cx="742283" cy="259799"/>
          </a:xfrm>
          <a:prstGeom prst="rect">
            <a:avLst/>
          </a:prstGeom>
          <a:noFill/>
          <a:ln/>
        </p:spPr>
        <p:txBody>
          <a:bodyPr wrap="square" lIns="0" tIns="0" rIns="0" bIns="0" rtlCol="0" anchor="ctr"/>
          <a:lstStyle/>
          <a:p>
            <a:pPr>
              <a:lnSpc>
                <a:spcPct val="130000"/>
              </a:lnSpc>
            </a:pPr>
            <a:r>
              <a:rPr lang="en-US" sz="1315" b="1" dirty="0">
                <a:solidFill>
                  <a:schemeClr val="tx1">
                    <a:lumMod val="85000"/>
                    <a:lumOff val="15000"/>
                  </a:schemeClr>
                </a:solidFill>
                <a:latin typeface="MiSans" pitchFamily="34" charset="0"/>
                <a:ea typeface="MiSans" pitchFamily="34" charset="-122"/>
                <a:cs typeface="MiSans" pitchFamily="34" charset="-120"/>
              </a:rPr>
              <a:t>Backend</a:t>
            </a:r>
            <a:endParaRPr lang="en-US" sz="1600" dirty="0">
              <a:solidFill>
                <a:schemeClr val="tx1">
                  <a:lumMod val="85000"/>
                  <a:lumOff val="15000"/>
                </a:schemeClr>
              </a:solidFill>
            </a:endParaRPr>
          </a:p>
        </p:txBody>
      </p:sp>
      <p:sp>
        <p:nvSpPr>
          <p:cNvPr id="14" name="Shape 11"/>
          <p:cNvSpPr/>
          <p:nvPr/>
        </p:nvSpPr>
        <p:spPr>
          <a:xfrm>
            <a:off x="530732" y="2497783"/>
            <a:ext cx="675478" cy="267222"/>
          </a:xfrm>
          <a:custGeom>
            <a:avLst/>
            <a:gdLst/>
            <a:ahLst/>
            <a:cxnLst/>
            <a:rect l="l" t="t" r="r" b="b"/>
            <a:pathLst>
              <a:path w="675478" h="267222">
                <a:moveTo>
                  <a:pt x="74229" y="0"/>
                </a:moveTo>
                <a:lnTo>
                  <a:pt x="601249" y="0"/>
                </a:lnTo>
                <a:cubicBezTo>
                  <a:pt x="642217" y="0"/>
                  <a:pt x="675478" y="33261"/>
                  <a:pt x="675478" y="74229"/>
                </a:cubicBezTo>
                <a:lnTo>
                  <a:pt x="675478" y="192993"/>
                </a:lnTo>
                <a:cubicBezTo>
                  <a:pt x="675478" y="233961"/>
                  <a:pt x="642217" y="267222"/>
                  <a:pt x="601249" y="267222"/>
                </a:cubicBezTo>
                <a:lnTo>
                  <a:pt x="74229" y="267222"/>
                </a:lnTo>
                <a:cubicBezTo>
                  <a:pt x="33233" y="267222"/>
                  <a:pt x="0" y="233989"/>
                  <a:pt x="0" y="192993"/>
                </a:cubicBezTo>
                <a:lnTo>
                  <a:pt x="0" y="74229"/>
                </a:lnTo>
                <a:cubicBezTo>
                  <a:pt x="0" y="33233"/>
                  <a:pt x="33233" y="0"/>
                  <a:pt x="74229" y="0"/>
                </a:cubicBezTo>
                <a:close/>
              </a:path>
            </a:pathLst>
          </a:custGeom>
          <a:solidFill>
            <a:srgbClr val="5B9BD5">
              <a:alpha val="20000"/>
            </a:srgbClr>
          </a:solidFill>
          <a:ln w="10160">
            <a:solidFill>
              <a:srgbClr val="5B9BD5">
                <a:alpha val="30196"/>
              </a:srgbClr>
            </a:solidFill>
            <a:prstDash val="solid"/>
          </a:ln>
        </p:spPr>
      </p:sp>
      <p:sp>
        <p:nvSpPr>
          <p:cNvPr id="15" name="Text 12"/>
          <p:cNvSpPr/>
          <p:nvPr/>
        </p:nvSpPr>
        <p:spPr>
          <a:xfrm>
            <a:off x="527021" y="2494072"/>
            <a:ext cx="733005" cy="259799"/>
          </a:xfrm>
          <a:prstGeom prst="rect">
            <a:avLst/>
          </a:prstGeom>
          <a:noFill/>
          <a:ln/>
        </p:spPr>
        <p:txBody>
          <a:bodyPr wrap="square" lIns="111342" tIns="37114" rIns="111342" bIns="37114" rtlCol="0" anchor="ctr"/>
          <a:lstStyle/>
          <a:p>
            <a:pPr>
              <a:lnSpc>
                <a:spcPct val="120000"/>
              </a:lnSpc>
            </a:pPr>
            <a:r>
              <a:rPr lang="en-US" sz="1023" b="1" dirty="0">
                <a:solidFill>
                  <a:srgbClr val="5B9BD5"/>
                </a:solidFill>
                <a:latin typeface="MiSans" pitchFamily="34" charset="0"/>
                <a:ea typeface="MiSans" pitchFamily="34" charset="-122"/>
                <a:cs typeface="MiSans" pitchFamily="34" charset="-120"/>
              </a:rPr>
              <a:t>Node.js</a:t>
            </a:r>
            <a:endParaRPr lang="en-US" sz="1600" dirty="0"/>
          </a:p>
        </p:txBody>
      </p:sp>
      <p:sp>
        <p:nvSpPr>
          <p:cNvPr id="16" name="Shape 13"/>
          <p:cNvSpPr/>
          <p:nvPr/>
        </p:nvSpPr>
        <p:spPr>
          <a:xfrm>
            <a:off x="1285889" y="2497783"/>
            <a:ext cx="814656" cy="267222"/>
          </a:xfrm>
          <a:custGeom>
            <a:avLst/>
            <a:gdLst/>
            <a:ahLst/>
            <a:cxnLst/>
            <a:rect l="l" t="t" r="r" b="b"/>
            <a:pathLst>
              <a:path w="814656" h="267222">
                <a:moveTo>
                  <a:pt x="74229" y="0"/>
                </a:moveTo>
                <a:lnTo>
                  <a:pt x="740427" y="0"/>
                </a:lnTo>
                <a:cubicBezTo>
                  <a:pt x="781395" y="0"/>
                  <a:pt x="814656" y="33261"/>
                  <a:pt x="814656" y="74229"/>
                </a:cubicBezTo>
                <a:lnTo>
                  <a:pt x="814656" y="192993"/>
                </a:lnTo>
                <a:cubicBezTo>
                  <a:pt x="814656" y="233961"/>
                  <a:pt x="781395" y="267222"/>
                  <a:pt x="740427" y="267222"/>
                </a:cubicBezTo>
                <a:lnTo>
                  <a:pt x="74229" y="267222"/>
                </a:lnTo>
                <a:cubicBezTo>
                  <a:pt x="33233" y="267222"/>
                  <a:pt x="0" y="233989"/>
                  <a:pt x="0" y="192993"/>
                </a:cubicBezTo>
                <a:lnTo>
                  <a:pt x="0" y="74229"/>
                </a:lnTo>
                <a:cubicBezTo>
                  <a:pt x="0" y="33233"/>
                  <a:pt x="33233" y="0"/>
                  <a:pt x="74229" y="0"/>
                </a:cubicBezTo>
                <a:close/>
              </a:path>
            </a:pathLst>
          </a:custGeom>
          <a:solidFill>
            <a:srgbClr val="5B9BD5">
              <a:alpha val="20000"/>
            </a:srgbClr>
          </a:solidFill>
          <a:ln w="10160">
            <a:solidFill>
              <a:srgbClr val="5B9BD5">
                <a:alpha val="30196"/>
              </a:srgbClr>
            </a:solidFill>
            <a:prstDash val="solid"/>
          </a:ln>
        </p:spPr>
      </p:sp>
      <p:sp>
        <p:nvSpPr>
          <p:cNvPr id="17" name="Text 14"/>
          <p:cNvSpPr/>
          <p:nvPr/>
        </p:nvSpPr>
        <p:spPr>
          <a:xfrm>
            <a:off x="1282178" y="2494072"/>
            <a:ext cx="872183" cy="259799"/>
          </a:xfrm>
          <a:prstGeom prst="rect">
            <a:avLst/>
          </a:prstGeom>
          <a:noFill/>
          <a:ln/>
        </p:spPr>
        <p:txBody>
          <a:bodyPr wrap="square" lIns="111342" tIns="37114" rIns="111342" bIns="37114" rtlCol="0" anchor="ctr"/>
          <a:lstStyle/>
          <a:p>
            <a:pPr>
              <a:lnSpc>
                <a:spcPct val="120000"/>
              </a:lnSpc>
            </a:pPr>
            <a:r>
              <a:rPr lang="en-US" sz="1023" b="1" dirty="0">
                <a:solidFill>
                  <a:srgbClr val="5B9BD5"/>
                </a:solidFill>
                <a:latin typeface="MiSans" pitchFamily="34" charset="0"/>
                <a:ea typeface="MiSans" pitchFamily="34" charset="-122"/>
                <a:cs typeface="MiSans" pitchFamily="34" charset="-120"/>
              </a:rPr>
              <a:t>Express.js</a:t>
            </a:r>
            <a:endParaRPr lang="en-US" sz="1600" dirty="0"/>
          </a:p>
        </p:txBody>
      </p:sp>
      <p:sp>
        <p:nvSpPr>
          <p:cNvPr id="18" name="Shape 15"/>
          <p:cNvSpPr/>
          <p:nvPr/>
        </p:nvSpPr>
        <p:spPr>
          <a:xfrm>
            <a:off x="2181732" y="2497783"/>
            <a:ext cx="870327" cy="267222"/>
          </a:xfrm>
          <a:custGeom>
            <a:avLst/>
            <a:gdLst/>
            <a:ahLst/>
            <a:cxnLst/>
            <a:rect l="l" t="t" r="r" b="b"/>
            <a:pathLst>
              <a:path w="870327" h="267222">
                <a:moveTo>
                  <a:pt x="74229" y="0"/>
                </a:moveTo>
                <a:lnTo>
                  <a:pt x="796098" y="0"/>
                </a:lnTo>
                <a:cubicBezTo>
                  <a:pt x="837066" y="0"/>
                  <a:pt x="870327" y="33261"/>
                  <a:pt x="870327" y="74229"/>
                </a:cubicBezTo>
                <a:lnTo>
                  <a:pt x="870327" y="192993"/>
                </a:lnTo>
                <a:cubicBezTo>
                  <a:pt x="870327" y="233961"/>
                  <a:pt x="837066" y="267222"/>
                  <a:pt x="796098" y="267222"/>
                </a:cubicBezTo>
                <a:lnTo>
                  <a:pt x="74229" y="267222"/>
                </a:lnTo>
                <a:cubicBezTo>
                  <a:pt x="33233" y="267222"/>
                  <a:pt x="0" y="233989"/>
                  <a:pt x="0" y="192993"/>
                </a:cubicBezTo>
                <a:lnTo>
                  <a:pt x="0" y="74229"/>
                </a:lnTo>
                <a:cubicBezTo>
                  <a:pt x="0" y="33233"/>
                  <a:pt x="33233" y="0"/>
                  <a:pt x="74229" y="0"/>
                </a:cubicBezTo>
                <a:close/>
              </a:path>
            </a:pathLst>
          </a:custGeom>
          <a:solidFill>
            <a:srgbClr val="5B9BD5">
              <a:alpha val="20000"/>
            </a:srgbClr>
          </a:solidFill>
          <a:ln w="10160">
            <a:solidFill>
              <a:srgbClr val="5B9BD5">
                <a:alpha val="30196"/>
              </a:srgbClr>
            </a:solidFill>
            <a:prstDash val="solid"/>
          </a:ln>
        </p:spPr>
      </p:sp>
      <p:sp>
        <p:nvSpPr>
          <p:cNvPr id="19" name="Text 16"/>
          <p:cNvSpPr/>
          <p:nvPr/>
        </p:nvSpPr>
        <p:spPr>
          <a:xfrm>
            <a:off x="2178021" y="2494072"/>
            <a:ext cx="927854" cy="259799"/>
          </a:xfrm>
          <a:prstGeom prst="rect">
            <a:avLst/>
          </a:prstGeom>
          <a:noFill/>
          <a:ln/>
        </p:spPr>
        <p:txBody>
          <a:bodyPr wrap="square" lIns="111342" tIns="37114" rIns="111342" bIns="37114" rtlCol="0" anchor="ctr"/>
          <a:lstStyle/>
          <a:p>
            <a:pPr>
              <a:lnSpc>
                <a:spcPct val="120000"/>
              </a:lnSpc>
            </a:pPr>
            <a:r>
              <a:rPr lang="en-US" sz="1023" b="1" dirty="0">
                <a:solidFill>
                  <a:srgbClr val="5B9BD5"/>
                </a:solidFill>
                <a:latin typeface="MiSans" pitchFamily="34" charset="0"/>
                <a:ea typeface="MiSans" pitchFamily="34" charset="-122"/>
                <a:cs typeface="MiSans" pitchFamily="34" charset="-120"/>
              </a:rPr>
              <a:t>TypeScript</a:t>
            </a:r>
            <a:endParaRPr lang="en-US" sz="1600" dirty="0"/>
          </a:p>
        </p:txBody>
      </p:sp>
      <p:sp>
        <p:nvSpPr>
          <p:cNvPr id="20" name="Shape 17"/>
          <p:cNvSpPr/>
          <p:nvPr/>
        </p:nvSpPr>
        <p:spPr>
          <a:xfrm>
            <a:off x="3137074" y="2497783"/>
            <a:ext cx="842491" cy="267222"/>
          </a:xfrm>
          <a:custGeom>
            <a:avLst/>
            <a:gdLst/>
            <a:ahLst/>
            <a:cxnLst/>
            <a:rect l="l" t="t" r="r" b="b"/>
            <a:pathLst>
              <a:path w="842491" h="267222">
                <a:moveTo>
                  <a:pt x="74229" y="0"/>
                </a:moveTo>
                <a:lnTo>
                  <a:pt x="768262" y="0"/>
                </a:lnTo>
                <a:cubicBezTo>
                  <a:pt x="809230" y="0"/>
                  <a:pt x="842491" y="33261"/>
                  <a:pt x="842491" y="74229"/>
                </a:cubicBezTo>
                <a:lnTo>
                  <a:pt x="842491" y="192993"/>
                </a:lnTo>
                <a:cubicBezTo>
                  <a:pt x="842491" y="233961"/>
                  <a:pt x="809230" y="267222"/>
                  <a:pt x="768262" y="267222"/>
                </a:cubicBezTo>
                <a:lnTo>
                  <a:pt x="74229" y="267222"/>
                </a:lnTo>
                <a:cubicBezTo>
                  <a:pt x="33233" y="267222"/>
                  <a:pt x="0" y="233989"/>
                  <a:pt x="0" y="192993"/>
                </a:cubicBezTo>
                <a:lnTo>
                  <a:pt x="0" y="74229"/>
                </a:lnTo>
                <a:cubicBezTo>
                  <a:pt x="0" y="33233"/>
                  <a:pt x="33233" y="0"/>
                  <a:pt x="74229" y="0"/>
                </a:cubicBezTo>
                <a:close/>
              </a:path>
            </a:pathLst>
          </a:custGeom>
          <a:solidFill>
            <a:srgbClr val="5B9BD5">
              <a:alpha val="20000"/>
            </a:srgbClr>
          </a:solidFill>
          <a:ln w="10160">
            <a:solidFill>
              <a:srgbClr val="5B9BD5">
                <a:alpha val="30196"/>
              </a:srgbClr>
            </a:solidFill>
            <a:prstDash val="solid"/>
          </a:ln>
        </p:spPr>
      </p:sp>
      <p:sp>
        <p:nvSpPr>
          <p:cNvPr id="21" name="Text 18"/>
          <p:cNvSpPr/>
          <p:nvPr/>
        </p:nvSpPr>
        <p:spPr>
          <a:xfrm>
            <a:off x="3133363" y="2494072"/>
            <a:ext cx="900018" cy="259799"/>
          </a:xfrm>
          <a:prstGeom prst="rect">
            <a:avLst/>
          </a:prstGeom>
          <a:noFill/>
          <a:ln/>
        </p:spPr>
        <p:txBody>
          <a:bodyPr wrap="square" lIns="111342" tIns="37114" rIns="111342" bIns="37114" rtlCol="0" anchor="ctr"/>
          <a:lstStyle/>
          <a:p>
            <a:pPr>
              <a:lnSpc>
                <a:spcPct val="120000"/>
              </a:lnSpc>
            </a:pPr>
            <a:r>
              <a:rPr lang="en-US" sz="1023" b="1" dirty="0">
                <a:solidFill>
                  <a:srgbClr val="5B9BD5"/>
                </a:solidFill>
                <a:latin typeface="MiSans" pitchFamily="34" charset="0"/>
                <a:ea typeface="MiSans" pitchFamily="34" charset="-122"/>
                <a:cs typeface="MiSans" pitchFamily="34" charset="-120"/>
              </a:rPr>
              <a:t>JavaScript</a:t>
            </a:r>
            <a:endParaRPr lang="en-US" sz="1600" dirty="0"/>
          </a:p>
        </p:txBody>
      </p:sp>
      <p:sp>
        <p:nvSpPr>
          <p:cNvPr id="22" name="Shape 19"/>
          <p:cNvSpPr/>
          <p:nvPr/>
        </p:nvSpPr>
        <p:spPr>
          <a:xfrm>
            <a:off x="4064116" y="2497783"/>
            <a:ext cx="990948" cy="267222"/>
          </a:xfrm>
          <a:custGeom>
            <a:avLst/>
            <a:gdLst/>
            <a:ahLst/>
            <a:cxnLst/>
            <a:rect l="l" t="t" r="r" b="b"/>
            <a:pathLst>
              <a:path w="990948" h="267222">
                <a:moveTo>
                  <a:pt x="74229" y="0"/>
                </a:moveTo>
                <a:lnTo>
                  <a:pt x="916719" y="0"/>
                </a:lnTo>
                <a:cubicBezTo>
                  <a:pt x="957715" y="0"/>
                  <a:pt x="990948" y="33233"/>
                  <a:pt x="990948" y="74229"/>
                </a:cubicBezTo>
                <a:lnTo>
                  <a:pt x="990948" y="192993"/>
                </a:lnTo>
                <a:cubicBezTo>
                  <a:pt x="990948" y="233989"/>
                  <a:pt x="957715" y="267222"/>
                  <a:pt x="916719" y="267222"/>
                </a:cubicBezTo>
                <a:lnTo>
                  <a:pt x="74229" y="267222"/>
                </a:lnTo>
                <a:cubicBezTo>
                  <a:pt x="33233" y="267222"/>
                  <a:pt x="0" y="233989"/>
                  <a:pt x="0" y="192993"/>
                </a:cubicBezTo>
                <a:lnTo>
                  <a:pt x="0" y="74229"/>
                </a:lnTo>
                <a:cubicBezTo>
                  <a:pt x="0" y="33233"/>
                  <a:pt x="33233" y="0"/>
                  <a:pt x="74229" y="0"/>
                </a:cubicBezTo>
                <a:close/>
              </a:path>
            </a:pathLst>
          </a:custGeom>
          <a:solidFill>
            <a:srgbClr val="5B9BD5">
              <a:alpha val="20000"/>
            </a:srgbClr>
          </a:solidFill>
          <a:ln w="10160">
            <a:solidFill>
              <a:srgbClr val="5B9BD5">
                <a:alpha val="30196"/>
              </a:srgbClr>
            </a:solidFill>
            <a:prstDash val="solid"/>
          </a:ln>
        </p:spPr>
      </p:sp>
      <p:sp>
        <p:nvSpPr>
          <p:cNvPr id="23" name="Text 20"/>
          <p:cNvSpPr/>
          <p:nvPr/>
        </p:nvSpPr>
        <p:spPr>
          <a:xfrm>
            <a:off x="4060405" y="2494072"/>
            <a:ext cx="1048475" cy="259799"/>
          </a:xfrm>
          <a:prstGeom prst="rect">
            <a:avLst/>
          </a:prstGeom>
          <a:noFill/>
          <a:ln/>
        </p:spPr>
        <p:txBody>
          <a:bodyPr wrap="square" lIns="111342" tIns="37114" rIns="111342" bIns="37114" rtlCol="0" anchor="ctr"/>
          <a:lstStyle/>
          <a:p>
            <a:pPr>
              <a:lnSpc>
                <a:spcPct val="120000"/>
              </a:lnSpc>
            </a:pPr>
            <a:r>
              <a:rPr lang="en-US" sz="1023" b="1" dirty="0">
                <a:solidFill>
                  <a:srgbClr val="5B9BD5"/>
                </a:solidFill>
                <a:latin typeface="MiSans" pitchFamily="34" charset="0"/>
                <a:ea typeface="MiSans" pitchFamily="34" charset="-122"/>
                <a:cs typeface="MiSans" pitchFamily="34" charset="-120"/>
              </a:rPr>
              <a:t>Microservice</a:t>
            </a:r>
            <a:endParaRPr lang="en-US" sz="1600" dirty="0"/>
          </a:p>
        </p:txBody>
      </p:sp>
      <p:sp>
        <p:nvSpPr>
          <p:cNvPr id="24" name="Shape 21"/>
          <p:cNvSpPr/>
          <p:nvPr/>
        </p:nvSpPr>
        <p:spPr>
          <a:xfrm>
            <a:off x="374853" y="3039649"/>
            <a:ext cx="5602382" cy="1287861"/>
          </a:xfrm>
          <a:custGeom>
            <a:avLst/>
            <a:gdLst/>
            <a:ahLst/>
            <a:cxnLst/>
            <a:rect l="l" t="t" r="r" b="b"/>
            <a:pathLst>
              <a:path w="5602382" h="1287861">
                <a:moveTo>
                  <a:pt x="148452" y="0"/>
                </a:moveTo>
                <a:lnTo>
                  <a:pt x="5453930" y="0"/>
                </a:lnTo>
                <a:cubicBezTo>
                  <a:pt x="5535918" y="0"/>
                  <a:pt x="5602382" y="66464"/>
                  <a:pt x="5602382" y="148452"/>
                </a:cubicBezTo>
                <a:lnTo>
                  <a:pt x="5602382" y="1139409"/>
                </a:lnTo>
                <a:cubicBezTo>
                  <a:pt x="5602382" y="1221397"/>
                  <a:pt x="5535918" y="1287861"/>
                  <a:pt x="5453930" y="1287861"/>
                </a:cubicBezTo>
                <a:lnTo>
                  <a:pt x="148452" y="1287861"/>
                </a:lnTo>
                <a:cubicBezTo>
                  <a:pt x="66519" y="1287861"/>
                  <a:pt x="0" y="1221342"/>
                  <a:pt x="0" y="1139409"/>
                </a:cubicBezTo>
                <a:lnTo>
                  <a:pt x="0" y="148452"/>
                </a:lnTo>
                <a:cubicBezTo>
                  <a:pt x="0" y="66464"/>
                  <a:pt x="66464" y="0"/>
                  <a:pt x="148452" y="0"/>
                </a:cubicBezTo>
                <a:close/>
              </a:path>
            </a:pathLst>
          </a:custGeom>
          <a:solidFill>
            <a:schemeClr val="accent5">
              <a:lumMod val="60000"/>
              <a:lumOff val="40000"/>
              <a:alpha val="60000"/>
            </a:schemeClr>
          </a:solidFill>
          <a:ln w="10160">
            <a:solidFill>
              <a:srgbClr val="FFFFFF">
                <a:alpha val="10196"/>
              </a:srgbClr>
            </a:solidFill>
            <a:prstDash val="solid"/>
          </a:ln>
        </p:spPr>
      </p:sp>
      <p:sp>
        <p:nvSpPr>
          <p:cNvPr id="25" name="Shape 22"/>
          <p:cNvSpPr/>
          <p:nvPr/>
        </p:nvSpPr>
        <p:spPr>
          <a:xfrm>
            <a:off x="527021" y="3191820"/>
            <a:ext cx="371142" cy="371142"/>
          </a:xfrm>
          <a:custGeom>
            <a:avLst/>
            <a:gdLst/>
            <a:ahLst/>
            <a:cxnLst/>
            <a:rect l="l" t="t" r="r" b="b"/>
            <a:pathLst>
              <a:path w="371142" h="371142">
                <a:moveTo>
                  <a:pt x="111342" y="0"/>
                </a:moveTo>
                <a:lnTo>
                  <a:pt x="259799" y="0"/>
                </a:lnTo>
                <a:cubicBezTo>
                  <a:pt x="321292" y="0"/>
                  <a:pt x="371142" y="49850"/>
                  <a:pt x="371142" y="111342"/>
                </a:cubicBezTo>
                <a:lnTo>
                  <a:pt x="371142" y="259799"/>
                </a:lnTo>
                <a:cubicBezTo>
                  <a:pt x="371142" y="321292"/>
                  <a:pt x="321292" y="371142"/>
                  <a:pt x="259799" y="371142"/>
                </a:cubicBezTo>
                <a:lnTo>
                  <a:pt x="111342" y="371142"/>
                </a:lnTo>
                <a:cubicBezTo>
                  <a:pt x="49850" y="371142"/>
                  <a:pt x="0" y="321292"/>
                  <a:pt x="0" y="259799"/>
                </a:cubicBezTo>
                <a:lnTo>
                  <a:pt x="0" y="111342"/>
                </a:lnTo>
                <a:cubicBezTo>
                  <a:pt x="0" y="49850"/>
                  <a:pt x="49850" y="0"/>
                  <a:pt x="111342" y="0"/>
                </a:cubicBezTo>
                <a:close/>
              </a:path>
            </a:pathLst>
          </a:custGeom>
          <a:solidFill>
            <a:srgbClr val="4472C4"/>
          </a:solidFill>
          <a:ln/>
        </p:spPr>
      </p:sp>
      <p:sp>
        <p:nvSpPr>
          <p:cNvPr id="26" name="Shape 23"/>
          <p:cNvSpPr/>
          <p:nvPr/>
        </p:nvSpPr>
        <p:spPr>
          <a:xfrm>
            <a:off x="638363" y="3303162"/>
            <a:ext cx="148457" cy="148457"/>
          </a:xfrm>
          <a:custGeom>
            <a:avLst/>
            <a:gdLst/>
            <a:ahLst/>
            <a:cxnLst/>
            <a:rect l="l" t="t" r="r" b="b"/>
            <a:pathLst>
              <a:path w="148457" h="148457">
                <a:moveTo>
                  <a:pt x="145731" y="43667"/>
                </a:moveTo>
                <a:lnTo>
                  <a:pt x="117895" y="71503"/>
                </a:lnTo>
                <a:cubicBezTo>
                  <a:pt x="115228" y="74170"/>
                  <a:pt x="111255" y="74953"/>
                  <a:pt x="107776" y="73503"/>
                </a:cubicBezTo>
                <a:cubicBezTo>
                  <a:pt x="104297" y="72054"/>
                  <a:pt x="102064" y="68690"/>
                  <a:pt x="102064" y="64950"/>
                </a:cubicBezTo>
                <a:lnTo>
                  <a:pt x="102064" y="46393"/>
                </a:lnTo>
                <a:lnTo>
                  <a:pt x="9279" y="46393"/>
                </a:lnTo>
                <a:cubicBezTo>
                  <a:pt x="4146" y="46393"/>
                  <a:pt x="0" y="42246"/>
                  <a:pt x="0" y="37114"/>
                </a:cubicBezTo>
                <a:cubicBezTo>
                  <a:pt x="0" y="31982"/>
                  <a:pt x="4146" y="27836"/>
                  <a:pt x="9279" y="27836"/>
                </a:cubicBezTo>
                <a:lnTo>
                  <a:pt x="102064" y="27836"/>
                </a:lnTo>
                <a:lnTo>
                  <a:pt x="102064" y="9279"/>
                </a:lnTo>
                <a:cubicBezTo>
                  <a:pt x="102064" y="5538"/>
                  <a:pt x="104326" y="2146"/>
                  <a:pt x="107805" y="696"/>
                </a:cubicBezTo>
                <a:cubicBezTo>
                  <a:pt x="111284" y="-754"/>
                  <a:pt x="115257" y="58"/>
                  <a:pt x="117924" y="2697"/>
                </a:cubicBezTo>
                <a:lnTo>
                  <a:pt x="145760" y="30532"/>
                </a:lnTo>
                <a:cubicBezTo>
                  <a:pt x="149384" y="34157"/>
                  <a:pt x="149384" y="40043"/>
                  <a:pt x="145760" y="43667"/>
                </a:cubicBezTo>
                <a:close/>
                <a:moveTo>
                  <a:pt x="30532" y="145731"/>
                </a:moveTo>
                <a:lnTo>
                  <a:pt x="2697" y="117895"/>
                </a:lnTo>
                <a:cubicBezTo>
                  <a:pt x="-928" y="114271"/>
                  <a:pt x="-928" y="108385"/>
                  <a:pt x="2697" y="104761"/>
                </a:cubicBezTo>
                <a:lnTo>
                  <a:pt x="30532" y="76925"/>
                </a:lnTo>
                <a:cubicBezTo>
                  <a:pt x="33200" y="74257"/>
                  <a:pt x="37172" y="73474"/>
                  <a:pt x="40652" y="74924"/>
                </a:cubicBezTo>
                <a:cubicBezTo>
                  <a:pt x="44131" y="76374"/>
                  <a:pt x="46393" y="79766"/>
                  <a:pt x="46393" y="83507"/>
                </a:cubicBezTo>
                <a:lnTo>
                  <a:pt x="46393" y="102064"/>
                </a:lnTo>
                <a:lnTo>
                  <a:pt x="139178" y="102064"/>
                </a:lnTo>
                <a:cubicBezTo>
                  <a:pt x="144310" y="102064"/>
                  <a:pt x="148457" y="106210"/>
                  <a:pt x="148457" y="111342"/>
                </a:cubicBezTo>
                <a:cubicBezTo>
                  <a:pt x="148457" y="116475"/>
                  <a:pt x="144310" y="120621"/>
                  <a:pt x="139178" y="120621"/>
                </a:cubicBezTo>
                <a:lnTo>
                  <a:pt x="46393" y="120621"/>
                </a:lnTo>
                <a:lnTo>
                  <a:pt x="46393" y="139178"/>
                </a:lnTo>
                <a:cubicBezTo>
                  <a:pt x="46393" y="142918"/>
                  <a:pt x="44131" y="146311"/>
                  <a:pt x="40652" y="147761"/>
                </a:cubicBezTo>
                <a:cubicBezTo>
                  <a:pt x="37172" y="149211"/>
                  <a:pt x="33200" y="148399"/>
                  <a:pt x="30532" y="145760"/>
                </a:cubicBezTo>
                <a:close/>
              </a:path>
            </a:pathLst>
          </a:custGeom>
          <a:solidFill>
            <a:srgbClr val="FFFFFF"/>
          </a:solidFill>
          <a:ln/>
        </p:spPr>
      </p:sp>
      <p:sp>
        <p:nvSpPr>
          <p:cNvPr id="27" name="Text 24"/>
          <p:cNvSpPr/>
          <p:nvPr/>
        </p:nvSpPr>
        <p:spPr>
          <a:xfrm>
            <a:off x="1009505" y="3247491"/>
            <a:ext cx="1215489" cy="259799"/>
          </a:xfrm>
          <a:prstGeom prst="rect">
            <a:avLst/>
          </a:prstGeom>
          <a:noFill/>
          <a:ln/>
        </p:spPr>
        <p:txBody>
          <a:bodyPr wrap="square" lIns="0" tIns="0" rIns="0" bIns="0" rtlCol="0" anchor="ctr"/>
          <a:lstStyle/>
          <a:p>
            <a:pPr>
              <a:lnSpc>
                <a:spcPct val="130000"/>
              </a:lnSpc>
            </a:pPr>
            <a:r>
              <a:rPr lang="en-US" sz="1315" b="1" dirty="0">
                <a:solidFill>
                  <a:schemeClr val="tx1">
                    <a:lumMod val="85000"/>
                    <a:lumOff val="15000"/>
                  </a:schemeClr>
                </a:solidFill>
                <a:latin typeface="MiSans" pitchFamily="34" charset="0"/>
                <a:ea typeface="MiSans" pitchFamily="34" charset="-122"/>
                <a:cs typeface="MiSans" pitchFamily="34" charset="-120"/>
              </a:rPr>
              <a:t>API &amp; Realtime</a:t>
            </a:r>
            <a:endParaRPr lang="en-US" sz="1600" dirty="0">
              <a:solidFill>
                <a:schemeClr val="tx1">
                  <a:lumMod val="85000"/>
                  <a:lumOff val="15000"/>
                </a:schemeClr>
              </a:solidFill>
            </a:endParaRPr>
          </a:p>
        </p:txBody>
      </p:sp>
      <p:sp>
        <p:nvSpPr>
          <p:cNvPr id="28" name="Shape 25"/>
          <p:cNvSpPr/>
          <p:nvPr/>
        </p:nvSpPr>
        <p:spPr>
          <a:xfrm>
            <a:off x="530732" y="3678015"/>
            <a:ext cx="981669" cy="267222"/>
          </a:xfrm>
          <a:custGeom>
            <a:avLst/>
            <a:gdLst/>
            <a:ahLst/>
            <a:cxnLst/>
            <a:rect l="l" t="t" r="r" b="b"/>
            <a:pathLst>
              <a:path w="981669" h="267222">
                <a:moveTo>
                  <a:pt x="74229" y="0"/>
                </a:moveTo>
                <a:lnTo>
                  <a:pt x="907441" y="0"/>
                </a:lnTo>
                <a:cubicBezTo>
                  <a:pt x="948436" y="0"/>
                  <a:pt x="981669" y="33233"/>
                  <a:pt x="981669" y="74229"/>
                </a:cubicBezTo>
                <a:lnTo>
                  <a:pt x="981669" y="192993"/>
                </a:lnTo>
                <a:cubicBezTo>
                  <a:pt x="981669" y="233989"/>
                  <a:pt x="948436" y="267222"/>
                  <a:pt x="907441" y="267222"/>
                </a:cubicBezTo>
                <a:lnTo>
                  <a:pt x="74229" y="267222"/>
                </a:lnTo>
                <a:cubicBezTo>
                  <a:pt x="33233" y="267222"/>
                  <a:pt x="0" y="233989"/>
                  <a:pt x="0" y="192993"/>
                </a:cubicBezTo>
                <a:lnTo>
                  <a:pt x="0" y="74229"/>
                </a:lnTo>
                <a:cubicBezTo>
                  <a:pt x="0" y="33233"/>
                  <a:pt x="33233" y="0"/>
                  <a:pt x="74229" y="0"/>
                </a:cubicBezTo>
                <a:close/>
              </a:path>
            </a:pathLst>
          </a:custGeom>
          <a:solidFill>
            <a:srgbClr val="4472C4">
              <a:alpha val="20000"/>
            </a:srgbClr>
          </a:solidFill>
          <a:ln w="10160">
            <a:solidFill>
              <a:srgbClr val="4472C4">
                <a:alpha val="30196"/>
              </a:srgbClr>
            </a:solidFill>
            <a:prstDash val="solid"/>
          </a:ln>
        </p:spPr>
      </p:sp>
      <p:sp>
        <p:nvSpPr>
          <p:cNvPr id="29" name="Text 26"/>
          <p:cNvSpPr/>
          <p:nvPr/>
        </p:nvSpPr>
        <p:spPr>
          <a:xfrm>
            <a:off x="527021" y="3674304"/>
            <a:ext cx="1039196" cy="259799"/>
          </a:xfrm>
          <a:prstGeom prst="rect">
            <a:avLst/>
          </a:prstGeom>
          <a:noFill/>
          <a:ln/>
        </p:spPr>
        <p:txBody>
          <a:bodyPr wrap="square" lIns="111342" tIns="37114" rIns="111342" bIns="37114" rtlCol="0" anchor="ctr"/>
          <a:lstStyle/>
          <a:p>
            <a:pPr>
              <a:lnSpc>
                <a:spcPct val="120000"/>
              </a:lnSpc>
            </a:pPr>
            <a:r>
              <a:rPr lang="en-US" sz="1023" b="1" dirty="0">
                <a:solidFill>
                  <a:srgbClr val="4472C4"/>
                </a:solidFill>
                <a:latin typeface="MiSans" pitchFamily="34" charset="0"/>
                <a:ea typeface="MiSans" pitchFamily="34" charset="-122"/>
                <a:cs typeface="MiSans" pitchFamily="34" charset="-120"/>
              </a:rPr>
              <a:t>API Gateway</a:t>
            </a:r>
            <a:endParaRPr lang="en-US" sz="1600" dirty="0"/>
          </a:p>
        </p:txBody>
      </p:sp>
      <p:sp>
        <p:nvSpPr>
          <p:cNvPr id="30" name="Shape 27"/>
          <p:cNvSpPr/>
          <p:nvPr/>
        </p:nvSpPr>
        <p:spPr>
          <a:xfrm>
            <a:off x="1596953" y="3678015"/>
            <a:ext cx="796099" cy="267222"/>
          </a:xfrm>
          <a:custGeom>
            <a:avLst/>
            <a:gdLst/>
            <a:ahLst/>
            <a:cxnLst/>
            <a:rect l="l" t="t" r="r" b="b"/>
            <a:pathLst>
              <a:path w="796099" h="267222">
                <a:moveTo>
                  <a:pt x="74229" y="0"/>
                </a:moveTo>
                <a:lnTo>
                  <a:pt x="721870" y="0"/>
                </a:lnTo>
                <a:cubicBezTo>
                  <a:pt x="762838" y="0"/>
                  <a:pt x="796099" y="33261"/>
                  <a:pt x="796099" y="74229"/>
                </a:cubicBezTo>
                <a:lnTo>
                  <a:pt x="796099" y="192993"/>
                </a:lnTo>
                <a:cubicBezTo>
                  <a:pt x="796099" y="233961"/>
                  <a:pt x="762838" y="267222"/>
                  <a:pt x="721870" y="267222"/>
                </a:cubicBezTo>
                <a:lnTo>
                  <a:pt x="74229" y="267222"/>
                </a:lnTo>
                <a:cubicBezTo>
                  <a:pt x="33233" y="267222"/>
                  <a:pt x="0" y="233989"/>
                  <a:pt x="0" y="192993"/>
                </a:cubicBezTo>
                <a:lnTo>
                  <a:pt x="0" y="74229"/>
                </a:lnTo>
                <a:cubicBezTo>
                  <a:pt x="0" y="33233"/>
                  <a:pt x="33233" y="0"/>
                  <a:pt x="74229" y="0"/>
                </a:cubicBezTo>
                <a:close/>
              </a:path>
            </a:pathLst>
          </a:custGeom>
          <a:solidFill>
            <a:srgbClr val="4472C4">
              <a:alpha val="20000"/>
            </a:srgbClr>
          </a:solidFill>
          <a:ln w="10160">
            <a:solidFill>
              <a:srgbClr val="4472C4">
                <a:alpha val="30196"/>
              </a:srgbClr>
            </a:solidFill>
            <a:prstDash val="solid"/>
          </a:ln>
        </p:spPr>
      </p:sp>
      <p:sp>
        <p:nvSpPr>
          <p:cNvPr id="31" name="Text 28"/>
          <p:cNvSpPr/>
          <p:nvPr/>
        </p:nvSpPr>
        <p:spPr>
          <a:xfrm>
            <a:off x="1593241" y="3674304"/>
            <a:ext cx="853626" cy="259799"/>
          </a:xfrm>
          <a:prstGeom prst="rect">
            <a:avLst/>
          </a:prstGeom>
          <a:noFill/>
          <a:ln/>
        </p:spPr>
        <p:txBody>
          <a:bodyPr wrap="square" lIns="111342" tIns="37114" rIns="111342" bIns="37114" rtlCol="0" anchor="ctr"/>
          <a:lstStyle/>
          <a:p>
            <a:pPr>
              <a:lnSpc>
                <a:spcPct val="120000"/>
              </a:lnSpc>
            </a:pPr>
            <a:r>
              <a:rPr lang="en-US" sz="1023" b="1" dirty="0">
                <a:solidFill>
                  <a:srgbClr val="4472C4"/>
                </a:solidFill>
                <a:latin typeface="MiSans" pitchFamily="34" charset="0"/>
                <a:ea typeface="MiSans" pitchFamily="34" charset="-122"/>
                <a:cs typeface="MiSans" pitchFamily="34" charset="-120"/>
              </a:rPr>
              <a:t>Socket.IO</a:t>
            </a:r>
            <a:endParaRPr lang="en-US" sz="1600" dirty="0"/>
          </a:p>
        </p:txBody>
      </p:sp>
      <p:sp>
        <p:nvSpPr>
          <p:cNvPr id="32" name="Shape 29"/>
          <p:cNvSpPr/>
          <p:nvPr/>
        </p:nvSpPr>
        <p:spPr>
          <a:xfrm>
            <a:off x="2476674" y="3678015"/>
            <a:ext cx="1408482" cy="267222"/>
          </a:xfrm>
          <a:custGeom>
            <a:avLst/>
            <a:gdLst/>
            <a:ahLst/>
            <a:cxnLst/>
            <a:rect l="l" t="t" r="r" b="b"/>
            <a:pathLst>
              <a:path w="1408482" h="267222">
                <a:moveTo>
                  <a:pt x="74229" y="0"/>
                </a:moveTo>
                <a:lnTo>
                  <a:pt x="1334253" y="0"/>
                </a:lnTo>
                <a:cubicBezTo>
                  <a:pt x="1375249" y="0"/>
                  <a:pt x="1408482" y="33233"/>
                  <a:pt x="1408482" y="74229"/>
                </a:cubicBezTo>
                <a:lnTo>
                  <a:pt x="1408482" y="192993"/>
                </a:lnTo>
                <a:cubicBezTo>
                  <a:pt x="1408482" y="233989"/>
                  <a:pt x="1375249" y="267222"/>
                  <a:pt x="1334253" y="267222"/>
                </a:cubicBezTo>
                <a:lnTo>
                  <a:pt x="74229" y="267222"/>
                </a:lnTo>
                <a:cubicBezTo>
                  <a:pt x="33233" y="267222"/>
                  <a:pt x="0" y="233989"/>
                  <a:pt x="0" y="192993"/>
                </a:cubicBezTo>
                <a:lnTo>
                  <a:pt x="0" y="74229"/>
                </a:lnTo>
                <a:cubicBezTo>
                  <a:pt x="0" y="33233"/>
                  <a:pt x="33233" y="0"/>
                  <a:pt x="74229" y="0"/>
                </a:cubicBezTo>
                <a:close/>
              </a:path>
            </a:pathLst>
          </a:custGeom>
          <a:solidFill>
            <a:srgbClr val="4472C4">
              <a:alpha val="20000"/>
            </a:srgbClr>
          </a:solidFill>
          <a:ln w="10160">
            <a:solidFill>
              <a:srgbClr val="4472C4">
                <a:alpha val="30196"/>
              </a:srgbClr>
            </a:solidFill>
            <a:prstDash val="solid"/>
          </a:ln>
        </p:spPr>
      </p:sp>
      <p:sp>
        <p:nvSpPr>
          <p:cNvPr id="33" name="Text 30"/>
          <p:cNvSpPr/>
          <p:nvPr/>
        </p:nvSpPr>
        <p:spPr>
          <a:xfrm>
            <a:off x="2472963" y="3674304"/>
            <a:ext cx="1466009" cy="259799"/>
          </a:xfrm>
          <a:prstGeom prst="rect">
            <a:avLst/>
          </a:prstGeom>
          <a:noFill/>
          <a:ln/>
        </p:spPr>
        <p:txBody>
          <a:bodyPr wrap="square" lIns="111342" tIns="37114" rIns="111342" bIns="37114" rtlCol="0" anchor="ctr"/>
          <a:lstStyle/>
          <a:p>
            <a:pPr>
              <a:lnSpc>
                <a:spcPct val="120000"/>
              </a:lnSpc>
            </a:pPr>
            <a:r>
              <a:rPr lang="en-US" sz="1023" b="1" dirty="0">
                <a:solidFill>
                  <a:srgbClr val="4472C4"/>
                </a:solidFill>
                <a:latin typeface="MiSans" pitchFamily="34" charset="0"/>
                <a:ea typeface="MiSans" pitchFamily="34" charset="-122"/>
                <a:cs typeface="MiSans" pitchFamily="34" charset="-120"/>
              </a:rPr>
              <a:t>Swagger UI Express</a:t>
            </a:r>
            <a:endParaRPr lang="en-US" sz="1600" dirty="0"/>
          </a:p>
        </p:txBody>
      </p:sp>
      <p:sp>
        <p:nvSpPr>
          <p:cNvPr id="34" name="Text 31"/>
          <p:cNvSpPr/>
          <p:nvPr/>
        </p:nvSpPr>
        <p:spPr>
          <a:xfrm>
            <a:off x="527021" y="4023178"/>
            <a:ext cx="5353717" cy="148457"/>
          </a:xfrm>
          <a:prstGeom prst="rect">
            <a:avLst/>
          </a:prstGeom>
          <a:noFill/>
          <a:ln/>
        </p:spPr>
        <p:txBody>
          <a:bodyPr wrap="square" lIns="0" tIns="0" rIns="0" bIns="0" rtlCol="0" anchor="ctr"/>
          <a:lstStyle/>
          <a:p>
            <a:pPr>
              <a:lnSpc>
                <a:spcPct val="110000"/>
              </a:lnSpc>
            </a:pPr>
            <a:r>
              <a:rPr lang="en-US" sz="877" dirty="0">
                <a:solidFill>
                  <a:srgbClr val="FFFFFF">
                    <a:alpha val="60000"/>
                  </a:srgbClr>
                </a:solidFill>
                <a:latin typeface="MiSans" pitchFamily="34" charset="0"/>
                <a:ea typeface="MiSans" pitchFamily="34" charset="-122"/>
                <a:cs typeface="MiSans" pitchFamily="34" charset="-120"/>
              </a:rPr>
              <a:t>Realtime Notification</a:t>
            </a:r>
            <a:endParaRPr lang="en-US" sz="1600" dirty="0"/>
          </a:p>
        </p:txBody>
      </p:sp>
      <p:sp>
        <p:nvSpPr>
          <p:cNvPr id="35" name="Shape 32"/>
          <p:cNvSpPr/>
          <p:nvPr/>
        </p:nvSpPr>
        <p:spPr>
          <a:xfrm>
            <a:off x="374853" y="4442448"/>
            <a:ext cx="5602382" cy="1065176"/>
          </a:xfrm>
          <a:custGeom>
            <a:avLst/>
            <a:gdLst/>
            <a:ahLst/>
            <a:cxnLst/>
            <a:rect l="l" t="t" r="r" b="b"/>
            <a:pathLst>
              <a:path w="5602382" h="1065176">
                <a:moveTo>
                  <a:pt x="148454" y="0"/>
                </a:moveTo>
                <a:lnTo>
                  <a:pt x="5453928" y="0"/>
                </a:lnTo>
                <a:cubicBezTo>
                  <a:pt x="5535917" y="0"/>
                  <a:pt x="5602382" y="66465"/>
                  <a:pt x="5602382" y="148454"/>
                </a:cubicBezTo>
                <a:lnTo>
                  <a:pt x="5602382" y="916723"/>
                </a:lnTo>
                <a:cubicBezTo>
                  <a:pt x="5602382" y="998711"/>
                  <a:pt x="5535917" y="1065176"/>
                  <a:pt x="5453928" y="1065176"/>
                </a:cubicBezTo>
                <a:lnTo>
                  <a:pt x="148454" y="1065176"/>
                </a:lnTo>
                <a:cubicBezTo>
                  <a:pt x="66465" y="1065176"/>
                  <a:pt x="0" y="998711"/>
                  <a:pt x="0" y="916723"/>
                </a:cubicBezTo>
                <a:lnTo>
                  <a:pt x="0" y="148454"/>
                </a:lnTo>
                <a:cubicBezTo>
                  <a:pt x="0" y="66520"/>
                  <a:pt x="66520" y="0"/>
                  <a:pt x="148454" y="0"/>
                </a:cubicBezTo>
                <a:close/>
              </a:path>
            </a:pathLst>
          </a:custGeom>
          <a:solidFill>
            <a:schemeClr val="accent6">
              <a:lumMod val="60000"/>
              <a:lumOff val="40000"/>
              <a:alpha val="55000"/>
            </a:schemeClr>
          </a:solidFill>
          <a:ln w="10160">
            <a:solidFill>
              <a:srgbClr val="FFFFFF">
                <a:alpha val="10196"/>
              </a:srgbClr>
            </a:solidFill>
            <a:prstDash val="solid"/>
          </a:ln>
        </p:spPr>
      </p:sp>
      <p:sp>
        <p:nvSpPr>
          <p:cNvPr id="36" name="Shape 33"/>
          <p:cNvSpPr/>
          <p:nvPr/>
        </p:nvSpPr>
        <p:spPr>
          <a:xfrm>
            <a:off x="527021" y="4594619"/>
            <a:ext cx="371142" cy="371142"/>
          </a:xfrm>
          <a:custGeom>
            <a:avLst/>
            <a:gdLst/>
            <a:ahLst/>
            <a:cxnLst/>
            <a:rect l="l" t="t" r="r" b="b"/>
            <a:pathLst>
              <a:path w="371142" h="371142">
                <a:moveTo>
                  <a:pt x="111342" y="0"/>
                </a:moveTo>
                <a:lnTo>
                  <a:pt x="259799" y="0"/>
                </a:lnTo>
                <a:cubicBezTo>
                  <a:pt x="321292" y="0"/>
                  <a:pt x="371142" y="49850"/>
                  <a:pt x="371142" y="111342"/>
                </a:cubicBezTo>
                <a:lnTo>
                  <a:pt x="371142" y="259799"/>
                </a:lnTo>
                <a:cubicBezTo>
                  <a:pt x="371142" y="321292"/>
                  <a:pt x="321292" y="371142"/>
                  <a:pt x="259799" y="371142"/>
                </a:cubicBezTo>
                <a:lnTo>
                  <a:pt x="111342" y="371142"/>
                </a:lnTo>
                <a:cubicBezTo>
                  <a:pt x="49850" y="371142"/>
                  <a:pt x="0" y="321292"/>
                  <a:pt x="0" y="259799"/>
                </a:cubicBezTo>
                <a:lnTo>
                  <a:pt x="0" y="111342"/>
                </a:lnTo>
                <a:cubicBezTo>
                  <a:pt x="0" y="49850"/>
                  <a:pt x="49850" y="0"/>
                  <a:pt x="111342" y="0"/>
                </a:cubicBezTo>
                <a:close/>
              </a:path>
            </a:pathLst>
          </a:custGeom>
          <a:solidFill>
            <a:srgbClr val="70AD47"/>
          </a:solidFill>
          <a:ln/>
        </p:spPr>
      </p:sp>
      <p:sp>
        <p:nvSpPr>
          <p:cNvPr id="37" name="Shape 34"/>
          <p:cNvSpPr/>
          <p:nvPr/>
        </p:nvSpPr>
        <p:spPr>
          <a:xfrm>
            <a:off x="647642" y="4705961"/>
            <a:ext cx="129900" cy="148457"/>
          </a:xfrm>
          <a:custGeom>
            <a:avLst/>
            <a:gdLst/>
            <a:ahLst/>
            <a:cxnLst/>
            <a:rect l="l" t="t" r="r" b="b"/>
            <a:pathLst>
              <a:path w="129900" h="148457">
                <a:moveTo>
                  <a:pt x="129900" y="59673"/>
                </a:moveTo>
                <a:cubicBezTo>
                  <a:pt x="125608" y="62514"/>
                  <a:pt x="120679" y="64805"/>
                  <a:pt x="115547" y="66632"/>
                </a:cubicBezTo>
                <a:cubicBezTo>
                  <a:pt x="101919" y="71503"/>
                  <a:pt x="84029" y="74228"/>
                  <a:pt x="64950" y="74228"/>
                </a:cubicBezTo>
                <a:cubicBezTo>
                  <a:pt x="45871" y="74228"/>
                  <a:pt x="27952" y="71474"/>
                  <a:pt x="14353" y="66632"/>
                </a:cubicBezTo>
                <a:cubicBezTo>
                  <a:pt x="9250" y="64805"/>
                  <a:pt x="4291" y="62514"/>
                  <a:pt x="0" y="59673"/>
                </a:cubicBezTo>
                <a:lnTo>
                  <a:pt x="0" y="83507"/>
                </a:lnTo>
                <a:cubicBezTo>
                  <a:pt x="0" y="96323"/>
                  <a:pt x="29082" y="106703"/>
                  <a:pt x="64950" y="106703"/>
                </a:cubicBezTo>
                <a:cubicBezTo>
                  <a:pt x="100817" y="106703"/>
                  <a:pt x="129900" y="96323"/>
                  <a:pt x="129900" y="83507"/>
                </a:cubicBezTo>
                <a:lnTo>
                  <a:pt x="129900" y="59673"/>
                </a:lnTo>
                <a:close/>
                <a:moveTo>
                  <a:pt x="129900" y="37114"/>
                </a:moveTo>
                <a:lnTo>
                  <a:pt x="129900" y="23196"/>
                </a:lnTo>
                <a:cubicBezTo>
                  <a:pt x="129900" y="10380"/>
                  <a:pt x="100817" y="0"/>
                  <a:pt x="64950" y="0"/>
                </a:cubicBezTo>
                <a:cubicBezTo>
                  <a:pt x="29082" y="0"/>
                  <a:pt x="0" y="10380"/>
                  <a:pt x="0" y="23196"/>
                </a:cubicBezTo>
                <a:lnTo>
                  <a:pt x="0" y="37114"/>
                </a:lnTo>
                <a:cubicBezTo>
                  <a:pt x="0" y="49930"/>
                  <a:pt x="29082" y="60311"/>
                  <a:pt x="64950" y="60311"/>
                </a:cubicBezTo>
                <a:cubicBezTo>
                  <a:pt x="100817" y="60311"/>
                  <a:pt x="129900" y="49930"/>
                  <a:pt x="129900" y="37114"/>
                </a:cubicBezTo>
                <a:close/>
                <a:moveTo>
                  <a:pt x="115547" y="113024"/>
                </a:moveTo>
                <a:cubicBezTo>
                  <a:pt x="101948" y="117866"/>
                  <a:pt x="84058" y="120621"/>
                  <a:pt x="64950" y="120621"/>
                </a:cubicBezTo>
                <a:cubicBezTo>
                  <a:pt x="45842" y="120621"/>
                  <a:pt x="27952" y="117866"/>
                  <a:pt x="14353" y="113024"/>
                </a:cubicBezTo>
                <a:cubicBezTo>
                  <a:pt x="9250" y="111197"/>
                  <a:pt x="4291" y="108907"/>
                  <a:pt x="0" y="106065"/>
                </a:cubicBezTo>
                <a:lnTo>
                  <a:pt x="0" y="125260"/>
                </a:lnTo>
                <a:cubicBezTo>
                  <a:pt x="0" y="138076"/>
                  <a:pt x="29082" y="148457"/>
                  <a:pt x="64950" y="148457"/>
                </a:cubicBezTo>
                <a:cubicBezTo>
                  <a:pt x="100817" y="148457"/>
                  <a:pt x="129900" y="138076"/>
                  <a:pt x="129900" y="125260"/>
                </a:cubicBezTo>
                <a:lnTo>
                  <a:pt x="129900" y="106065"/>
                </a:lnTo>
                <a:cubicBezTo>
                  <a:pt x="125608" y="108907"/>
                  <a:pt x="120679" y="111197"/>
                  <a:pt x="115547" y="113024"/>
                </a:cubicBezTo>
                <a:close/>
              </a:path>
            </a:pathLst>
          </a:custGeom>
          <a:solidFill>
            <a:srgbClr val="FFFFFF"/>
          </a:solidFill>
          <a:ln/>
        </p:spPr>
      </p:sp>
      <p:sp>
        <p:nvSpPr>
          <p:cNvPr id="38" name="Text 35"/>
          <p:cNvSpPr/>
          <p:nvPr/>
        </p:nvSpPr>
        <p:spPr>
          <a:xfrm>
            <a:off x="1009505" y="4650290"/>
            <a:ext cx="445370" cy="259799"/>
          </a:xfrm>
          <a:prstGeom prst="rect">
            <a:avLst/>
          </a:prstGeom>
          <a:noFill/>
          <a:ln/>
        </p:spPr>
        <p:txBody>
          <a:bodyPr wrap="square" lIns="0" tIns="0" rIns="0" bIns="0" rtlCol="0" anchor="ctr"/>
          <a:lstStyle/>
          <a:p>
            <a:pPr>
              <a:lnSpc>
                <a:spcPct val="130000"/>
              </a:lnSpc>
            </a:pPr>
            <a:r>
              <a:rPr lang="en-US" sz="1315" b="1" dirty="0">
                <a:solidFill>
                  <a:schemeClr val="tx1">
                    <a:lumMod val="85000"/>
                    <a:lumOff val="15000"/>
                  </a:schemeClr>
                </a:solidFill>
                <a:latin typeface="MiSans" pitchFamily="34" charset="0"/>
                <a:ea typeface="MiSans" pitchFamily="34" charset="-122"/>
                <a:cs typeface="MiSans" pitchFamily="34" charset="-120"/>
              </a:rPr>
              <a:t>Data</a:t>
            </a:r>
            <a:endParaRPr lang="en-US" sz="1600" dirty="0">
              <a:solidFill>
                <a:schemeClr val="tx1">
                  <a:lumMod val="85000"/>
                  <a:lumOff val="15000"/>
                </a:schemeClr>
              </a:solidFill>
            </a:endParaRPr>
          </a:p>
        </p:txBody>
      </p:sp>
      <p:sp>
        <p:nvSpPr>
          <p:cNvPr id="39" name="Shape 36"/>
          <p:cNvSpPr/>
          <p:nvPr/>
        </p:nvSpPr>
        <p:spPr>
          <a:xfrm>
            <a:off x="530732" y="5080814"/>
            <a:ext cx="823934" cy="267222"/>
          </a:xfrm>
          <a:custGeom>
            <a:avLst/>
            <a:gdLst/>
            <a:ahLst/>
            <a:cxnLst/>
            <a:rect l="l" t="t" r="r" b="b"/>
            <a:pathLst>
              <a:path w="823934" h="267222">
                <a:moveTo>
                  <a:pt x="74229" y="0"/>
                </a:moveTo>
                <a:lnTo>
                  <a:pt x="749705" y="0"/>
                </a:lnTo>
                <a:cubicBezTo>
                  <a:pt x="790673" y="0"/>
                  <a:pt x="823934" y="33261"/>
                  <a:pt x="823934" y="74229"/>
                </a:cubicBezTo>
                <a:lnTo>
                  <a:pt x="823934" y="192993"/>
                </a:lnTo>
                <a:cubicBezTo>
                  <a:pt x="823934" y="233961"/>
                  <a:pt x="790673" y="267222"/>
                  <a:pt x="749705" y="267222"/>
                </a:cubicBezTo>
                <a:lnTo>
                  <a:pt x="74229" y="267222"/>
                </a:lnTo>
                <a:cubicBezTo>
                  <a:pt x="33233" y="267222"/>
                  <a:pt x="0" y="233989"/>
                  <a:pt x="0" y="192993"/>
                </a:cubicBezTo>
                <a:lnTo>
                  <a:pt x="0" y="74229"/>
                </a:lnTo>
                <a:cubicBezTo>
                  <a:pt x="0" y="33233"/>
                  <a:pt x="33233" y="0"/>
                  <a:pt x="74229" y="0"/>
                </a:cubicBezTo>
                <a:close/>
              </a:path>
            </a:pathLst>
          </a:custGeom>
          <a:solidFill>
            <a:srgbClr val="70AD47">
              <a:alpha val="20000"/>
            </a:srgbClr>
          </a:solidFill>
          <a:ln w="10160">
            <a:solidFill>
              <a:srgbClr val="70AD47">
                <a:alpha val="30196"/>
              </a:srgbClr>
            </a:solidFill>
            <a:prstDash val="solid"/>
          </a:ln>
        </p:spPr>
      </p:sp>
      <p:sp>
        <p:nvSpPr>
          <p:cNvPr id="40" name="Text 37"/>
          <p:cNvSpPr/>
          <p:nvPr/>
        </p:nvSpPr>
        <p:spPr>
          <a:xfrm>
            <a:off x="527021" y="5077103"/>
            <a:ext cx="881461" cy="259799"/>
          </a:xfrm>
          <a:prstGeom prst="rect">
            <a:avLst/>
          </a:prstGeom>
          <a:noFill/>
          <a:ln/>
        </p:spPr>
        <p:txBody>
          <a:bodyPr wrap="square" lIns="111342" tIns="37114" rIns="111342" bIns="37114" rtlCol="0" anchor="ctr"/>
          <a:lstStyle/>
          <a:p>
            <a:pPr>
              <a:lnSpc>
                <a:spcPct val="120000"/>
              </a:lnSpc>
            </a:pPr>
            <a:r>
              <a:rPr lang="en-US" sz="1023" b="1" dirty="0">
                <a:solidFill>
                  <a:srgbClr val="70AD47"/>
                </a:solidFill>
                <a:latin typeface="MiSans" pitchFamily="34" charset="0"/>
                <a:ea typeface="MiSans" pitchFamily="34" charset="-122"/>
                <a:cs typeface="MiSans" pitchFamily="34" charset="-120"/>
              </a:rPr>
              <a:t>MongoDB</a:t>
            </a:r>
            <a:endParaRPr lang="en-US" sz="1600" dirty="0"/>
          </a:p>
        </p:txBody>
      </p:sp>
      <p:sp>
        <p:nvSpPr>
          <p:cNvPr id="41" name="Shape 38"/>
          <p:cNvSpPr/>
          <p:nvPr/>
        </p:nvSpPr>
        <p:spPr>
          <a:xfrm>
            <a:off x="1439565" y="5080814"/>
            <a:ext cx="740427" cy="267222"/>
          </a:xfrm>
          <a:custGeom>
            <a:avLst/>
            <a:gdLst/>
            <a:ahLst/>
            <a:cxnLst/>
            <a:rect l="l" t="t" r="r" b="b"/>
            <a:pathLst>
              <a:path w="740427" h="267222">
                <a:moveTo>
                  <a:pt x="74229" y="0"/>
                </a:moveTo>
                <a:lnTo>
                  <a:pt x="666198" y="0"/>
                </a:lnTo>
                <a:cubicBezTo>
                  <a:pt x="707167" y="0"/>
                  <a:pt x="740427" y="33261"/>
                  <a:pt x="740427" y="74229"/>
                </a:cubicBezTo>
                <a:lnTo>
                  <a:pt x="740427" y="192993"/>
                </a:lnTo>
                <a:cubicBezTo>
                  <a:pt x="740427" y="233961"/>
                  <a:pt x="707167" y="267222"/>
                  <a:pt x="666198" y="267222"/>
                </a:cubicBezTo>
                <a:lnTo>
                  <a:pt x="74229" y="267222"/>
                </a:lnTo>
                <a:cubicBezTo>
                  <a:pt x="33233" y="267222"/>
                  <a:pt x="0" y="233989"/>
                  <a:pt x="0" y="192993"/>
                </a:cubicBezTo>
                <a:lnTo>
                  <a:pt x="0" y="74229"/>
                </a:lnTo>
                <a:cubicBezTo>
                  <a:pt x="0" y="33233"/>
                  <a:pt x="33233" y="0"/>
                  <a:pt x="74229" y="0"/>
                </a:cubicBezTo>
                <a:close/>
              </a:path>
            </a:pathLst>
          </a:custGeom>
          <a:solidFill>
            <a:srgbClr val="70AD47">
              <a:alpha val="20000"/>
            </a:srgbClr>
          </a:solidFill>
          <a:ln w="10160">
            <a:solidFill>
              <a:srgbClr val="70AD47">
                <a:alpha val="30196"/>
              </a:srgbClr>
            </a:solidFill>
            <a:prstDash val="solid"/>
          </a:ln>
        </p:spPr>
      </p:sp>
      <p:sp>
        <p:nvSpPr>
          <p:cNvPr id="42" name="Text 39"/>
          <p:cNvSpPr/>
          <p:nvPr/>
        </p:nvSpPr>
        <p:spPr>
          <a:xfrm>
            <a:off x="1435854" y="5077103"/>
            <a:ext cx="797954" cy="259799"/>
          </a:xfrm>
          <a:prstGeom prst="rect">
            <a:avLst/>
          </a:prstGeom>
          <a:noFill/>
          <a:ln/>
        </p:spPr>
        <p:txBody>
          <a:bodyPr wrap="square" lIns="111342" tIns="37114" rIns="111342" bIns="37114" rtlCol="0" anchor="ctr"/>
          <a:lstStyle/>
          <a:p>
            <a:pPr>
              <a:lnSpc>
                <a:spcPct val="120000"/>
              </a:lnSpc>
            </a:pPr>
            <a:r>
              <a:rPr lang="en-US" sz="1023" b="1" dirty="0">
                <a:solidFill>
                  <a:srgbClr val="70AD47"/>
                </a:solidFill>
                <a:latin typeface="MiSans" pitchFamily="34" charset="0"/>
                <a:ea typeface="MiSans" pitchFamily="34" charset="-122"/>
                <a:cs typeface="MiSans" pitchFamily="34" charset="-120"/>
              </a:rPr>
              <a:t>Firebase</a:t>
            </a:r>
            <a:endParaRPr lang="en-US" sz="1600" dirty="0"/>
          </a:p>
        </p:txBody>
      </p:sp>
      <p:sp>
        <p:nvSpPr>
          <p:cNvPr id="43" name="Shape 40"/>
          <p:cNvSpPr/>
          <p:nvPr/>
        </p:nvSpPr>
        <p:spPr>
          <a:xfrm>
            <a:off x="374853" y="5622680"/>
            <a:ext cx="2744592" cy="898163"/>
          </a:xfrm>
          <a:custGeom>
            <a:avLst/>
            <a:gdLst/>
            <a:ahLst/>
            <a:cxnLst/>
            <a:rect l="l" t="t" r="r" b="b"/>
            <a:pathLst>
              <a:path w="2744592" h="898163">
                <a:moveTo>
                  <a:pt x="148457" y="0"/>
                </a:moveTo>
                <a:lnTo>
                  <a:pt x="2596134" y="0"/>
                </a:lnTo>
                <a:cubicBezTo>
                  <a:pt x="2678125" y="0"/>
                  <a:pt x="2744592" y="66467"/>
                  <a:pt x="2744592" y="148457"/>
                </a:cubicBezTo>
                <a:lnTo>
                  <a:pt x="2744592" y="749705"/>
                </a:lnTo>
                <a:cubicBezTo>
                  <a:pt x="2744592" y="831696"/>
                  <a:pt x="2678125" y="898163"/>
                  <a:pt x="2596134" y="898163"/>
                </a:cubicBezTo>
                <a:lnTo>
                  <a:pt x="148457" y="898163"/>
                </a:lnTo>
                <a:cubicBezTo>
                  <a:pt x="66521" y="898163"/>
                  <a:pt x="0" y="831641"/>
                  <a:pt x="0" y="749705"/>
                </a:cubicBezTo>
                <a:lnTo>
                  <a:pt x="0" y="148457"/>
                </a:lnTo>
                <a:cubicBezTo>
                  <a:pt x="0" y="66521"/>
                  <a:pt x="66521" y="0"/>
                  <a:pt x="148457" y="0"/>
                </a:cubicBezTo>
                <a:close/>
              </a:path>
            </a:pathLst>
          </a:custGeom>
          <a:solidFill>
            <a:schemeClr val="accent4">
              <a:lumMod val="75000"/>
              <a:alpha val="39000"/>
            </a:schemeClr>
          </a:solidFill>
          <a:ln w="10160">
            <a:solidFill>
              <a:srgbClr val="FFFFFF">
                <a:alpha val="10196"/>
              </a:srgbClr>
            </a:solidFill>
            <a:prstDash val="solid"/>
          </a:ln>
        </p:spPr>
      </p:sp>
      <p:sp>
        <p:nvSpPr>
          <p:cNvPr id="44" name="Shape 41"/>
          <p:cNvSpPr/>
          <p:nvPr/>
        </p:nvSpPr>
        <p:spPr>
          <a:xfrm>
            <a:off x="527021" y="5774846"/>
            <a:ext cx="296913" cy="296913"/>
          </a:xfrm>
          <a:custGeom>
            <a:avLst/>
            <a:gdLst/>
            <a:ahLst/>
            <a:cxnLst/>
            <a:rect l="l" t="t" r="r" b="b"/>
            <a:pathLst>
              <a:path w="296913" h="296913">
                <a:moveTo>
                  <a:pt x="74228" y="0"/>
                </a:moveTo>
                <a:lnTo>
                  <a:pt x="222685" y="0"/>
                </a:lnTo>
                <a:cubicBezTo>
                  <a:pt x="263653" y="0"/>
                  <a:pt x="296913" y="33261"/>
                  <a:pt x="296913" y="74228"/>
                </a:cubicBezTo>
                <a:lnTo>
                  <a:pt x="296913" y="222685"/>
                </a:lnTo>
                <a:cubicBezTo>
                  <a:pt x="296913" y="263653"/>
                  <a:pt x="263653" y="296913"/>
                  <a:pt x="222685" y="296913"/>
                </a:cubicBezTo>
                <a:lnTo>
                  <a:pt x="74228" y="296913"/>
                </a:lnTo>
                <a:cubicBezTo>
                  <a:pt x="33261" y="296913"/>
                  <a:pt x="0" y="263653"/>
                  <a:pt x="0" y="222685"/>
                </a:cubicBezTo>
                <a:lnTo>
                  <a:pt x="0" y="74228"/>
                </a:lnTo>
                <a:cubicBezTo>
                  <a:pt x="0" y="33261"/>
                  <a:pt x="33261" y="0"/>
                  <a:pt x="74228" y="0"/>
                </a:cubicBezTo>
                <a:close/>
              </a:path>
            </a:pathLst>
          </a:custGeom>
          <a:solidFill>
            <a:srgbClr val="FFC000"/>
          </a:solidFill>
          <a:ln/>
        </p:spPr>
      </p:sp>
      <p:sp>
        <p:nvSpPr>
          <p:cNvPr id="45" name="Shape 42"/>
          <p:cNvSpPr/>
          <p:nvPr/>
        </p:nvSpPr>
        <p:spPr>
          <a:xfrm>
            <a:off x="612848" y="5858353"/>
            <a:ext cx="129900" cy="129900"/>
          </a:xfrm>
          <a:custGeom>
            <a:avLst/>
            <a:gdLst/>
            <a:ahLst/>
            <a:cxnLst/>
            <a:rect l="l" t="t" r="r" b="b"/>
            <a:pathLst>
              <a:path w="129900" h="129900">
                <a:moveTo>
                  <a:pt x="16719" y="57973"/>
                </a:moveTo>
                <a:cubicBezTo>
                  <a:pt x="20094" y="34378"/>
                  <a:pt x="40416" y="16237"/>
                  <a:pt x="64950" y="16237"/>
                </a:cubicBezTo>
                <a:cubicBezTo>
                  <a:pt x="78396" y="16237"/>
                  <a:pt x="90574" y="21692"/>
                  <a:pt x="99404" y="30496"/>
                </a:cubicBezTo>
                <a:cubicBezTo>
                  <a:pt x="99454" y="30547"/>
                  <a:pt x="99505" y="30597"/>
                  <a:pt x="99556" y="30648"/>
                </a:cubicBezTo>
                <a:lnTo>
                  <a:pt x="101484" y="32475"/>
                </a:lnTo>
                <a:lnTo>
                  <a:pt x="89331" y="32475"/>
                </a:lnTo>
                <a:cubicBezTo>
                  <a:pt x="84841" y="32475"/>
                  <a:pt x="81213" y="36103"/>
                  <a:pt x="81213" y="40594"/>
                </a:cubicBezTo>
                <a:cubicBezTo>
                  <a:pt x="81213" y="45084"/>
                  <a:pt x="84841" y="48712"/>
                  <a:pt x="89331" y="48712"/>
                </a:cubicBezTo>
                <a:lnTo>
                  <a:pt x="121806" y="48712"/>
                </a:lnTo>
                <a:cubicBezTo>
                  <a:pt x="126297" y="48712"/>
                  <a:pt x="129925" y="45084"/>
                  <a:pt x="129925" y="40594"/>
                </a:cubicBezTo>
                <a:lnTo>
                  <a:pt x="129925" y="8119"/>
                </a:lnTo>
                <a:cubicBezTo>
                  <a:pt x="129925" y="3628"/>
                  <a:pt x="126297" y="0"/>
                  <a:pt x="121806" y="0"/>
                </a:cubicBezTo>
                <a:cubicBezTo>
                  <a:pt x="117316" y="0"/>
                  <a:pt x="113687" y="3628"/>
                  <a:pt x="113687" y="8119"/>
                </a:cubicBezTo>
                <a:lnTo>
                  <a:pt x="113687" y="21667"/>
                </a:lnTo>
                <a:lnTo>
                  <a:pt x="110821" y="18952"/>
                </a:lnTo>
                <a:cubicBezTo>
                  <a:pt x="99074" y="7256"/>
                  <a:pt x="82836" y="0"/>
                  <a:pt x="64950" y="0"/>
                </a:cubicBezTo>
                <a:cubicBezTo>
                  <a:pt x="32221" y="0"/>
                  <a:pt x="5150" y="24204"/>
                  <a:pt x="660" y="55689"/>
                </a:cubicBezTo>
                <a:cubicBezTo>
                  <a:pt x="25" y="60129"/>
                  <a:pt x="3095" y="64239"/>
                  <a:pt x="7535" y="64874"/>
                </a:cubicBezTo>
                <a:cubicBezTo>
                  <a:pt x="11975" y="65508"/>
                  <a:pt x="16085" y="62413"/>
                  <a:pt x="16719" y="57998"/>
                </a:cubicBezTo>
                <a:close/>
                <a:moveTo>
                  <a:pt x="129240" y="74210"/>
                </a:moveTo>
                <a:cubicBezTo>
                  <a:pt x="129874" y="69770"/>
                  <a:pt x="126779" y="65660"/>
                  <a:pt x="122364" y="65026"/>
                </a:cubicBezTo>
                <a:cubicBezTo>
                  <a:pt x="117950" y="64392"/>
                  <a:pt x="113814" y="67487"/>
                  <a:pt x="113180" y="71901"/>
                </a:cubicBezTo>
                <a:cubicBezTo>
                  <a:pt x="109806" y="95496"/>
                  <a:pt x="89484" y="113637"/>
                  <a:pt x="64950" y="113637"/>
                </a:cubicBezTo>
                <a:cubicBezTo>
                  <a:pt x="51503" y="113637"/>
                  <a:pt x="39325" y="108182"/>
                  <a:pt x="30496" y="99378"/>
                </a:cubicBezTo>
                <a:cubicBezTo>
                  <a:pt x="30445" y="99327"/>
                  <a:pt x="30394" y="99277"/>
                  <a:pt x="30344" y="99226"/>
                </a:cubicBezTo>
                <a:lnTo>
                  <a:pt x="28416" y="97399"/>
                </a:lnTo>
                <a:lnTo>
                  <a:pt x="40568" y="97399"/>
                </a:lnTo>
                <a:cubicBezTo>
                  <a:pt x="45059" y="97399"/>
                  <a:pt x="48687" y="93771"/>
                  <a:pt x="48687" y="89281"/>
                </a:cubicBezTo>
                <a:cubicBezTo>
                  <a:pt x="48687" y="84790"/>
                  <a:pt x="45059" y="81162"/>
                  <a:pt x="40568" y="81162"/>
                </a:cubicBezTo>
                <a:lnTo>
                  <a:pt x="8119" y="81187"/>
                </a:lnTo>
                <a:cubicBezTo>
                  <a:pt x="5962" y="81187"/>
                  <a:pt x="3882" y="82050"/>
                  <a:pt x="2360" y="83597"/>
                </a:cubicBezTo>
                <a:cubicBezTo>
                  <a:pt x="837" y="85145"/>
                  <a:pt x="-25" y="87200"/>
                  <a:pt x="0" y="89382"/>
                </a:cubicBezTo>
                <a:lnTo>
                  <a:pt x="254" y="121603"/>
                </a:lnTo>
                <a:cubicBezTo>
                  <a:pt x="279" y="126094"/>
                  <a:pt x="3958" y="129697"/>
                  <a:pt x="8449" y="129646"/>
                </a:cubicBezTo>
                <a:cubicBezTo>
                  <a:pt x="12939" y="129595"/>
                  <a:pt x="16542" y="125942"/>
                  <a:pt x="16491" y="121451"/>
                </a:cubicBezTo>
                <a:lnTo>
                  <a:pt x="16390" y="108385"/>
                </a:lnTo>
                <a:lnTo>
                  <a:pt x="19104" y="110947"/>
                </a:lnTo>
                <a:cubicBezTo>
                  <a:pt x="30851" y="122643"/>
                  <a:pt x="47063" y="129900"/>
                  <a:pt x="64950" y="129900"/>
                </a:cubicBezTo>
                <a:cubicBezTo>
                  <a:pt x="97678" y="129900"/>
                  <a:pt x="124749" y="105696"/>
                  <a:pt x="129240" y="74210"/>
                </a:cubicBezTo>
                <a:close/>
              </a:path>
            </a:pathLst>
          </a:custGeom>
          <a:solidFill>
            <a:srgbClr val="FFFFFF"/>
          </a:solidFill>
          <a:ln/>
        </p:spPr>
      </p:sp>
      <p:sp>
        <p:nvSpPr>
          <p:cNvPr id="46" name="Text 43"/>
          <p:cNvSpPr/>
          <p:nvPr/>
        </p:nvSpPr>
        <p:spPr>
          <a:xfrm>
            <a:off x="898163" y="5811960"/>
            <a:ext cx="1002082" cy="222685"/>
          </a:xfrm>
          <a:prstGeom prst="rect">
            <a:avLst/>
          </a:prstGeom>
          <a:noFill/>
          <a:ln/>
        </p:spPr>
        <p:txBody>
          <a:bodyPr wrap="square" lIns="0" tIns="0" rIns="0" bIns="0" rtlCol="0" anchor="ctr"/>
          <a:lstStyle/>
          <a:p>
            <a:pPr>
              <a:lnSpc>
                <a:spcPct val="130000"/>
              </a:lnSpc>
            </a:pPr>
            <a:r>
              <a:rPr lang="en-US" sz="1169" b="1" dirty="0">
                <a:solidFill>
                  <a:schemeClr val="tx1">
                    <a:lumMod val="85000"/>
                    <a:lumOff val="15000"/>
                  </a:schemeClr>
                </a:solidFill>
                <a:latin typeface="MiSans" pitchFamily="34" charset="0"/>
                <a:ea typeface="MiSans" pitchFamily="34" charset="-122"/>
                <a:cs typeface="MiSans" pitchFamily="34" charset="-120"/>
              </a:rPr>
              <a:t>Infrastructure</a:t>
            </a:r>
            <a:endParaRPr lang="en-US" sz="1600" dirty="0">
              <a:solidFill>
                <a:schemeClr val="tx1">
                  <a:lumMod val="85000"/>
                  <a:lumOff val="15000"/>
                </a:schemeClr>
              </a:solidFill>
            </a:endParaRPr>
          </a:p>
        </p:txBody>
      </p:sp>
      <p:sp>
        <p:nvSpPr>
          <p:cNvPr id="47" name="Shape 44"/>
          <p:cNvSpPr/>
          <p:nvPr/>
        </p:nvSpPr>
        <p:spPr>
          <a:xfrm>
            <a:off x="530732" y="6134857"/>
            <a:ext cx="670374" cy="267222"/>
          </a:xfrm>
          <a:custGeom>
            <a:avLst/>
            <a:gdLst/>
            <a:ahLst/>
            <a:cxnLst/>
            <a:rect l="l" t="t" r="r" b="b"/>
            <a:pathLst>
              <a:path w="670374" h="267222">
                <a:moveTo>
                  <a:pt x="74229" y="0"/>
                </a:moveTo>
                <a:lnTo>
                  <a:pt x="596146" y="0"/>
                </a:lnTo>
                <a:cubicBezTo>
                  <a:pt x="637114" y="0"/>
                  <a:pt x="670374" y="33261"/>
                  <a:pt x="670374" y="74229"/>
                </a:cubicBezTo>
                <a:lnTo>
                  <a:pt x="670374" y="192993"/>
                </a:lnTo>
                <a:cubicBezTo>
                  <a:pt x="670374" y="233961"/>
                  <a:pt x="637114" y="267222"/>
                  <a:pt x="596146" y="267222"/>
                </a:cubicBezTo>
                <a:lnTo>
                  <a:pt x="74229" y="267222"/>
                </a:lnTo>
                <a:cubicBezTo>
                  <a:pt x="33233" y="267222"/>
                  <a:pt x="0" y="233989"/>
                  <a:pt x="0" y="192993"/>
                </a:cubicBezTo>
                <a:lnTo>
                  <a:pt x="0" y="74229"/>
                </a:lnTo>
                <a:cubicBezTo>
                  <a:pt x="0" y="33233"/>
                  <a:pt x="33233" y="0"/>
                  <a:pt x="74229" y="0"/>
                </a:cubicBezTo>
                <a:close/>
              </a:path>
            </a:pathLst>
          </a:custGeom>
          <a:solidFill>
            <a:srgbClr val="FFC000">
              <a:alpha val="20000"/>
            </a:srgbClr>
          </a:solidFill>
          <a:ln w="10160">
            <a:solidFill>
              <a:srgbClr val="FFC000">
                <a:alpha val="30196"/>
              </a:srgbClr>
            </a:solidFill>
            <a:prstDash val="solid"/>
          </a:ln>
        </p:spPr>
      </p:sp>
      <p:sp>
        <p:nvSpPr>
          <p:cNvPr id="48" name="Text 45"/>
          <p:cNvSpPr/>
          <p:nvPr/>
        </p:nvSpPr>
        <p:spPr>
          <a:xfrm>
            <a:off x="527021" y="6131146"/>
            <a:ext cx="727901" cy="259799"/>
          </a:xfrm>
          <a:prstGeom prst="rect">
            <a:avLst/>
          </a:prstGeom>
          <a:noFill/>
          <a:ln/>
        </p:spPr>
        <p:txBody>
          <a:bodyPr wrap="square" lIns="111342" tIns="37114" rIns="111342" bIns="37114" rtlCol="0" anchor="ctr"/>
          <a:lstStyle/>
          <a:p>
            <a:pPr>
              <a:lnSpc>
                <a:spcPct val="120000"/>
              </a:lnSpc>
            </a:pPr>
            <a:r>
              <a:rPr lang="en-US" sz="1023" b="1" dirty="0">
                <a:solidFill>
                  <a:srgbClr val="FFC000"/>
                </a:solidFill>
                <a:latin typeface="MiSans" pitchFamily="34" charset="0"/>
                <a:ea typeface="MiSans" pitchFamily="34" charset="-122"/>
                <a:cs typeface="MiSans" pitchFamily="34" charset="-120"/>
              </a:rPr>
              <a:t>Docker</a:t>
            </a:r>
            <a:endParaRPr lang="en-US" sz="1600" dirty="0"/>
          </a:p>
        </p:txBody>
      </p:sp>
      <p:sp>
        <p:nvSpPr>
          <p:cNvPr id="49" name="Shape 46"/>
          <p:cNvSpPr/>
          <p:nvPr/>
        </p:nvSpPr>
        <p:spPr>
          <a:xfrm>
            <a:off x="3236702" y="5622680"/>
            <a:ext cx="2744592" cy="898163"/>
          </a:xfrm>
          <a:custGeom>
            <a:avLst/>
            <a:gdLst/>
            <a:ahLst/>
            <a:cxnLst/>
            <a:rect l="l" t="t" r="r" b="b"/>
            <a:pathLst>
              <a:path w="2744592" h="898163">
                <a:moveTo>
                  <a:pt x="148457" y="0"/>
                </a:moveTo>
                <a:lnTo>
                  <a:pt x="2596134" y="0"/>
                </a:lnTo>
                <a:cubicBezTo>
                  <a:pt x="2678125" y="0"/>
                  <a:pt x="2744592" y="66467"/>
                  <a:pt x="2744592" y="148457"/>
                </a:cubicBezTo>
                <a:lnTo>
                  <a:pt x="2744592" y="749705"/>
                </a:lnTo>
                <a:cubicBezTo>
                  <a:pt x="2744592" y="831696"/>
                  <a:pt x="2678125" y="898163"/>
                  <a:pt x="2596134" y="898163"/>
                </a:cubicBezTo>
                <a:lnTo>
                  <a:pt x="148457" y="898163"/>
                </a:lnTo>
                <a:cubicBezTo>
                  <a:pt x="66521" y="898163"/>
                  <a:pt x="0" y="831641"/>
                  <a:pt x="0" y="749705"/>
                </a:cubicBezTo>
                <a:lnTo>
                  <a:pt x="0" y="148457"/>
                </a:lnTo>
                <a:cubicBezTo>
                  <a:pt x="0" y="66521"/>
                  <a:pt x="66521" y="0"/>
                  <a:pt x="148457" y="0"/>
                </a:cubicBezTo>
                <a:close/>
              </a:path>
            </a:pathLst>
          </a:custGeom>
          <a:solidFill>
            <a:schemeClr val="accent2">
              <a:lumMod val="60000"/>
              <a:lumOff val="40000"/>
              <a:alpha val="73000"/>
            </a:schemeClr>
          </a:solidFill>
          <a:ln w="10160">
            <a:solidFill>
              <a:srgbClr val="FFFFFF">
                <a:alpha val="10196"/>
              </a:srgbClr>
            </a:solidFill>
            <a:prstDash val="solid"/>
          </a:ln>
        </p:spPr>
      </p:sp>
      <p:sp>
        <p:nvSpPr>
          <p:cNvPr id="50" name="Shape 47"/>
          <p:cNvSpPr/>
          <p:nvPr/>
        </p:nvSpPr>
        <p:spPr>
          <a:xfrm>
            <a:off x="3388870" y="5774846"/>
            <a:ext cx="296913" cy="296913"/>
          </a:xfrm>
          <a:custGeom>
            <a:avLst/>
            <a:gdLst/>
            <a:ahLst/>
            <a:cxnLst/>
            <a:rect l="l" t="t" r="r" b="b"/>
            <a:pathLst>
              <a:path w="296913" h="296913">
                <a:moveTo>
                  <a:pt x="74228" y="0"/>
                </a:moveTo>
                <a:lnTo>
                  <a:pt x="222685" y="0"/>
                </a:lnTo>
                <a:cubicBezTo>
                  <a:pt x="263653" y="0"/>
                  <a:pt x="296913" y="33261"/>
                  <a:pt x="296913" y="74228"/>
                </a:cubicBezTo>
                <a:lnTo>
                  <a:pt x="296913" y="222685"/>
                </a:lnTo>
                <a:cubicBezTo>
                  <a:pt x="296913" y="263653"/>
                  <a:pt x="263653" y="296913"/>
                  <a:pt x="222685" y="296913"/>
                </a:cubicBezTo>
                <a:lnTo>
                  <a:pt x="74228" y="296913"/>
                </a:lnTo>
                <a:cubicBezTo>
                  <a:pt x="33261" y="296913"/>
                  <a:pt x="0" y="263653"/>
                  <a:pt x="0" y="222685"/>
                </a:cubicBezTo>
                <a:lnTo>
                  <a:pt x="0" y="74228"/>
                </a:lnTo>
                <a:cubicBezTo>
                  <a:pt x="0" y="33261"/>
                  <a:pt x="33261" y="0"/>
                  <a:pt x="74228" y="0"/>
                </a:cubicBezTo>
                <a:close/>
              </a:path>
            </a:pathLst>
          </a:custGeom>
          <a:solidFill>
            <a:srgbClr val="ED7D31"/>
          </a:solidFill>
          <a:ln/>
        </p:spPr>
      </p:sp>
      <p:sp>
        <p:nvSpPr>
          <p:cNvPr id="51" name="Shape 48"/>
          <p:cNvSpPr/>
          <p:nvPr/>
        </p:nvSpPr>
        <p:spPr>
          <a:xfrm>
            <a:off x="3474697" y="5858353"/>
            <a:ext cx="129900" cy="129900"/>
          </a:xfrm>
          <a:custGeom>
            <a:avLst/>
            <a:gdLst/>
            <a:ahLst/>
            <a:cxnLst/>
            <a:rect l="l" t="t" r="r" b="b"/>
            <a:pathLst>
              <a:path w="129900" h="129900">
                <a:moveTo>
                  <a:pt x="0" y="32475"/>
                </a:moveTo>
                <a:lnTo>
                  <a:pt x="0" y="40594"/>
                </a:lnTo>
                <a:lnTo>
                  <a:pt x="129900" y="40594"/>
                </a:lnTo>
                <a:lnTo>
                  <a:pt x="129900" y="32475"/>
                </a:lnTo>
                <a:cubicBezTo>
                  <a:pt x="129900" y="23519"/>
                  <a:pt x="122618" y="16237"/>
                  <a:pt x="113662" y="16237"/>
                </a:cubicBezTo>
                <a:lnTo>
                  <a:pt x="16237" y="16237"/>
                </a:lnTo>
                <a:cubicBezTo>
                  <a:pt x="7281" y="16237"/>
                  <a:pt x="0" y="23519"/>
                  <a:pt x="0" y="32475"/>
                </a:cubicBezTo>
                <a:close/>
                <a:moveTo>
                  <a:pt x="0" y="52772"/>
                </a:moveTo>
                <a:lnTo>
                  <a:pt x="0" y="97425"/>
                </a:lnTo>
                <a:cubicBezTo>
                  <a:pt x="0" y="106381"/>
                  <a:pt x="7281" y="113662"/>
                  <a:pt x="16237" y="113662"/>
                </a:cubicBezTo>
                <a:lnTo>
                  <a:pt x="113662" y="113662"/>
                </a:lnTo>
                <a:cubicBezTo>
                  <a:pt x="122618" y="113662"/>
                  <a:pt x="129900" y="106381"/>
                  <a:pt x="129900" y="97425"/>
                </a:cubicBezTo>
                <a:lnTo>
                  <a:pt x="129900" y="52772"/>
                </a:lnTo>
                <a:lnTo>
                  <a:pt x="0" y="52772"/>
                </a:lnTo>
                <a:close/>
                <a:moveTo>
                  <a:pt x="16237" y="91336"/>
                </a:moveTo>
                <a:cubicBezTo>
                  <a:pt x="16237" y="87961"/>
                  <a:pt x="18952" y="85247"/>
                  <a:pt x="22326" y="85247"/>
                </a:cubicBezTo>
                <a:lnTo>
                  <a:pt x="34505" y="85247"/>
                </a:lnTo>
                <a:cubicBezTo>
                  <a:pt x="37879" y="85247"/>
                  <a:pt x="40594" y="87961"/>
                  <a:pt x="40594" y="91336"/>
                </a:cubicBezTo>
                <a:cubicBezTo>
                  <a:pt x="40594" y="94710"/>
                  <a:pt x="37879" y="97425"/>
                  <a:pt x="34505" y="97425"/>
                </a:cubicBezTo>
                <a:lnTo>
                  <a:pt x="22326" y="97425"/>
                </a:lnTo>
                <a:cubicBezTo>
                  <a:pt x="18952" y="97425"/>
                  <a:pt x="16237" y="94710"/>
                  <a:pt x="16237" y="91336"/>
                </a:cubicBezTo>
                <a:close/>
                <a:moveTo>
                  <a:pt x="52772" y="91336"/>
                </a:moveTo>
                <a:cubicBezTo>
                  <a:pt x="52772" y="87961"/>
                  <a:pt x="55486" y="85247"/>
                  <a:pt x="58861" y="85247"/>
                </a:cubicBezTo>
                <a:lnTo>
                  <a:pt x="75098" y="85247"/>
                </a:lnTo>
                <a:cubicBezTo>
                  <a:pt x="78473" y="85247"/>
                  <a:pt x="81187" y="87961"/>
                  <a:pt x="81187" y="91336"/>
                </a:cubicBezTo>
                <a:cubicBezTo>
                  <a:pt x="81187" y="94710"/>
                  <a:pt x="78473" y="97425"/>
                  <a:pt x="75098" y="97425"/>
                </a:cubicBezTo>
                <a:lnTo>
                  <a:pt x="58861" y="97425"/>
                </a:lnTo>
                <a:cubicBezTo>
                  <a:pt x="55486" y="97425"/>
                  <a:pt x="52772" y="94710"/>
                  <a:pt x="52772" y="91336"/>
                </a:cubicBezTo>
                <a:close/>
              </a:path>
            </a:pathLst>
          </a:custGeom>
          <a:solidFill>
            <a:srgbClr val="FFFFFF"/>
          </a:solidFill>
          <a:ln/>
        </p:spPr>
      </p:sp>
      <p:sp>
        <p:nvSpPr>
          <p:cNvPr id="52" name="Text 49"/>
          <p:cNvSpPr/>
          <p:nvPr/>
        </p:nvSpPr>
        <p:spPr>
          <a:xfrm>
            <a:off x="3760012" y="5811960"/>
            <a:ext cx="668055" cy="222685"/>
          </a:xfrm>
          <a:prstGeom prst="rect">
            <a:avLst/>
          </a:prstGeom>
          <a:noFill/>
          <a:ln/>
        </p:spPr>
        <p:txBody>
          <a:bodyPr wrap="square" lIns="0" tIns="0" rIns="0" bIns="0" rtlCol="0" anchor="ctr"/>
          <a:lstStyle/>
          <a:p>
            <a:pPr>
              <a:lnSpc>
                <a:spcPct val="130000"/>
              </a:lnSpc>
            </a:pPr>
            <a:r>
              <a:rPr lang="en-US" sz="1169" b="1" dirty="0">
                <a:solidFill>
                  <a:schemeClr val="tx1">
                    <a:lumMod val="85000"/>
                    <a:lumOff val="15000"/>
                  </a:schemeClr>
                </a:solidFill>
                <a:latin typeface="MiSans" pitchFamily="34" charset="0"/>
                <a:ea typeface="MiSans" pitchFamily="34" charset="-122"/>
                <a:cs typeface="MiSans" pitchFamily="34" charset="-120"/>
              </a:rPr>
              <a:t>Payment</a:t>
            </a:r>
            <a:endParaRPr lang="en-US" sz="1600" dirty="0">
              <a:solidFill>
                <a:schemeClr val="tx1">
                  <a:lumMod val="85000"/>
                  <a:lumOff val="15000"/>
                </a:schemeClr>
              </a:solidFill>
            </a:endParaRPr>
          </a:p>
        </p:txBody>
      </p:sp>
      <p:sp>
        <p:nvSpPr>
          <p:cNvPr id="53" name="Shape 50"/>
          <p:cNvSpPr/>
          <p:nvPr/>
        </p:nvSpPr>
        <p:spPr>
          <a:xfrm>
            <a:off x="3392582" y="6134857"/>
            <a:ext cx="670954" cy="267222"/>
          </a:xfrm>
          <a:custGeom>
            <a:avLst/>
            <a:gdLst/>
            <a:ahLst/>
            <a:cxnLst/>
            <a:rect l="l" t="t" r="r" b="b"/>
            <a:pathLst>
              <a:path w="670954" h="267222">
                <a:moveTo>
                  <a:pt x="74229" y="0"/>
                </a:moveTo>
                <a:lnTo>
                  <a:pt x="596725" y="0"/>
                </a:lnTo>
                <a:cubicBezTo>
                  <a:pt x="637694" y="0"/>
                  <a:pt x="670954" y="33261"/>
                  <a:pt x="670954" y="74229"/>
                </a:cubicBezTo>
                <a:lnTo>
                  <a:pt x="670954" y="192993"/>
                </a:lnTo>
                <a:cubicBezTo>
                  <a:pt x="670954" y="233961"/>
                  <a:pt x="637694" y="267222"/>
                  <a:pt x="596725" y="267222"/>
                </a:cubicBezTo>
                <a:lnTo>
                  <a:pt x="74229" y="267222"/>
                </a:lnTo>
                <a:cubicBezTo>
                  <a:pt x="33233" y="267222"/>
                  <a:pt x="0" y="233989"/>
                  <a:pt x="0" y="192993"/>
                </a:cubicBezTo>
                <a:lnTo>
                  <a:pt x="0" y="74229"/>
                </a:lnTo>
                <a:cubicBezTo>
                  <a:pt x="0" y="33233"/>
                  <a:pt x="33233" y="0"/>
                  <a:pt x="74229" y="0"/>
                </a:cubicBezTo>
                <a:close/>
              </a:path>
            </a:pathLst>
          </a:custGeom>
          <a:solidFill>
            <a:srgbClr val="ED7D31">
              <a:alpha val="20000"/>
            </a:srgbClr>
          </a:solidFill>
          <a:ln w="10160">
            <a:solidFill>
              <a:srgbClr val="ED7D31">
                <a:alpha val="30196"/>
              </a:srgbClr>
            </a:solidFill>
            <a:prstDash val="solid"/>
          </a:ln>
        </p:spPr>
      </p:sp>
      <p:sp>
        <p:nvSpPr>
          <p:cNvPr id="54" name="Text 51"/>
          <p:cNvSpPr/>
          <p:nvPr/>
        </p:nvSpPr>
        <p:spPr>
          <a:xfrm>
            <a:off x="3388870" y="6131146"/>
            <a:ext cx="728481" cy="259799"/>
          </a:xfrm>
          <a:prstGeom prst="rect">
            <a:avLst/>
          </a:prstGeom>
          <a:noFill/>
          <a:ln/>
        </p:spPr>
        <p:txBody>
          <a:bodyPr wrap="square" lIns="111342" tIns="37114" rIns="111342" bIns="37114" rtlCol="0" anchor="ctr"/>
          <a:lstStyle/>
          <a:p>
            <a:pPr>
              <a:lnSpc>
                <a:spcPct val="120000"/>
              </a:lnSpc>
            </a:pPr>
            <a:r>
              <a:rPr lang="en-US" sz="1023" b="1" dirty="0">
                <a:solidFill>
                  <a:srgbClr val="ED7D31"/>
                </a:solidFill>
                <a:latin typeface="MiSans" pitchFamily="34" charset="0"/>
                <a:ea typeface="MiSans" pitchFamily="34" charset="-122"/>
                <a:cs typeface="MiSans" pitchFamily="34" charset="-120"/>
              </a:rPr>
              <a:t>VNPAY</a:t>
            </a:r>
            <a:endParaRPr lang="en-US" sz="1600" dirty="0"/>
          </a:p>
        </p:txBody>
      </p:sp>
      <p:sp>
        <p:nvSpPr>
          <p:cNvPr id="55" name="Shape 52"/>
          <p:cNvSpPr/>
          <p:nvPr/>
        </p:nvSpPr>
        <p:spPr>
          <a:xfrm>
            <a:off x="6206299" y="1261881"/>
            <a:ext cx="445370" cy="445370"/>
          </a:xfrm>
          <a:custGeom>
            <a:avLst/>
            <a:gdLst/>
            <a:ahLst/>
            <a:cxnLst/>
            <a:rect l="l" t="t" r="r" b="b"/>
            <a:pathLst>
              <a:path w="445370" h="445370">
                <a:moveTo>
                  <a:pt x="111342" y="0"/>
                </a:moveTo>
                <a:lnTo>
                  <a:pt x="334027" y="0"/>
                </a:lnTo>
                <a:cubicBezTo>
                  <a:pt x="395520" y="0"/>
                  <a:pt x="445370" y="49850"/>
                  <a:pt x="445370" y="111342"/>
                </a:cubicBezTo>
                <a:lnTo>
                  <a:pt x="445370" y="334027"/>
                </a:lnTo>
                <a:cubicBezTo>
                  <a:pt x="445370" y="395520"/>
                  <a:pt x="395520" y="445370"/>
                  <a:pt x="334027" y="445370"/>
                </a:cubicBezTo>
                <a:lnTo>
                  <a:pt x="111342" y="445370"/>
                </a:lnTo>
                <a:cubicBezTo>
                  <a:pt x="49850" y="445370"/>
                  <a:pt x="0" y="395520"/>
                  <a:pt x="0" y="334027"/>
                </a:cubicBezTo>
                <a:lnTo>
                  <a:pt x="0" y="111342"/>
                </a:lnTo>
                <a:cubicBezTo>
                  <a:pt x="0" y="49850"/>
                  <a:pt x="49850" y="0"/>
                  <a:pt x="111342" y="0"/>
                </a:cubicBezTo>
                <a:close/>
              </a:path>
            </a:pathLst>
          </a:custGeom>
          <a:gradFill flip="none" rotWithShape="1">
            <a:gsLst>
              <a:gs pos="0">
                <a:srgbClr val="70AD47"/>
              </a:gs>
              <a:gs pos="100000">
                <a:srgbClr val="A5A5A5"/>
              </a:gs>
            </a:gsLst>
            <a:lin ang="2700000" scaled="1"/>
          </a:gradFill>
          <a:ln/>
        </p:spPr>
      </p:sp>
      <p:sp>
        <p:nvSpPr>
          <p:cNvPr id="56" name="Shape 53"/>
          <p:cNvSpPr/>
          <p:nvPr/>
        </p:nvSpPr>
        <p:spPr>
          <a:xfrm>
            <a:off x="6359395" y="1391781"/>
            <a:ext cx="139178" cy="185571"/>
          </a:xfrm>
          <a:custGeom>
            <a:avLst/>
            <a:gdLst/>
            <a:ahLst/>
            <a:cxnLst/>
            <a:rect l="l" t="t" r="r" b="b"/>
            <a:pathLst>
              <a:path w="139178" h="185571">
                <a:moveTo>
                  <a:pt x="106160" y="139178"/>
                </a:moveTo>
                <a:cubicBezTo>
                  <a:pt x="108805" y="131096"/>
                  <a:pt x="114097" y="123774"/>
                  <a:pt x="120077" y="117468"/>
                </a:cubicBezTo>
                <a:cubicBezTo>
                  <a:pt x="131929" y="105000"/>
                  <a:pt x="139178" y="88146"/>
                  <a:pt x="139178" y="69589"/>
                </a:cubicBezTo>
                <a:cubicBezTo>
                  <a:pt x="139178" y="31170"/>
                  <a:pt x="108008" y="0"/>
                  <a:pt x="69589" y="0"/>
                </a:cubicBezTo>
                <a:cubicBezTo>
                  <a:pt x="31170" y="0"/>
                  <a:pt x="0" y="31170"/>
                  <a:pt x="0" y="69589"/>
                </a:cubicBezTo>
                <a:cubicBezTo>
                  <a:pt x="0" y="88146"/>
                  <a:pt x="7249" y="105000"/>
                  <a:pt x="19101" y="117468"/>
                </a:cubicBezTo>
                <a:cubicBezTo>
                  <a:pt x="25081" y="123774"/>
                  <a:pt x="30409" y="131096"/>
                  <a:pt x="33019" y="139178"/>
                </a:cubicBezTo>
                <a:lnTo>
                  <a:pt x="106123" y="139178"/>
                </a:lnTo>
                <a:close/>
                <a:moveTo>
                  <a:pt x="104384" y="156575"/>
                </a:moveTo>
                <a:lnTo>
                  <a:pt x="34795" y="156575"/>
                </a:lnTo>
                <a:lnTo>
                  <a:pt x="34795" y="162374"/>
                </a:lnTo>
                <a:cubicBezTo>
                  <a:pt x="34795" y="178394"/>
                  <a:pt x="47770" y="191370"/>
                  <a:pt x="63790" y="191370"/>
                </a:cubicBezTo>
                <a:lnTo>
                  <a:pt x="75388" y="191370"/>
                </a:lnTo>
                <a:cubicBezTo>
                  <a:pt x="91408" y="191370"/>
                  <a:pt x="104384" y="178394"/>
                  <a:pt x="104384" y="162374"/>
                </a:cubicBezTo>
                <a:lnTo>
                  <a:pt x="104384" y="156575"/>
                </a:lnTo>
                <a:close/>
                <a:moveTo>
                  <a:pt x="66689" y="40594"/>
                </a:moveTo>
                <a:cubicBezTo>
                  <a:pt x="52264" y="40594"/>
                  <a:pt x="40594" y="52264"/>
                  <a:pt x="40594" y="66689"/>
                </a:cubicBezTo>
                <a:cubicBezTo>
                  <a:pt x="40594" y="71510"/>
                  <a:pt x="36715" y="75388"/>
                  <a:pt x="31895" y="75388"/>
                </a:cubicBezTo>
                <a:cubicBezTo>
                  <a:pt x="27074" y="75388"/>
                  <a:pt x="23196" y="71510"/>
                  <a:pt x="23196" y="66689"/>
                </a:cubicBezTo>
                <a:cubicBezTo>
                  <a:pt x="23196" y="42660"/>
                  <a:pt x="42660" y="23196"/>
                  <a:pt x="66689" y="23196"/>
                </a:cubicBezTo>
                <a:cubicBezTo>
                  <a:pt x="71510" y="23196"/>
                  <a:pt x="75388" y="27074"/>
                  <a:pt x="75388" y="31895"/>
                </a:cubicBezTo>
                <a:cubicBezTo>
                  <a:pt x="75388" y="36715"/>
                  <a:pt x="71510" y="40594"/>
                  <a:pt x="66689" y="40594"/>
                </a:cubicBezTo>
                <a:close/>
              </a:path>
            </a:pathLst>
          </a:custGeom>
          <a:solidFill>
            <a:srgbClr val="FFFFFF"/>
          </a:solidFill>
          <a:ln/>
        </p:spPr>
      </p:sp>
      <p:sp>
        <p:nvSpPr>
          <p:cNvPr id="57" name="Text 54"/>
          <p:cNvSpPr/>
          <p:nvPr/>
        </p:nvSpPr>
        <p:spPr>
          <a:xfrm>
            <a:off x="6763011" y="1336110"/>
            <a:ext cx="1475288" cy="296913"/>
          </a:xfrm>
          <a:prstGeom prst="rect">
            <a:avLst/>
          </a:prstGeom>
          <a:noFill/>
          <a:ln/>
        </p:spPr>
        <p:txBody>
          <a:bodyPr wrap="square" lIns="0" tIns="0" rIns="0" bIns="0" rtlCol="0" anchor="ctr"/>
          <a:lstStyle/>
          <a:p>
            <a:pPr>
              <a:lnSpc>
                <a:spcPct val="110000"/>
              </a:lnSpc>
            </a:pPr>
            <a:r>
              <a:rPr lang="en-US" sz="1753" b="1" dirty="0">
                <a:solidFill>
                  <a:schemeClr val="accent6">
                    <a:lumMod val="60000"/>
                    <a:lumOff val="40000"/>
                  </a:schemeClr>
                </a:solidFill>
                <a:latin typeface="MiSans" pitchFamily="34" charset="0"/>
                <a:ea typeface="MiSans" pitchFamily="34" charset="-122"/>
                <a:cs typeface="MiSans" pitchFamily="34" charset="-120"/>
              </a:rPr>
              <a:t>Phương pháp</a:t>
            </a:r>
            <a:endParaRPr lang="en-US" sz="1600" dirty="0">
              <a:solidFill>
                <a:schemeClr val="accent6">
                  <a:lumMod val="60000"/>
                  <a:lumOff val="40000"/>
                </a:schemeClr>
              </a:solidFill>
            </a:endParaRPr>
          </a:p>
        </p:txBody>
      </p:sp>
      <p:sp>
        <p:nvSpPr>
          <p:cNvPr id="58" name="Shape 55"/>
          <p:cNvSpPr/>
          <p:nvPr/>
        </p:nvSpPr>
        <p:spPr>
          <a:xfrm>
            <a:off x="6210010" y="2036291"/>
            <a:ext cx="5602382" cy="1195076"/>
          </a:xfrm>
          <a:custGeom>
            <a:avLst/>
            <a:gdLst/>
            <a:ahLst/>
            <a:cxnLst/>
            <a:rect l="l" t="t" r="r" b="b"/>
            <a:pathLst>
              <a:path w="5602382" h="1195076">
                <a:moveTo>
                  <a:pt x="148452" y="0"/>
                </a:moveTo>
                <a:lnTo>
                  <a:pt x="5453929" y="0"/>
                </a:lnTo>
                <a:cubicBezTo>
                  <a:pt x="5535917" y="0"/>
                  <a:pt x="5602382" y="66464"/>
                  <a:pt x="5602382" y="148452"/>
                </a:cubicBezTo>
                <a:lnTo>
                  <a:pt x="5602382" y="1046623"/>
                </a:lnTo>
                <a:cubicBezTo>
                  <a:pt x="5602382" y="1128611"/>
                  <a:pt x="5535917" y="1195076"/>
                  <a:pt x="5453929" y="1195076"/>
                </a:cubicBezTo>
                <a:lnTo>
                  <a:pt x="148452" y="1195076"/>
                </a:lnTo>
                <a:cubicBezTo>
                  <a:pt x="66464" y="1195076"/>
                  <a:pt x="0" y="1128611"/>
                  <a:pt x="0" y="1046623"/>
                </a:cubicBezTo>
                <a:lnTo>
                  <a:pt x="0" y="148452"/>
                </a:lnTo>
                <a:cubicBezTo>
                  <a:pt x="0" y="66519"/>
                  <a:pt x="66519" y="0"/>
                  <a:pt x="148452" y="0"/>
                </a:cubicBezTo>
                <a:close/>
              </a:path>
            </a:pathLst>
          </a:custGeom>
          <a:solidFill>
            <a:srgbClr val="FFFFFF">
              <a:alpha val="5098"/>
            </a:srgbClr>
          </a:solidFill>
          <a:ln w="10160">
            <a:solidFill>
              <a:srgbClr val="FFFFFF">
                <a:alpha val="10196"/>
              </a:srgbClr>
            </a:solidFill>
            <a:prstDash val="solid"/>
          </a:ln>
        </p:spPr>
      </p:sp>
      <p:sp>
        <p:nvSpPr>
          <p:cNvPr id="59" name="Shape 56"/>
          <p:cNvSpPr/>
          <p:nvPr/>
        </p:nvSpPr>
        <p:spPr>
          <a:xfrm>
            <a:off x="6399292" y="2225574"/>
            <a:ext cx="445370" cy="445370"/>
          </a:xfrm>
          <a:custGeom>
            <a:avLst/>
            <a:gdLst/>
            <a:ahLst/>
            <a:cxnLst/>
            <a:rect l="l" t="t" r="r" b="b"/>
            <a:pathLst>
              <a:path w="445370" h="445370">
                <a:moveTo>
                  <a:pt x="111342" y="0"/>
                </a:moveTo>
                <a:lnTo>
                  <a:pt x="334027" y="0"/>
                </a:lnTo>
                <a:cubicBezTo>
                  <a:pt x="395520" y="0"/>
                  <a:pt x="445370" y="49850"/>
                  <a:pt x="445370" y="111342"/>
                </a:cubicBezTo>
                <a:lnTo>
                  <a:pt x="445370" y="334027"/>
                </a:lnTo>
                <a:cubicBezTo>
                  <a:pt x="445370" y="395520"/>
                  <a:pt x="395520" y="445370"/>
                  <a:pt x="334027" y="445370"/>
                </a:cubicBezTo>
                <a:lnTo>
                  <a:pt x="111342" y="445370"/>
                </a:lnTo>
                <a:cubicBezTo>
                  <a:pt x="49850" y="445370"/>
                  <a:pt x="0" y="395520"/>
                  <a:pt x="0" y="334027"/>
                </a:cubicBezTo>
                <a:lnTo>
                  <a:pt x="0" y="111342"/>
                </a:lnTo>
                <a:cubicBezTo>
                  <a:pt x="0" y="49850"/>
                  <a:pt x="49850" y="0"/>
                  <a:pt x="111342" y="0"/>
                </a:cubicBezTo>
                <a:close/>
              </a:path>
            </a:pathLst>
          </a:custGeom>
          <a:solidFill>
            <a:srgbClr val="70AD47"/>
          </a:solidFill>
          <a:ln/>
        </p:spPr>
      </p:sp>
      <p:sp>
        <p:nvSpPr>
          <p:cNvPr id="60" name="Text 57"/>
          <p:cNvSpPr/>
          <p:nvPr/>
        </p:nvSpPr>
        <p:spPr>
          <a:xfrm>
            <a:off x="6585443" y="2318359"/>
            <a:ext cx="167014" cy="259799"/>
          </a:xfrm>
          <a:prstGeom prst="rect">
            <a:avLst/>
          </a:prstGeom>
          <a:noFill/>
          <a:ln/>
        </p:spPr>
        <p:txBody>
          <a:bodyPr wrap="square" lIns="0" tIns="0" rIns="0" bIns="0" rtlCol="0" anchor="ctr"/>
          <a:lstStyle/>
          <a:p>
            <a:pPr>
              <a:lnSpc>
                <a:spcPct val="120000"/>
              </a:lnSpc>
            </a:pPr>
            <a:r>
              <a:rPr lang="en-US" sz="1461" b="1" dirty="0">
                <a:solidFill>
                  <a:srgbClr val="FFFFFF"/>
                </a:solidFill>
                <a:latin typeface="MiSans" pitchFamily="34" charset="0"/>
                <a:ea typeface="MiSans" pitchFamily="34" charset="-122"/>
                <a:cs typeface="MiSans" pitchFamily="34" charset="-120"/>
              </a:rPr>
              <a:t>1</a:t>
            </a:r>
            <a:endParaRPr lang="en-US" sz="1600" dirty="0"/>
          </a:p>
        </p:txBody>
      </p:sp>
      <p:sp>
        <p:nvSpPr>
          <p:cNvPr id="61" name="Text 58"/>
          <p:cNvSpPr/>
          <p:nvPr/>
        </p:nvSpPr>
        <p:spPr>
          <a:xfrm>
            <a:off x="6993119" y="2225574"/>
            <a:ext cx="4713498" cy="259799"/>
          </a:xfrm>
          <a:prstGeom prst="rect">
            <a:avLst/>
          </a:prstGeom>
          <a:noFill/>
          <a:ln/>
        </p:spPr>
        <p:txBody>
          <a:bodyPr wrap="square" lIns="0" tIns="0" rIns="0" bIns="0" rtlCol="0" anchor="ctr"/>
          <a:lstStyle/>
          <a:p>
            <a:pPr>
              <a:lnSpc>
                <a:spcPct val="130000"/>
              </a:lnSpc>
            </a:pPr>
            <a:r>
              <a:rPr lang="en-US" sz="1315" b="1" dirty="0">
                <a:solidFill>
                  <a:schemeClr val="tx1">
                    <a:lumMod val="85000"/>
                    <a:lumOff val="15000"/>
                  </a:schemeClr>
                </a:solidFill>
                <a:latin typeface="MiSans" pitchFamily="34" charset="0"/>
                <a:ea typeface="MiSans" pitchFamily="34" charset="-122"/>
                <a:cs typeface="MiSans" pitchFamily="34" charset="-120"/>
              </a:rPr>
              <a:t>Nghiên cứu tài liệu</a:t>
            </a:r>
            <a:endParaRPr lang="en-US" sz="1600" dirty="0">
              <a:solidFill>
                <a:schemeClr val="tx1">
                  <a:lumMod val="85000"/>
                  <a:lumOff val="15000"/>
                </a:schemeClr>
              </a:solidFill>
            </a:endParaRPr>
          </a:p>
        </p:txBody>
      </p:sp>
      <p:sp>
        <p:nvSpPr>
          <p:cNvPr id="62" name="Text 59"/>
          <p:cNvSpPr/>
          <p:nvPr/>
        </p:nvSpPr>
        <p:spPr>
          <a:xfrm>
            <a:off x="6993119" y="2559601"/>
            <a:ext cx="4704219" cy="482484"/>
          </a:xfrm>
          <a:prstGeom prst="rect">
            <a:avLst/>
          </a:prstGeom>
          <a:noFill/>
          <a:ln/>
        </p:spPr>
        <p:txBody>
          <a:bodyPr wrap="square" lIns="0" tIns="0" rIns="0" bIns="0" rtlCol="0" anchor="ctr"/>
          <a:lstStyle/>
          <a:p>
            <a:pPr>
              <a:lnSpc>
                <a:spcPct val="140000"/>
              </a:lnSpc>
            </a:pPr>
            <a:r>
              <a:rPr lang="en-US" sz="1169" dirty="0">
                <a:solidFill>
                  <a:schemeClr val="accent6">
                    <a:lumMod val="50000"/>
                  </a:schemeClr>
                </a:solidFill>
                <a:latin typeface="MiSans" pitchFamily="34" charset="0"/>
                <a:ea typeface="MiSans" pitchFamily="34" charset="-122"/>
                <a:cs typeface="MiSans" pitchFamily="34" charset="-120"/>
              </a:rPr>
              <a:t>Nghiên cứu tài liệu về phân tích và thiết kế hệ thống, áp dụng các nguyên lý và mô hình thiết kế phần mềm hiện đại.</a:t>
            </a:r>
            <a:endParaRPr lang="en-US" sz="1600" dirty="0">
              <a:solidFill>
                <a:schemeClr val="accent6">
                  <a:lumMod val="50000"/>
                </a:schemeClr>
              </a:solidFill>
            </a:endParaRPr>
          </a:p>
        </p:txBody>
      </p:sp>
      <p:sp>
        <p:nvSpPr>
          <p:cNvPr id="63" name="Shape 60"/>
          <p:cNvSpPr/>
          <p:nvPr/>
        </p:nvSpPr>
        <p:spPr>
          <a:xfrm>
            <a:off x="6210010" y="3592537"/>
            <a:ext cx="5602382" cy="1195076"/>
          </a:xfrm>
          <a:custGeom>
            <a:avLst/>
            <a:gdLst/>
            <a:ahLst/>
            <a:cxnLst/>
            <a:rect l="l" t="t" r="r" b="b"/>
            <a:pathLst>
              <a:path w="5602382" h="1195076">
                <a:moveTo>
                  <a:pt x="148452" y="0"/>
                </a:moveTo>
                <a:lnTo>
                  <a:pt x="5453929" y="0"/>
                </a:lnTo>
                <a:cubicBezTo>
                  <a:pt x="5535917" y="0"/>
                  <a:pt x="5602382" y="66464"/>
                  <a:pt x="5602382" y="148452"/>
                </a:cubicBezTo>
                <a:lnTo>
                  <a:pt x="5602382" y="1046623"/>
                </a:lnTo>
                <a:cubicBezTo>
                  <a:pt x="5602382" y="1128611"/>
                  <a:pt x="5535917" y="1195076"/>
                  <a:pt x="5453929" y="1195076"/>
                </a:cubicBezTo>
                <a:lnTo>
                  <a:pt x="148452" y="1195076"/>
                </a:lnTo>
                <a:cubicBezTo>
                  <a:pt x="66464" y="1195076"/>
                  <a:pt x="0" y="1128611"/>
                  <a:pt x="0" y="1046623"/>
                </a:cubicBezTo>
                <a:lnTo>
                  <a:pt x="0" y="148452"/>
                </a:lnTo>
                <a:cubicBezTo>
                  <a:pt x="0" y="66519"/>
                  <a:pt x="66519" y="0"/>
                  <a:pt x="148452" y="0"/>
                </a:cubicBezTo>
                <a:close/>
              </a:path>
            </a:pathLst>
          </a:custGeom>
          <a:solidFill>
            <a:srgbClr val="FFFFFF">
              <a:alpha val="5098"/>
            </a:srgbClr>
          </a:solidFill>
          <a:ln w="10160">
            <a:solidFill>
              <a:srgbClr val="FFFFFF">
                <a:alpha val="10196"/>
              </a:srgbClr>
            </a:solidFill>
            <a:prstDash val="solid"/>
          </a:ln>
        </p:spPr>
      </p:sp>
      <p:sp>
        <p:nvSpPr>
          <p:cNvPr id="64" name="Shape 61"/>
          <p:cNvSpPr/>
          <p:nvPr/>
        </p:nvSpPr>
        <p:spPr>
          <a:xfrm>
            <a:off x="6399292" y="3781818"/>
            <a:ext cx="445370" cy="445370"/>
          </a:xfrm>
          <a:custGeom>
            <a:avLst/>
            <a:gdLst/>
            <a:ahLst/>
            <a:cxnLst/>
            <a:rect l="l" t="t" r="r" b="b"/>
            <a:pathLst>
              <a:path w="445370" h="445370">
                <a:moveTo>
                  <a:pt x="111342" y="0"/>
                </a:moveTo>
                <a:lnTo>
                  <a:pt x="334027" y="0"/>
                </a:lnTo>
                <a:cubicBezTo>
                  <a:pt x="395520" y="0"/>
                  <a:pt x="445370" y="49850"/>
                  <a:pt x="445370" y="111342"/>
                </a:cubicBezTo>
                <a:lnTo>
                  <a:pt x="445370" y="334027"/>
                </a:lnTo>
                <a:cubicBezTo>
                  <a:pt x="445370" y="395520"/>
                  <a:pt x="395520" y="445370"/>
                  <a:pt x="334027" y="445370"/>
                </a:cubicBezTo>
                <a:lnTo>
                  <a:pt x="111342" y="445370"/>
                </a:lnTo>
                <a:cubicBezTo>
                  <a:pt x="49850" y="445370"/>
                  <a:pt x="0" y="395520"/>
                  <a:pt x="0" y="334027"/>
                </a:cubicBezTo>
                <a:lnTo>
                  <a:pt x="0" y="111342"/>
                </a:lnTo>
                <a:cubicBezTo>
                  <a:pt x="0" y="49850"/>
                  <a:pt x="49850" y="0"/>
                  <a:pt x="111342" y="0"/>
                </a:cubicBezTo>
                <a:close/>
              </a:path>
            </a:pathLst>
          </a:custGeom>
          <a:solidFill>
            <a:srgbClr val="5B9BD5"/>
          </a:solidFill>
          <a:ln/>
        </p:spPr>
      </p:sp>
      <p:sp>
        <p:nvSpPr>
          <p:cNvPr id="65" name="Text 62"/>
          <p:cNvSpPr/>
          <p:nvPr/>
        </p:nvSpPr>
        <p:spPr>
          <a:xfrm>
            <a:off x="6569785" y="3874603"/>
            <a:ext cx="194849" cy="259799"/>
          </a:xfrm>
          <a:prstGeom prst="rect">
            <a:avLst/>
          </a:prstGeom>
          <a:noFill/>
          <a:ln/>
        </p:spPr>
        <p:txBody>
          <a:bodyPr wrap="square" lIns="0" tIns="0" rIns="0" bIns="0" rtlCol="0" anchor="ctr"/>
          <a:lstStyle/>
          <a:p>
            <a:pPr>
              <a:lnSpc>
                <a:spcPct val="120000"/>
              </a:lnSpc>
            </a:pPr>
            <a:r>
              <a:rPr lang="en-US" sz="1461" b="1" dirty="0">
                <a:solidFill>
                  <a:srgbClr val="FFFFFF"/>
                </a:solidFill>
                <a:latin typeface="MiSans" pitchFamily="34" charset="0"/>
                <a:ea typeface="MiSans" pitchFamily="34" charset="-122"/>
                <a:cs typeface="MiSans" pitchFamily="34" charset="-120"/>
              </a:rPr>
              <a:t>2</a:t>
            </a:r>
            <a:endParaRPr lang="en-US" sz="1600" dirty="0"/>
          </a:p>
        </p:txBody>
      </p:sp>
      <p:sp>
        <p:nvSpPr>
          <p:cNvPr id="66" name="Text 63"/>
          <p:cNvSpPr/>
          <p:nvPr/>
        </p:nvSpPr>
        <p:spPr>
          <a:xfrm>
            <a:off x="6993119" y="3781818"/>
            <a:ext cx="4713498" cy="259799"/>
          </a:xfrm>
          <a:prstGeom prst="rect">
            <a:avLst/>
          </a:prstGeom>
          <a:noFill/>
          <a:ln/>
        </p:spPr>
        <p:txBody>
          <a:bodyPr wrap="square" lIns="0" tIns="0" rIns="0" bIns="0" rtlCol="0" anchor="ctr"/>
          <a:lstStyle/>
          <a:p>
            <a:pPr>
              <a:lnSpc>
                <a:spcPct val="130000"/>
              </a:lnSpc>
            </a:pPr>
            <a:r>
              <a:rPr lang="en-US" sz="1315" b="1" dirty="0">
                <a:solidFill>
                  <a:schemeClr val="tx1">
                    <a:lumMod val="85000"/>
                    <a:lumOff val="15000"/>
                  </a:schemeClr>
                </a:solidFill>
                <a:latin typeface="MiSans" pitchFamily="34" charset="0"/>
                <a:ea typeface="MiSans" pitchFamily="34" charset="-122"/>
                <a:cs typeface="MiSans" pitchFamily="34" charset="-120"/>
              </a:rPr>
              <a:t>Tham khảo hệ thống thực tế</a:t>
            </a:r>
            <a:endParaRPr lang="en-US" sz="1600" dirty="0">
              <a:solidFill>
                <a:schemeClr val="tx1">
                  <a:lumMod val="85000"/>
                  <a:lumOff val="15000"/>
                </a:schemeClr>
              </a:solidFill>
            </a:endParaRPr>
          </a:p>
        </p:txBody>
      </p:sp>
      <p:sp>
        <p:nvSpPr>
          <p:cNvPr id="67" name="Text 64"/>
          <p:cNvSpPr/>
          <p:nvPr/>
        </p:nvSpPr>
        <p:spPr>
          <a:xfrm>
            <a:off x="6993119" y="4115845"/>
            <a:ext cx="4704219" cy="482484"/>
          </a:xfrm>
          <a:prstGeom prst="rect">
            <a:avLst/>
          </a:prstGeom>
          <a:noFill/>
          <a:ln/>
        </p:spPr>
        <p:txBody>
          <a:bodyPr wrap="square" lIns="0" tIns="0" rIns="0" bIns="0" rtlCol="0" anchor="ctr"/>
          <a:lstStyle/>
          <a:p>
            <a:pPr>
              <a:lnSpc>
                <a:spcPct val="140000"/>
              </a:lnSpc>
            </a:pPr>
            <a:r>
              <a:rPr lang="en-US" sz="1169" dirty="0">
                <a:solidFill>
                  <a:schemeClr val="accent1">
                    <a:lumMod val="75000"/>
                  </a:schemeClr>
                </a:solidFill>
                <a:latin typeface="MiSans" pitchFamily="34" charset="0"/>
                <a:ea typeface="MiSans" pitchFamily="34" charset="-122"/>
                <a:cs typeface="MiSans" pitchFamily="34" charset="-120"/>
              </a:rPr>
              <a:t>Phân tích và tham khảo các hệ thống đặt vé thực tế đang hoạt động để học hỏi kinh nghiệm và áp dụng vào đề tài.</a:t>
            </a:r>
            <a:endParaRPr lang="en-US" sz="1600" dirty="0">
              <a:solidFill>
                <a:schemeClr val="accent1">
                  <a:lumMod val="75000"/>
                </a:schemeClr>
              </a:solidFill>
            </a:endParaRPr>
          </a:p>
        </p:txBody>
      </p:sp>
      <p:sp>
        <p:nvSpPr>
          <p:cNvPr id="68" name="Shape 65"/>
          <p:cNvSpPr/>
          <p:nvPr/>
        </p:nvSpPr>
        <p:spPr>
          <a:xfrm>
            <a:off x="6210010" y="5148895"/>
            <a:ext cx="5602382" cy="1195076"/>
          </a:xfrm>
          <a:custGeom>
            <a:avLst/>
            <a:gdLst/>
            <a:ahLst/>
            <a:cxnLst/>
            <a:rect l="l" t="t" r="r" b="b"/>
            <a:pathLst>
              <a:path w="5602382" h="1195076">
                <a:moveTo>
                  <a:pt x="148452" y="0"/>
                </a:moveTo>
                <a:lnTo>
                  <a:pt x="5453929" y="0"/>
                </a:lnTo>
                <a:cubicBezTo>
                  <a:pt x="5535917" y="0"/>
                  <a:pt x="5602382" y="66464"/>
                  <a:pt x="5602382" y="148452"/>
                </a:cubicBezTo>
                <a:lnTo>
                  <a:pt x="5602382" y="1046623"/>
                </a:lnTo>
                <a:cubicBezTo>
                  <a:pt x="5602382" y="1128611"/>
                  <a:pt x="5535917" y="1195076"/>
                  <a:pt x="5453929" y="1195076"/>
                </a:cubicBezTo>
                <a:lnTo>
                  <a:pt x="148452" y="1195076"/>
                </a:lnTo>
                <a:cubicBezTo>
                  <a:pt x="66464" y="1195076"/>
                  <a:pt x="0" y="1128611"/>
                  <a:pt x="0" y="1046623"/>
                </a:cubicBezTo>
                <a:lnTo>
                  <a:pt x="0" y="148452"/>
                </a:lnTo>
                <a:cubicBezTo>
                  <a:pt x="0" y="66519"/>
                  <a:pt x="66519" y="0"/>
                  <a:pt x="148452" y="0"/>
                </a:cubicBezTo>
                <a:close/>
              </a:path>
            </a:pathLst>
          </a:custGeom>
          <a:solidFill>
            <a:srgbClr val="FFFFFF">
              <a:alpha val="5098"/>
            </a:srgbClr>
          </a:solidFill>
          <a:ln w="10160">
            <a:solidFill>
              <a:srgbClr val="FFFFFF">
                <a:alpha val="10196"/>
              </a:srgbClr>
            </a:solidFill>
            <a:prstDash val="solid"/>
          </a:ln>
        </p:spPr>
      </p:sp>
      <p:sp>
        <p:nvSpPr>
          <p:cNvPr id="69" name="Shape 66"/>
          <p:cNvSpPr/>
          <p:nvPr/>
        </p:nvSpPr>
        <p:spPr>
          <a:xfrm>
            <a:off x="6399292" y="5338175"/>
            <a:ext cx="445370" cy="445370"/>
          </a:xfrm>
          <a:custGeom>
            <a:avLst/>
            <a:gdLst/>
            <a:ahLst/>
            <a:cxnLst/>
            <a:rect l="l" t="t" r="r" b="b"/>
            <a:pathLst>
              <a:path w="445370" h="445370">
                <a:moveTo>
                  <a:pt x="111342" y="0"/>
                </a:moveTo>
                <a:lnTo>
                  <a:pt x="334027" y="0"/>
                </a:lnTo>
                <a:cubicBezTo>
                  <a:pt x="395520" y="0"/>
                  <a:pt x="445370" y="49850"/>
                  <a:pt x="445370" y="111342"/>
                </a:cubicBezTo>
                <a:lnTo>
                  <a:pt x="445370" y="334027"/>
                </a:lnTo>
                <a:cubicBezTo>
                  <a:pt x="445370" y="395520"/>
                  <a:pt x="395520" y="445370"/>
                  <a:pt x="334027" y="445370"/>
                </a:cubicBezTo>
                <a:lnTo>
                  <a:pt x="111342" y="445370"/>
                </a:lnTo>
                <a:cubicBezTo>
                  <a:pt x="49850" y="445370"/>
                  <a:pt x="0" y="395520"/>
                  <a:pt x="0" y="334027"/>
                </a:cubicBezTo>
                <a:lnTo>
                  <a:pt x="0" y="111342"/>
                </a:lnTo>
                <a:cubicBezTo>
                  <a:pt x="0" y="49850"/>
                  <a:pt x="49850" y="0"/>
                  <a:pt x="111342" y="0"/>
                </a:cubicBezTo>
                <a:close/>
              </a:path>
            </a:pathLst>
          </a:custGeom>
          <a:solidFill>
            <a:srgbClr val="4472C4"/>
          </a:solidFill>
          <a:ln/>
        </p:spPr>
      </p:sp>
      <p:sp>
        <p:nvSpPr>
          <p:cNvPr id="70" name="Text 67"/>
          <p:cNvSpPr/>
          <p:nvPr/>
        </p:nvSpPr>
        <p:spPr>
          <a:xfrm>
            <a:off x="6567350" y="5430960"/>
            <a:ext cx="204128" cy="259799"/>
          </a:xfrm>
          <a:prstGeom prst="rect">
            <a:avLst/>
          </a:prstGeom>
          <a:noFill/>
          <a:ln/>
        </p:spPr>
        <p:txBody>
          <a:bodyPr wrap="square" lIns="0" tIns="0" rIns="0" bIns="0" rtlCol="0" anchor="ctr"/>
          <a:lstStyle/>
          <a:p>
            <a:pPr>
              <a:lnSpc>
                <a:spcPct val="120000"/>
              </a:lnSpc>
            </a:pPr>
            <a:r>
              <a:rPr lang="en-US" sz="1461" b="1" dirty="0">
                <a:solidFill>
                  <a:srgbClr val="FFFFFF"/>
                </a:solidFill>
                <a:latin typeface="MiSans" pitchFamily="34" charset="0"/>
                <a:ea typeface="MiSans" pitchFamily="34" charset="-122"/>
                <a:cs typeface="MiSans" pitchFamily="34" charset="-120"/>
              </a:rPr>
              <a:t>3</a:t>
            </a:r>
            <a:endParaRPr lang="en-US" sz="1600" dirty="0"/>
          </a:p>
        </p:txBody>
      </p:sp>
      <p:sp>
        <p:nvSpPr>
          <p:cNvPr id="71" name="Text 68"/>
          <p:cNvSpPr/>
          <p:nvPr/>
        </p:nvSpPr>
        <p:spPr>
          <a:xfrm>
            <a:off x="6993119" y="5338175"/>
            <a:ext cx="4713498" cy="259799"/>
          </a:xfrm>
          <a:prstGeom prst="rect">
            <a:avLst/>
          </a:prstGeom>
          <a:noFill/>
          <a:ln/>
        </p:spPr>
        <p:txBody>
          <a:bodyPr wrap="square" lIns="0" tIns="0" rIns="0" bIns="0" rtlCol="0" anchor="ctr"/>
          <a:lstStyle/>
          <a:p>
            <a:pPr>
              <a:lnSpc>
                <a:spcPct val="130000"/>
              </a:lnSpc>
            </a:pPr>
            <a:r>
              <a:rPr lang="en-US" sz="1315" b="1" dirty="0">
                <a:solidFill>
                  <a:schemeClr val="tx1">
                    <a:lumMod val="85000"/>
                    <a:lumOff val="15000"/>
                  </a:schemeClr>
                </a:solidFill>
                <a:latin typeface="MiSans" pitchFamily="34" charset="0"/>
                <a:ea typeface="MiSans" pitchFamily="34" charset="-122"/>
                <a:cs typeface="MiSans" pitchFamily="34" charset="-120"/>
              </a:rPr>
              <a:t>Áp dụng UML</a:t>
            </a:r>
            <a:endParaRPr lang="en-US" sz="1600" dirty="0">
              <a:solidFill>
                <a:schemeClr val="tx1">
                  <a:lumMod val="85000"/>
                  <a:lumOff val="15000"/>
                </a:schemeClr>
              </a:solidFill>
            </a:endParaRPr>
          </a:p>
        </p:txBody>
      </p:sp>
      <p:sp>
        <p:nvSpPr>
          <p:cNvPr id="72" name="Text 69"/>
          <p:cNvSpPr/>
          <p:nvPr/>
        </p:nvSpPr>
        <p:spPr>
          <a:xfrm>
            <a:off x="6993119" y="5672202"/>
            <a:ext cx="4704219" cy="482484"/>
          </a:xfrm>
          <a:prstGeom prst="rect">
            <a:avLst/>
          </a:prstGeom>
          <a:noFill/>
          <a:ln/>
        </p:spPr>
        <p:txBody>
          <a:bodyPr wrap="square" lIns="0" tIns="0" rIns="0" bIns="0" rtlCol="0" anchor="ctr"/>
          <a:lstStyle/>
          <a:p>
            <a:pPr>
              <a:lnSpc>
                <a:spcPct val="140000"/>
              </a:lnSpc>
            </a:pPr>
            <a:r>
              <a:rPr lang="en-US" sz="1169" dirty="0">
                <a:solidFill>
                  <a:schemeClr val="accent5">
                    <a:lumMod val="50000"/>
                  </a:schemeClr>
                </a:solidFill>
                <a:latin typeface="MiSans" pitchFamily="34" charset="0"/>
                <a:ea typeface="MiSans" pitchFamily="34" charset="-122"/>
                <a:cs typeface="MiSans" pitchFamily="34" charset="-120"/>
              </a:rPr>
              <a:t>Sử dụng ngôn ngữ mô hình hóa thống nhất (UML) để mô tả cấu trúc và hành vi của hệ thống một cách rõ ràng.</a:t>
            </a:r>
            <a:endParaRPr lang="en-US" sz="1600" dirty="0">
              <a:solidFill>
                <a:schemeClr val="accent5">
                  <a:lumMod val="50000"/>
                </a:schemeClr>
              </a:solidFill>
            </a:endParaRPr>
          </a:p>
        </p:txBody>
      </p:sp>
      <p:sp>
        <p:nvSpPr>
          <p:cNvPr id="73" name="Shape 70"/>
          <p:cNvSpPr/>
          <p:nvPr/>
        </p:nvSpPr>
        <p:spPr>
          <a:xfrm>
            <a:off x="371142" y="6728683"/>
            <a:ext cx="593826" cy="37114"/>
          </a:xfrm>
          <a:custGeom>
            <a:avLst/>
            <a:gdLst/>
            <a:ahLst/>
            <a:cxnLst/>
            <a:rect l="l" t="t" r="r" b="b"/>
            <a:pathLst>
              <a:path w="593826" h="37114">
                <a:moveTo>
                  <a:pt x="18557" y="0"/>
                </a:moveTo>
                <a:lnTo>
                  <a:pt x="575269" y="0"/>
                </a:lnTo>
                <a:cubicBezTo>
                  <a:pt x="585518" y="0"/>
                  <a:pt x="593826" y="8308"/>
                  <a:pt x="593826" y="18557"/>
                </a:cubicBezTo>
                <a:lnTo>
                  <a:pt x="593826" y="18557"/>
                </a:lnTo>
                <a:cubicBezTo>
                  <a:pt x="593826" y="28806"/>
                  <a:pt x="585518" y="37114"/>
                  <a:pt x="575269" y="37114"/>
                </a:cubicBezTo>
                <a:lnTo>
                  <a:pt x="18557" y="37114"/>
                </a:lnTo>
                <a:cubicBezTo>
                  <a:pt x="8315" y="37114"/>
                  <a:pt x="0" y="28799"/>
                  <a:pt x="0" y="18557"/>
                </a:cubicBezTo>
                <a:lnTo>
                  <a:pt x="0" y="18557"/>
                </a:lnTo>
                <a:cubicBezTo>
                  <a:pt x="0" y="8315"/>
                  <a:pt x="8315" y="0"/>
                  <a:pt x="18557" y="0"/>
                </a:cubicBezTo>
                <a:close/>
              </a:path>
            </a:pathLst>
          </a:custGeom>
          <a:gradFill flip="none" rotWithShape="1">
            <a:gsLst>
              <a:gs pos="0">
                <a:srgbClr val="E94560"/>
              </a:gs>
              <a:gs pos="100000">
                <a:srgbClr val="5B9BD5"/>
              </a:gs>
            </a:gsLst>
            <a:lin ang="0" scaled="1"/>
          </a:gradFill>
          <a:ln/>
        </p:spPr>
      </p:sp>
      <p:sp>
        <p:nvSpPr>
          <p:cNvPr id="74" name="Text 71"/>
          <p:cNvSpPr/>
          <p:nvPr/>
        </p:nvSpPr>
        <p:spPr>
          <a:xfrm>
            <a:off x="1076311" y="6635897"/>
            <a:ext cx="3423781" cy="222685"/>
          </a:xfrm>
          <a:prstGeom prst="rect">
            <a:avLst/>
          </a:prstGeom>
          <a:noFill/>
          <a:ln/>
        </p:spPr>
        <p:txBody>
          <a:bodyPr wrap="square" lIns="0" tIns="0" rIns="0" bIns="0" rtlCol="0" anchor="ctr"/>
          <a:lstStyle/>
          <a:p>
            <a:pPr>
              <a:lnSpc>
                <a:spcPct val="130000"/>
              </a:lnSpc>
            </a:pPr>
            <a:r>
              <a:rPr lang="en-US" sz="1169" b="1" dirty="0">
                <a:solidFill>
                  <a:srgbClr val="FFFFFF">
                    <a:alpha val="70000"/>
                  </a:srgbClr>
                </a:solidFill>
                <a:latin typeface="MiSans" pitchFamily="34" charset="0"/>
                <a:ea typeface="MiSans" pitchFamily="34" charset="-122"/>
                <a:cs typeface="MiSans" pitchFamily="34" charset="-120"/>
              </a:rPr>
              <a:t>KIẾN THỨC - KỸ NĂNG - SÁNG TẠO - HỘI NHẬP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Shape 1"/>
          <p:cNvSpPr/>
          <p:nvPr/>
        </p:nvSpPr>
        <p:spPr>
          <a:xfrm>
            <a:off x="381000" y="826851"/>
            <a:ext cx="38100" cy="457200"/>
          </a:xfrm>
          <a:custGeom>
            <a:avLst/>
            <a:gdLst/>
            <a:ahLst/>
            <a:cxnLst/>
            <a:rect l="l" t="t" r="r" b="b"/>
            <a:pathLst>
              <a:path w="38100" h="457200">
                <a:moveTo>
                  <a:pt x="19050" y="0"/>
                </a:moveTo>
                <a:lnTo>
                  <a:pt x="19050" y="0"/>
                </a:lnTo>
                <a:cubicBezTo>
                  <a:pt x="29564" y="0"/>
                  <a:pt x="38100" y="8536"/>
                  <a:pt x="38100" y="19050"/>
                </a:cubicBezTo>
                <a:lnTo>
                  <a:pt x="38100" y="438150"/>
                </a:lnTo>
                <a:cubicBezTo>
                  <a:pt x="38100" y="448664"/>
                  <a:pt x="29564" y="457200"/>
                  <a:pt x="19050" y="457200"/>
                </a:cubicBezTo>
                <a:lnTo>
                  <a:pt x="19050" y="457200"/>
                </a:lnTo>
                <a:cubicBezTo>
                  <a:pt x="8536" y="457200"/>
                  <a:pt x="0" y="448664"/>
                  <a:pt x="0" y="438150"/>
                </a:cubicBezTo>
                <a:lnTo>
                  <a:pt x="0" y="19050"/>
                </a:lnTo>
                <a:cubicBezTo>
                  <a:pt x="0" y="8536"/>
                  <a:pt x="8536" y="0"/>
                  <a:pt x="19050" y="0"/>
                </a:cubicBezTo>
                <a:close/>
              </a:path>
            </a:pathLst>
          </a:custGeom>
          <a:solidFill>
            <a:srgbClr val="70AD47"/>
          </a:solidFill>
          <a:ln/>
        </p:spPr>
      </p:sp>
      <p:sp>
        <p:nvSpPr>
          <p:cNvPr id="5" name="Text 2"/>
          <p:cNvSpPr/>
          <p:nvPr/>
        </p:nvSpPr>
        <p:spPr>
          <a:xfrm>
            <a:off x="475032" y="945207"/>
            <a:ext cx="2152650" cy="190500"/>
          </a:xfrm>
          <a:prstGeom prst="rect">
            <a:avLst/>
          </a:prstGeom>
          <a:noFill/>
          <a:ln/>
        </p:spPr>
        <p:txBody>
          <a:bodyPr wrap="square" lIns="0" tIns="0" rIns="0" bIns="0" rtlCol="0" anchor="ctr"/>
          <a:lstStyle/>
          <a:p>
            <a:pPr>
              <a:lnSpc>
                <a:spcPct val="120000"/>
              </a:lnSpc>
            </a:pPr>
            <a:r>
              <a:rPr lang="en-US" sz="1050" b="1" kern="0" spc="53" dirty="0">
                <a:solidFill>
                  <a:srgbClr val="70AD47"/>
                </a:solidFill>
                <a:latin typeface="MiSans" pitchFamily="34" charset="0"/>
                <a:ea typeface="MiSans" pitchFamily="34" charset="-122"/>
                <a:cs typeface="MiSans" pitchFamily="34" charset="-120"/>
              </a:rPr>
              <a:t>Project Results</a:t>
            </a:r>
            <a:endParaRPr lang="en-US" sz="1600" dirty="0"/>
          </a:p>
        </p:txBody>
      </p:sp>
      <p:sp>
        <p:nvSpPr>
          <p:cNvPr id="6" name="Text 3"/>
          <p:cNvSpPr/>
          <p:nvPr/>
        </p:nvSpPr>
        <p:spPr>
          <a:xfrm>
            <a:off x="4967287" y="861507"/>
            <a:ext cx="2257425" cy="381000"/>
          </a:xfrm>
          <a:prstGeom prst="rect">
            <a:avLst/>
          </a:prstGeom>
          <a:noFill/>
          <a:ln/>
        </p:spPr>
        <p:txBody>
          <a:bodyPr wrap="square" lIns="0" tIns="0" rIns="0" bIns="0" rtlCol="0" anchor="ctr"/>
          <a:lstStyle/>
          <a:p>
            <a:pPr>
              <a:lnSpc>
                <a:spcPct val="90000"/>
              </a:lnSpc>
            </a:pPr>
            <a:r>
              <a:rPr lang="en-US" sz="2700" b="1" dirty="0">
                <a:solidFill>
                  <a:srgbClr val="16213E"/>
                </a:solidFill>
                <a:latin typeface="得意黑" pitchFamily="34" charset="0"/>
                <a:ea typeface="得意黑" pitchFamily="34" charset="-122"/>
                <a:cs typeface="得意黑" pitchFamily="34" charset="-120"/>
              </a:rPr>
              <a:t>Kết quả đạt được</a:t>
            </a:r>
            <a:endParaRPr lang="en-US" sz="1600" dirty="0"/>
          </a:p>
        </p:txBody>
      </p:sp>
      <p:sp>
        <p:nvSpPr>
          <p:cNvPr id="8" name="Shape 5"/>
          <p:cNvSpPr/>
          <p:nvPr/>
        </p:nvSpPr>
        <p:spPr>
          <a:xfrm>
            <a:off x="388620" y="1569720"/>
            <a:ext cx="11416665" cy="1996440"/>
          </a:xfrm>
          <a:custGeom>
            <a:avLst/>
            <a:gdLst/>
            <a:ahLst/>
            <a:cxnLst/>
            <a:rect l="l" t="t" r="r" b="b"/>
            <a:pathLst>
              <a:path w="11416665" h="1996440">
                <a:moveTo>
                  <a:pt x="152408" y="0"/>
                </a:moveTo>
                <a:lnTo>
                  <a:pt x="11264257" y="0"/>
                </a:lnTo>
                <a:cubicBezTo>
                  <a:pt x="11348430" y="0"/>
                  <a:pt x="11416665" y="68235"/>
                  <a:pt x="11416665" y="152408"/>
                </a:cubicBezTo>
                <a:lnTo>
                  <a:pt x="11416665" y="1844032"/>
                </a:lnTo>
                <a:cubicBezTo>
                  <a:pt x="11416665" y="1928205"/>
                  <a:pt x="11348430" y="1996440"/>
                  <a:pt x="11264257" y="1996440"/>
                </a:cubicBezTo>
                <a:lnTo>
                  <a:pt x="152408" y="1996440"/>
                </a:lnTo>
                <a:cubicBezTo>
                  <a:pt x="68235" y="1996440"/>
                  <a:pt x="0" y="1928205"/>
                  <a:pt x="0" y="1844032"/>
                </a:cubicBezTo>
                <a:lnTo>
                  <a:pt x="0" y="152408"/>
                </a:lnTo>
                <a:cubicBezTo>
                  <a:pt x="0" y="68292"/>
                  <a:pt x="68292" y="0"/>
                  <a:pt x="152408" y="0"/>
                </a:cubicBezTo>
                <a:close/>
              </a:path>
            </a:pathLst>
          </a:custGeom>
          <a:gradFill flip="none" rotWithShape="1">
            <a:gsLst>
              <a:gs pos="0">
                <a:srgbClr val="70AD47">
                  <a:alpha val="10000"/>
                </a:srgbClr>
              </a:gs>
              <a:gs pos="100000">
                <a:srgbClr val="5B9BD5">
                  <a:alpha val="5000"/>
                </a:srgbClr>
              </a:gs>
            </a:gsLst>
            <a:lin ang="2700000" scaled="1"/>
          </a:gradFill>
          <a:ln w="20320">
            <a:solidFill>
              <a:srgbClr val="70AD47">
                <a:alpha val="30196"/>
              </a:srgbClr>
            </a:solidFill>
            <a:prstDash val="solid"/>
          </a:ln>
        </p:spPr>
      </p:sp>
      <p:sp>
        <p:nvSpPr>
          <p:cNvPr id="9" name="Shape 6"/>
          <p:cNvSpPr/>
          <p:nvPr/>
        </p:nvSpPr>
        <p:spPr>
          <a:xfrm>
            <a:off x="624840" y="1805941"/>
            <a:ext cx="609600" cy="609600"/>
          </a:xfrm>
          <a:custGeom>
            <a:avLst/>
            <a:gdLst/>
            <a:ahLst/>
            <a:cxnLst/>
            <a:rect l="l" t="t" r="r" b="b"/>
            <a:pathLst>
              <a:path w="609600" h="609600">
                <a:moveTo>
                  <a:pt x="152400" y="0"/>
                </a:moveTo>
                <a:lnTo>
                  <a:pt x="457200" y="0"/>
                </a:lnTo>
                <a:cubicBezTo>
                  <a:pt x="541312" y="0"/>
                  <a:pt x="609600" y="68288"/>
                  <a:pt x="609600" y="152400"/>
                </a:cubicBezTo>
                <a:lnTo>
                  <a:pt x="609600" y="457200"/>
                </a:lnTo>
                <a:cubicBezTo>
                  <a:pt x="609600" y="541312"/>
                  <a:pt x="541312" y="609600"/>
                  <a:pt x="457200" y="609600"/>
                </a:cubicBezTo>
                <a:lnTo>
                  <a:pt x="152400" y="609600"/>
                </a:lnTo>
                <a:cubicBezTo>
                  <a:pt x="68288" y="609600"/>
                  <a:pt x="0" y="541312"/>
                  <a:pt x="0" y="457200"/>
                </a:cubicBezTo>
                <a:lnTo>
                  <a:pt x="0" y="152400"/>
                </a:lnTo>
                <a:cubicBezTo>
                  <a:pt x="0" y="68288"/>
                  <a:pt x="68288" y="0"/>
                  <a:pt x="152400" y="0"/>
                </a:cubicBezTo>
                <a:close/>
              </a:path>
            </a:pathLst>
          </a:custGeom>
          <a:gradFill flip="none" rotWithShape="1">
            <a:gsLst>
              <a:gs pos="0">
                <a:srgbClr val="70AD47"/>
              </a:gs>
              <a:gs pos="100000">
                <a:srgbClr val="5B9BD5"/>
              </a:gs>
            </a:gsLst>
            <a:lin ang="2700000" scaled="1"/>
          </a:gradFill>
          <a:ln/>
          <a:effectLst>
            <a:outerShdw blurRad="142875" dist="95250" dir="5400000" algn="bl" rotWithShape="0">
              <a:srgbClr val="000000">
                <a:alpha val="10196"/>
              </a:srgbClr>
            </a:outerShdw>
          </a:effectLst>
        </p:spPr>
      </p:sp>
      <p:sp>
        <p:nvSpPr>
          <p:cNvPr id="10" name="Shape 7"/>
          <p:cNvSpPr/>
          <p:nvPr/>
        </p:nvSpPr>
        <p:spPr>
          <a:xfrm>
            <a:off x="815340" y="1996441"/>
            <a:ext cx="228600" cy="228600"/>
          </a:xfrm>
          <a:custGeom>
            <a:avLst/>
            <a:gdLst/>
            <a:ahLst/>
            <a:cxnLst/>
            <a:rect l="l" t="t" r="r" b="b"/>
            <a:pathLst>
              <a:path w="228600" h="228600">
                <a:moveTo>
                  <a:pt x="64428" y="0"/>
                </a:moveTo>
                <a:lnTo>
                  <a:pt x="164440" y="0"/>
                </a:lnTo>
                <a:cubicBezTo>
                  <a:pt x="176272" y="0"/>
                  <a:pt x="185916" y="9733"/>
                  <a:pt x="185470" y="21521"/>
                </a:cubicBezTo>
                <a:cubicBezTo>
                  <a:pt x="185380" y="23887"/>
                  <a:pt x="185291" y="26253"/>
                  <a:pt x="185157" y="28575"/>
                </a:cubicBezTo>
                <a:lnTo>
                  <a:pt x="207303" y="28575"/>
                </a:lnTo>
                <a:cubicBezTo>
                  <a:pt x="218956" y="28575"/>
                  <a:pt x="229225" y="38219"/>
                  <a:pt x="228332" y="50810"/>
                </a:cubicBezTo>
                <a:cubicBezTo>
                  <a:pt x="224983" y="97110"/>
                  <a:pt x="201320" y="122560"/>
                  <a:pt x="175647" y="135865"/>
                </a:cubicBezTo>
                <a:cubicBezTo>
                  <a:pt x="168593" y="139526"/>
                  <a:pt x="161404" y="142250"/>
                  <a:pt x="154573" y="144259"/>
                </a:cubicBezTo>
                <a:cubicBezTo>
                  <a:pt x="145554" y="157029"/>
                  <a:pt x="136178" y="163770"/>
                  <a:pt x="128721" y="167387"/>
                </a:cubicBezTo>
                <a:lnTo>
                  <a:pt x="128721" y="200025"/>
                </a:lnTo>
                <a:lnTo>
                  <a:pt x="157296" y="200025"/>
                </a:lnTo>
                <a:cubicBezTo>
                  <a:pt x="165199" y="200025"/>
                  <a:pt x="171584" y="206410"/>
                  <a:pt x="171584" y="214313"/>
                </a:cubicBezTo>
                <a:cubicBezTo>
                  <a:pt x="171584" y="222215"/>
                  <a:pt x="165199" y="228600"/>
                  <a:pt x="157296" y="228600"/>
                </a:cubicBezTo>
                <a:lnTo>
                  <a:pt x="71571" y="228600"/>
                </a:lnTo>
                <a:cubicBezTo>
                  <a:pt x="63669" y="228600"/>
                  <a:pt x="57284" y="222215"/>
                  <a:pt x="57284" y="214313"/>
                </a:cubicBezTo>
                <a:cubicBezTo>
                  <a:pt x="57284" y="206410"/>
                  <a:pt x="63669" y="200025"/>
                  <a:pt x="71571" y="200025"/>
                </a:cubicBezTo>
                <a:lnTo>
                  <a:pt x="100146" y="200025"/>
                </a:lnTo>
                <a:lnTo>
                  <a:pt x="100146" y="167387"/>
                </a:lnTo>
                <a:cubicBezTo>
                  <a:pt x="93003" y="163949"/>
                  <a:pt x="84118" y="157564"/>
                  <a:pt x="75456" y="145822"/>
                </a:cubicBezTo>
                <a:cubicBezTo>
                  <a:pt x="67241" y="143679"/>
                  <a:pt x="58311" y="140419"/>
                  <a:pt x="49604" y="135508"/>
                </a:cubicBezTo>
                <a:cubicBezTo>
                  <a:pt x="25450" y="121980"/>
                  <a:pt x="3661" y="96485"/>
                  <a:pt x="536" y="50721"/>
                </a:cubicBezTo>
                <a:cubicBezTo>
                  <a:pt x="-313" y="38174"/>
                  <a:pt x="9912" y="28530"/>
                  <a:pt x="21565" y="28530"/>
                </a:cubicBezTo>
                <a:lnTo>
                  <a:pt x="43711" y="28530"/>
                </a:lnTo>
                <a:cubicBezTo>
                  <a:pt x="43577" y="26209"/>
                  <a:pt x="43488" y="23887"/>
                  <a:pt x="43398" y="21476"/>
                </a:cubicBezTo>
                <a:cubicBezTo>
                  <a:pt x="42952" y="9644"/>
                  <a:pt x="52596" y="-45"/>
                  <a:pt x="64428" y="-45"/>
                </a:cubicBezTo>
                <a:close/>
                <a:moveTo>
                  <a:pt x="45318" y="50006"/>
                </a:moveTo>
                <a:lnTo>
                  <a:pt x="21922" y="50006"/>
                </a:lnTo>
                <a:cubicBezTo>
                  <a:pt x="24691" y="87823"/>
                  <a:pt x="42059" y="106754"/>
                  <a:pt x="59963" y="116800"/>
                </a:cubicBezTo>
                <a:cubicBezTo>
                  <a:pt x="53533" y="100146"/>
                  <a:pt x="48220" y="78403"/>
                  <a:pt x="45318" y="50006"/>
                </a:cubicBezTo>
                <a:close/>
                <a:moveTo>
                  <a:pt x="169664" y="114657"/>
                </a:moveTo>
                <a:cubicBezTo>
                  <a:pt x="187747" y="104031"/>
                  <a:pt x="204088" y="85145"/>
                  <a:pt x="206856" y="50006"/>
                </a:cubicBezTo>
                <a:lnTo>
                  <a:pt x="183505" y="50006"/>
                </a:lnTo>
                <a:cubicBezTo>
                  <a:pt x="180737" y="77197"/>
                  <a:pt x="175736" y="98316"/>
                  <a:pt x="169664" y="114657"/>
                </a:cubicBezTo>
                <a:close/>
              </a:path>
            </a:pathLst>
          </a:custGeom>
          <a:solidFill>
            <a:srgbClr val="FFFFFF"/>
          </a:solidFill>
          <a:ln/>
        </p:spPr>
      </p:sp>
      <p:sp>
        <p:nvSpPr>
          <p:cNvPr id="11" name="Text 8"/>
          <p:cNvSpPr/>
          <p:nvPr/>
        </p:nvSpPr>
        <p:spPr>
          <a:xfrm>
            <a:off x="1424940" y="1805941"/>
            <a:ext cx="10258425" cy="304800"/>
          </a:xfrm>
          <a:prstGeom prst="rect">
            <a:avLst/>
          </a:prstGeom>
          <a:noFill/>
          <a:ln/>
        </p:spPr>
        <p:txBody>
          <a:bodyPr wrap="square" lIns="0" tIns="0" rIns="0" bIns="0" rtlCol="0" anchor="ctr"/>
          <a:lstStyle/>
          <a:p>
            <a:pPr>
              <a:lnSpc>
                <a:spcPct val="110000"/>
              </a:lnSpc>
            </a:pPr>
            <a:r>
              <a:rPr lang="en-US" sz="1800" b="1" dirty="0">
                <a:solidFill>
                  <a:srgbClr val="16213E"/>
                </a:solidFill>
                <a:latin typeface="MiSans" pitchFamily="34" charset="0"/>
                <a:ea typeface="MiSans" pitchFamily="34" charset="-122"/>
                <a:cs typeface="MiSans" pitchFamily="34" charset="-120"/>
              </a:rPr>
              <a:t>Vận dụng kiến thức vào thực tế</a:t>
            </a:r>
            <a:endParaRPr lang="en-US" sz="1600" dirty="0"/>
          </a:p>
        </p:txBody>
      </p:sp>
      <p:sp>
        <p:nvSpPr>
          <p:cNvPr id="12" name="Text 9"/>
          <p:cNvSpPr/>
          <p:nvPr/>
        </p:nvSpPr>
        <p:spPr>
          <a:xfrm>
            <a:off x="1424940" y="2224920"/>
            <a:ext cx="10220325" cy="49530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Qua đề tài </a:t>
            </a:r>
            <a:r>
              <a:rPr lang="en-US" sz="1200" b="1" dirty="0">
                <a:solidFill>
                  <a:srgbClr val="16213E"/>
                </a:solidFill>
                <a:latin typeface="MiSans" pitchFamily="34" charset="0"/>
                <a:ea typeface="MiSans" pitchFamily="34" charset="-122"/>
                <a:cs typeface="MiSans" pitchFamily="34" charset="-120"/>
              </a:rPr>
              <a:t>"Thiết kế giao diện ứng dụng đặt vé xem phim trên thiết bị di động"</a:t>
            </a:r>
            <a:r>
              <a:rPr lang="en-US" sz="1200" dirty="0">
                <a:solidFill>
                  <a:srgbClr val="44546A"/>
                </a:solidFill>
                <a:latin typeface="MiSans" pitchFamily="34" charset="0"/>
                <a:ea typeface="MiSans" pitchFamily="34" charset="-122"/>
                <a:cs typeface="MiSans" pitchFamily="34" charset="-120"/>
              </a:rPr>
              <a:t>, nhóm đã vận dụng kiến thức đã học trong môn Lập trình thiết bị di động để xây dựng một ứng dụng mô phỏng có tính thực tiễn cao.</a:t>
            </a:r>
            <a:endParaRPr lang="en-US" sz="1600" dirty="0"/>
          </a:p>
        </p:txBody>
      </p:sp>
      <p:sp>
        <p:nvSpPr>
          <p:cNvPr id="13" name="Text 10"/>
          <p:cNvSpPr/>
          <p:nvPr/>
        </p:nvSpPr>
        <p:spPr>
          <a:xfrm>
            <a:off x="1424940" y="2834520"/>
            <a:ext cx="10220325" cy="49530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Quá trình thực hiện đề tài giúp nhóm </a:t>
            </a:r>
            <a:r>
              <a:rPr lang="en-US" sz="1200" b="1" dirty="0">
                <a:solidFill>
                  <a:srgbClr val="16213E"/>
                </a:solidFill>
                <a:latin typeface="MiSans" pitchFamily="34" charset="0"/>
                <a:ea typeface="MiSans" pitchFamily="34" charset="-122"/>
                <a:cs typeface="MiSans" pitchFamily="34" charset="-120"/>
              </a:rPr>
              <a:t>hiểu rõ hơn về quy trình phát triển một ứng dụng di động</a:t>
            </a:r>
            <a:r>
              <a:rPr lang="en-US" sz="1200" dirty="0">
                <a:solidFill>
                  <a:srgbClr val="44546A"/>
                </a:solidFill>
                <a:latin typeface="MiSans" pitchFamily="34" charset="0"/>
                <a:ea typeface="MiSans" pitchFamily="34" charset="-122"/>
                <a:cs typeface="MiSans" pitchFamily="34" charset="-120"/>
              </a:rPr>
              <a:t>, từ phân tích yêu cầu, thiết kế hệ thống, thiết kế giao diện cho đến cài đặt và kiểm thử.</a:t>
            </a:r>
            <a:endParaRPr lang="en-US" sz="1600" dirty="0"/>
          </a:p>
        </p:txBody>
      </p:sp>
      <p:sp>
        <p:nvSpPr>
          <p:cNvPr id="14" name="Shape 11"/>
          <p:cNvSpPr/>
          <p:nvPr/>
        </p:nvSpPr>
        <p:spPr>
          <a:xfrm>
            <a:off x="400050" y="3726061"/>
            <a:ext cx="5619750" cy="1219200"/>
          </a:xfrm>
          <a:custGeom>
            <a:avLst/>
            <a:gdLst/>
            <a:ahLst/>
            <a:cxnLst/>
            <a:rect l="l" t="t" r="r" b="b"/>
            <a:pathLst>
              <a:path w="5619750" h="1219200">
                <a:moveTo>
                  <a:pt x="38100" y="0"/>
                </a:moveTo>
                <a:lnTo>
                  <a:pt x="5467350" y="0"/>
                </a:lnTo>
                <a:cubicBezTo>
                  <a:pt x="5551462" y="0"/>
                  <a:pt x="5619750" y="68288"/>
                  <a:pt x="5619750" y="152400"/>
                </a:cubicBezTo>
                <a:lnTo>
                  <a:pt x="5619750" y="1066800"/>
                </a:lnTo>
                <a:cubicBezTo>
                  <a:pt x="5619750" y="1150912"/>
                  <a:pt x="5551462" y="1219200"/>
                  <a:pt x="5467350" y="1219200"/>
                </a:cubicBezTo>
                <a:lnTo>
                  <a:pt x="38100" y="1219200"/>
                </a:lnTo>
                <a:cubicBezTo>
                  <a:pt x="17072" y="1219200"/>
                  <a:pt x="0" y="1202128"/>
                  <a:pt x="0" y="1181100"/>
                </a:cubicBezTo>
                <a:lnTo>
                  <a:pt x="0" y="38100"/>
                </a:lnTo>
                <a:cubicBezTo>
                  <a:pt x="0" y="17072"/>
                  <a:pt x="17072" y="0"/>
                  <a:pt x="38100" y="0"/>
                </a:cubicBezTo>
                <a:close/>
              </a:path>
            </a:pathLst>
          </a:custGeom>
          <a:solidFill>
            <a:schemeClr val="accent1">
              <a:lumMod val="40000"/>
              <a:lumOff val="60000"/>
            </a:schemeClr>
          </a:solidFill>
          <a:ln/>
          <a:effectLst>
            <a:outerShdw blurRad="142875" dist="95250" dir="5400000" algn="bl" rotWithShape="0">
              <a:srgbClr val="000000">
                <a:alpha val="10196"/>
              </a:srgbClr>
            </a:outerShdw>
          </a:effectLst>
        </p:spPr>
      </p:sp>
      <p:sp>
        <p:nvSpPr>
          <p:cNvPr id="15" name="Shape 12"/>
          <p:cNvSpPr/>
          <p:nvPr/>
        </p:nvSpPr>
        <p:spPr>
          <a:xfrm>
            <a:off x="400050" y="3726061"/>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5B9BD5"/>
          </a:solidFill>
          <a:ln/>
        </p:spPr>
      </p:sp>
      <p:sp>
        <p:nvSpPr>
          <p:cNvPr id="16" name="Shape 13"/>
          <p:cNvSpPr/>
          <p:nvPr/>
        </p:nvSpPr>
        <p:spPr>
          <a:xfrm>
            <a:off x="609600" y="391656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5B9BD5"/>
          </a:solidFill>
          <a:ln/>
        </p:spPr>
      </p:sp>
      <p:sp>
        <p:nvSpPr>
          <p:cNvPr id="17" name="Shape 14"/>
          <p:cNvSpPr/>
          <p:nvPr/>
        </p:nvSpPr>
        <p:spPr>
          <a:xfrm>
            <a:off x="742950" y="404991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FFFFFF"/>
          </a:solidFill>
          <a:ln/>
        </p:spPr>
      </p:sp>
      <p:sp>
        <p:nvSpPr>
          <p:cNvPr id="18" name="Text 15"/>
          <p:cNvSpPr/>
          <p:nvPr/>
        </p:nvSpPr>
        <p:spPr>
          <a:xfrm>
            <a:off x="1219200" y="3916561"/>
            <a:ext cx="4695825" cy="266700"/>
          </a:xfrm>
          <a:prstGeom prst="rect">
            <a:avLst/>
          </a:prstGeom>
          <a:noFill/>
          <a:ln/>
        </p:spPr>
        <p:txBody>
          <a:bodyPr wrap="square" lIns="0" tIns="0" rIns="0" bIns="0" rtlCol="0" anchor="ctr"/>
          <a:lstStyle/>
          <a:p>
            <a:pPr>
              <a:lnSpc>
                <a:spcPct val="130000"/>
              </a:lnSpc>
            </a:pPr>
            <a:r>
              <a:rPr lang="en-US" sz="1350" b="1" dirty="0">
                <a:solidFill>
                  <a:srgbClr val="16213E"/>
                </a:solidFill>
                <a:latin typeface="MiSans" pitchFamily="34" charset="0"/>
                <a:ea typeface="MiSans" pitchFamily="34" charset="-122"/>
                <a:cs typeface="MiSans" pitchFamily="34" charset="-120"/>
              </a:rPr>
              <a:t>Hoàn thành mục tiêu đề ra</a:t>
            </a:r>
            <a:endParaRPr lang="en-US" sz="1600" dirty="0"/>
          </a:p>
        </p:txBody>
      </p:sp>
      <p:sp>
        <p:nvSpPr>
          <p:cNvPr id="19" name="Text 16"/>
          <p:cNvSpPr/>
          <p:nvPr/>
        </p:nvSpPr>
        <p:spPr>
          <a:xfrm>
            <a:off x="1219200" y="4259461"/>
            <a:ext cx="4686300" cy="49530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Đề tài đã hoàn thành các mục tiêu đề ra, mang lại nhiều kinh nghiệm quý báu cho nhóm trong quá trình học tập và nghiên cứu.</a:t>
            </a:r>
            <a:endParaRPr lang="en-US" sz="1600" dirty="0"/>
          </a:p>
        </p:txBody>
      </p:sp>
      <p:sp>
        <p:nvSpPr>
          <p:cNvPr id="20" name="Shape 17"/>
          <p:cNvSpPr/>
          <p:nvPr/>
        </p:nvSpPr>
        <p:spPr>
          <a:xfrm>
            <a:off x="6191250" y="3726061"/>
            <a:ext cx="5619750" cy="1219200"/>
          </a:xfrm>
          <a:custGeom>
            <a:avLst/>
            <a:gdLst/>
            <a:ahLst/>
            <a:cxnLst/>
            <a:rect l="l" t="t" r="r" b="b"/>
            <a:pathLst>
              <a:path w="5619750" h="1219200">
                <a:moveTo>
                  <a:pt x="38100" y="0"/>
                </a:moveTo>
                <a:lnTo>
                  <a:pt x="5467350" y="0"/>
                </a:lnTo>
                <a:cubicBezTo>
                  <a:pt x="5551462" y="0"/>
                  <a:pt x="5619750" y="68288"/>
                  <a:pt x="5619750" y="152400"/>
                </a:cubicBezTo>
                <a:lnTo>
                  <a:pt x="5619750" y="1066800"/>
                </a:lnTo>
                <a:cubicBezTo>
                  <a:pt x="5619750" y="1150912"/>
                  <a:pt x="5551462" y="1219200"/>
                  <a:pt x="5467350" y="1219200"/>
                </a:cubicBezTo>
                <a:lnTo>
                  <a:pt x="38100" y="1219200"/>
                </a:lnTo>
                <a:cubicBezTo>
                  <a:pt x="17072" y="1219200"/>
                  <a:pt x="0" y="1202128"/>
                  <a:pt x="0" y="1181100"/>
                </a:cubicBezTo>
                <a:lnTo>
                  <a:pt x="0" y="38100"/>
                </a:lnTo>
                <a:cubicBezTo>
                  <a:pt x="0" y="17072"/>
                  <a:pt x="17072" y="0"/>
                  <a:pt x="38100" y="0"/>
                </a:cubicBezTo>
                <a:close/>
              </a:path>
            </a:pathLst>
          </a:custGeom>
          <a:solidFill>
            <a:schemeClr val="accent1">
              <a:lumMod val="60000"/>
              <a:lumOff val="40000"/>
            </a:schemeClr>
          </a:solidFill>
          <a:ln/>
          <a:effectLst>
            <a:outerShdw blurRad="142875" dist="95250" dir="5400000" algn="bl" rotWithShape="0">
              <a:srgbClr val="000000">
                <a:alpha val="10196"/>
              </a:srgbClr>
            </a:outerShdw>
          </a:effectLst>
        </p:spPr>
      </p:sp>
      <p:sp>
        <p:nvSpPr>
          <p:cNvPr id="21" name="Shape 18"/>
          <p:cNvSpPr/>
          <p:nvPr/>
        </p:nvSpPr>
        <p:spPr>
          <a:xfrm>
            <a:off x="6191250" y="3726061"/>
            <a:ext cx="38100" cy="1219200"/>
          </a:xfrm>
          <a:custGeom>
            <a:avLst/>
            <a:gdLst/>
            <a:ahLst/>
            <a:cxnLst/>
            <a:rect l="l" t="t" r="r" b="b"/>
            <a:pathLst>
              <a:path w="38100" h="1219200">
                <a:moveTo>
                  <a:pt x="38100" y="0"/>
                </a:moveTo>
                <a:lnTo>
                  <a:pt x="38100" y="0"/>
                </a:lnTo>
                <a:lnTo>
                  <a:pt x="38100" y="1219200"/>
                </a:lnTo>
                <a:lnTo>
                  <a:pt x="38100" y="1219200"/>
                </a:lnTo>
                <a:cubicBezTo>
                  <a:pt x="17072" y="1219200"/>
                  <a:pt x="0" y="1202128"/>
                  <a:pt x="0" y="1181100"/>
                </a:cubicBezTo>
                <a:lnTo>
                  <a:pt x="0" y="38100"/>
                </a:lnTo>
                <a:cubicBezTo>
                  <a:pt x="0" y="17072"/>
                  <a:pt x="17072" y="0"/>
                  <a:pt x="38100" y="0"/>
                </a:cubicBezTo>
                <a:close/>
              </a:path>
            </a:pathLst>
          </a:custGeom>
          <a:solidFill>
            <a:srgbClr val="4472C4"/>
          </a:solidFill>
          <a:ln/>
        </p:spPr>
      </p:sp>
      <p:sp>
        <p:nvSpPr>
          <p:cNvPr id="22" name="Shape 19"/>
          <p:cNvSpPr/>
          <p:nvPr/>
        </p:nvSpPr>
        <p:spPr>
          <a:xfrm>
            <a:off x="6400800" y="391656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4472C4"/>
          </a:solidFill>
          <a:ln/>
        </p:spPr>
      </p:sp>
      <p:sp>
        <p:nvSpPr>
          <p:cNvPr id="23" name="Shape 20"/>
          <p:cNvSpPr/>
          <p:nvPr/>
        </p:nvSpPr>
        <p:spPr>
          <a:xfrm>
            <a:off x="6522244" y="4049911"/>
            <a:ext cx="214313" cy="190500"/>
          </a:xfrm>
          <a:custGeom>
            <a:avLst/>
            <a:gdLst/>
            <a:ahLst/>
            <a:cxnLst/>
            <a:rect l="l" t="t" r="r" b="b"/>
            <a:pathLst>
              <a:path w="214313" h="190500">
                <a:moveTo>
                  <a:pt x="17859" y="72851"/>
                </a:moveTo>
                <a:lnTo>
                  <a:pt x="95696" y="104887"/>
                </a:lnTo>
                <a:cubicBezTo>
                  <a:pt x="99343" y="106375"/>
                  <a:pt x="103212" y="107156"/>
                  <a:pt x="107156" y="107156"/>
                </a:cubicBezTo>
                <a:cubicBezTo>
                  <a:pt x="111100" y="107156"/>
                  <a:pt x="114970" y="106375"/>
                  <a:pt x="118616" y="104887"/>
                </a:cubicBezTo>
                <a:lnTo>
                  <a:pt x="208806" y="67754"/>
                </a:lnTo>
                <a:cubicBezTo>
                  <a:pt x="212154" y="66377"/>
                  <a:pt x="214313" y="63140"/>
                  <a:pt x="214313" y="59531"/>
                </a:cubicBezTo>
                <a:cubicBezTo>
                  <a:pt x="214313" y="55922"/>
                  <a:pt x="212154" y="52685"/>
                  <a:pt x="208806" y="51308"/>
                </a:cubicBezTo>
                <a:lnTo>
                  <a:pt x="118616" y="14176"/>
                </a:lnTo>
                <a:cubicBezTo>
                  <a:pt x="114970" y="12688"/>
                  <a:pt x="111100" y="11906"/>
                  <a:pt x="107156" y="11906"/>
                </a:cubicBezTo>
                <a:cubicBezTo>
                  <a:pt x="103212" y="11906"/>
                  <a:pt x="99343" y="12688"/>
                  <a:pt x="95696" y="14176"/>
                </a:cubicBezTo>
                <a:lnTo>
                  <a:pt x="5507" y="51308"/>
                </a:lnTo>
                <a:cubicBezTo>
                  <a:pt x="2158" y="52685"/>
                  <a:pt x="0" y="55922"/>
                  <a:pt x="0" y="59531"/>
                </a:cubicBezTo>
                <a:lnTo>
                  <a:pt x="0" y="169664"/>
                </a:lnTo>
                <a:cubicBezTo>
                  <a:pt x="0" y="174613"/>
                  <a:pt x="3981" y="178594"/>
                  <a:pt x="8930" y="178594"/>
                </a:cubicBezTo>
                <a:cubicBezTo>
                  <a:pt x="13878" y="178594"/>
                  <a:pt x="17859" y="174613"/>
                  <a:pt x="17859" y="169664"/>
                </a:cubicBezTo>
                <a:lnTo>
                  <a:pt x="17859" y="72851"/>
                </a:lnTo>
                <a:close/>
                <a:moveTo>
                  <a:pt x="35719" y="99529"/>
                </a:moveTo>
                <a:lnTo>
                  <a:pt x="35719" y="142875"/>
                </a:lnTo>
                <a:cubicBezTo>
                  <a:pt x="35719" y="162595"/>
                  <a:pt x="67717" y="178594"/>
                  <a:pt x="107156" y="178594"/>
                </a:cubicBezTo>
                <a:cubicBezTo>
                  <a:pt x="146596" y="178594"/>
                  <a:pt x="178594" y="162595"/>
                  <a:pt x="178594" y="142875"/>
                </a:cubicBezTo>
                <a:lnTo>
                  <a:pt x="178594" y="99492"/>
                </a:lnTo>
                <a:lnTo>
                  <a:pt x="125425" y="121407"/>
                </a:lnTo>
                <a:cubicBezTo>
                  <a:pt x="119621" y="123788"/>
                  <a:pt x="113444" y="125016"/>
                  <a:pt x="107156" y="125016"/>
                </a:cubicBezTo>
                <a:cubicBezTo>
                  <a:pt x="100868" y="125016"/>
                  <a:pt x="94692" y="123788"/>
                  <a:pt x="88888" y="121407"/>
                </a:cubicBezTo>
                <a:lnTo>
                  <a:pt x="35719" y="99492"/>
                </a:lnTo>
                <a:close/>
              </a:path>
            </a:pathLst>
          </a:custGeom>
          <a:solidFill>
            <a:srgbClr val="FFFFFF"/>
          </a:solidFill>
          <a:ln/>
        </p:spPr>
      </p:sp>
      <p:sp>
        <p:nvSpPr>
          <p:cNvPr id="24" name="Text 21"/>
          <p:cNvSpPr/>
          <p:nvPr/>
        </p:nvSpPr>
        <p:spPr>
          <a:xfrm>
            <a:off x="7010400" y="3916561"/>
            <a:ext cx="4695825" cy="266700"/>
          </a:xfrm>
          <a:prstGeom prst="rect">
            <a:avLst/>
          </a:prstGeom>
          <a:noFill/>
          <a:ln/>
        </p:spPr>
        <p:txBody>
          <a:bodyPr wrap="square" lIns="0" tIns="0" rIns="0" bIns="0" rtlCol="0" anchor="ctr"/>
          <a:lstStyle/>
          <a:p>
            <a:pPr>
              <a:lnSpc>
                <a:spcPct val="130000"/>
              </a:lnSpc>
            </a:pPr>
            <a:r>
              <a:rPr lang="en-US" sz="1350" b="1" dirty="0">
                <a:solidFill>
                  <a:srgbClr val="16213E"/>
                </a:solidFill>
                <a:latin typeface="MiSans" pitchFamily="34" charset="0"/>
                <a:ea typeface="MiSans" pitchFamily="34" charset="-122"/>
                <a:cs typeface="MiSans" pitchFamily="34" charset="-120"/>
              </a:rPr>
              <a:t>Nền tảng quan trọng</a:t>
            </a:r>
            <a:endParaRPr lang="en-US" sz="1600" dirty="0"/>
          </a:p>
        </p:txBody>
      </p:sp>
      <p:sp>
        <p:nvSpPr>
          <p:cNvPr id="25" name="Text 22"/>
          <p:cNvSpPr/>
          <p:nvPr/>
        </p:nvSpPr>
        <p:spPr>
          <a:xfrm>
            <a:off x="7010400" y="4259461"/>
            <a:ext cx="4686300" cy="495300"/>
          </a:xfrm>
          <a:prstGeom prst="rect">
            <a:avLst/>
          </a:prstGeom>
          <a:noFill/>
          <a:ln/>
        </p:spPr>
        <p:txBody>
          <a:bodyPr wrap="square" lIns="0" tIns="0" rIns="0" bIns="0" rtlCol="0" anchor="ctr"/>
          <a:lstStyle/>
          <a:p>
            <a:pPr>
              <a:lnSpc>
                <a:spcPct val="140000"/>
              </a:lnSpc>
            </a:pPr>
            <a:r>
              <a:rPr lang="en-US" sz="1200" dirty="0">
                <a:solidFill>
                  <a:srgbClr val="44546A"/>
                </a:solidFill>
                <a:latin typeface="MiSans" pitchFamily="34" charset="0"/>
                <a:ea typeface="MiSans" pitchFamily="34" charset="-122"/>
                <a:cs typeface="MiSans" pitchFamily="34" charset="-120"/>
              </a:rPr>
              <a:t>Đây là nền tảng quan trọng để nhóm tiếp tục phát triển và hoàn thiện các ứng dụng di động trong tương lai.</a:t>
            </a:r>
            <a:endParaRPr lang="en-US" sz="1600" dirty="0"/>
          </a:p>
        </p:txBody>
      </p:sp>
      <p:sp>
        <p:nvSpPr>
          <p:cNvPr id="26" name="Shape 23"/>
          <p:cNvSpPr/>
          <p:nvPr/>
        </p:nvSpPr>
        <p:spPr>
          <a:xfrm>
            <a:off x="381000" y="5097661"/>
            <a:ext cx="11430000" cy="1219200"/>
          </a:xfrm>
          <a:custGeom>
            <a:avLst/>
            <a:gdLst/>
            <a:ahLst/>
            <a:cxnLst/>
            <a:rect l="l" t="t" r="r" b="b"/>
            <a:pathLst>
              <a:path w="11430000" h="1219200">
                <a:moveTo>
                  <a:pt x="152400" y="0"/>
                </a:moveTo>
                <a:lnTo>
                  <a:pt x="11277600" y="0"/>
                </a:lnTo>
                <a:cubicBezTo>
                  <a:pt x="11361712" y="0"/>
                  <a:pt x="11430000" y="68288"/>
                  <a:pt x="11430000" y="152400"/>
                </a:cubicBezTo>
                <a:lnTo>
                  <a:pt x="11430000" y="1066800"/>
                </a:lnTo>
                <a:cubicBezTo>
                  <a:pt x="11430000" y="1150912"/>
                  <a:pt x="11361712" y="1219200"/>
                  <a:pt x="11277600" y="1219200"/>
                </a:cubicBezTo>
                <a:lnTo>
                  <a:pt x="152400" y="1219200"/>
                </a:lnTo>
                <a:cubicBezTo>
                  <a:pt x="68288" y="1219200"/>
                  <a:pt x="0" y="1150912"/>
                  <a:pt x="0" y="1066800"/>
                </a:cubicBezTo>
                <a:lnTo>
                  <a:pt x="0" y="152400"/>
                </a:lnTo>
                <a:cubicBezTo>
                  <a:pt x="0" y="68288"/>
                  <a:pt x="68288" y="0"/>
                  <a:pt x="152400" y="0"/>
                </a:cubicBezTo>
                <a:close/>
              </a:path>
            </a:pathLst>
          </a:custGeom>
          <a:solidFill>
            <a:srgbClr val="16213E"/>
          </a:solidFill>
          <a:ln/>
        </p:spPr>
      </p:sp>
      <p:sp>
        <p:nvSpPr>
          <p:cNvPr id="27" name="Shape 24"/>
          <p:cNvSpPr/>
          <p:nvPr/>
        </p:nvSpPr>
        <p:spPr>
          <a:xfrm>
            <a:off x="571500" y="528816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E94560"/>
          </a:solidFill>
          <a:ln/>
        </p:spPr>
      </p:sp>
      <p:sp>
        <p:nvSpPr>
          <p:cNvPr id="28" name="Shape 25"/>
          <p:cNvSpPr/>
          <p:nvPr/>
        </p:nvSpPr>
        <p:spPr>
          <a:xfrm>
            <a:off x="704850" y="542151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FFFFFF"/>
          </a:solidFill>
          <a:ln/>
        </p:spPr>
      </p:sp>
      <p:sp>
        <p:nvSpPr>
          <p:cNvPr id="29" name="Text 26"/>
          <p:cNvSpPr/>
          <p:nvPr/>
        </p:nvSpPr>
        <p:spPr>
          <a:xfrm>
            <a:off x="1181100" y="5288161"/>
            <a:ext cx="105251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MiSans" pitchFamily="34" charset="0"/>
                <a:ea typeface="MiSans" pitchFamily="34" charset="-122"/>
                <a:cs typeface="MiSans" pitchFamily="34" charset="-120"/>
              </a:rPr>
              <a:t>Nhận xét chung</a:t>
            </a:r>
            <a:endParaRPr lang="en-US" sz="1600" dirty="0"/>
          </a:p>
        </p:txBody>
      </p:sp>
      <p:sp>
        <p:nvSpPr>
          <p:cNvPr id="30" name="Text 27"/>
          <p:cNvSpPr/>
          <p:nvPr/>
        </p:nvSpPr>
        <p:spPr>
          <a:xfrm>
            <a:off x="1181100" y="5631061"/>
            <a:ext cx="10515600" cy="495300"/>
          </a:xfrm>
          <a:prstGeom prst="rect">
            <a:avLst/>
          </a:prstGeom>
          <a:noFill/>
          <a:ln/>
        </p:spPr>
        <p:txBody>
          <a:bodyPr wrap="square" lIns="0" tIns="0" rIns="0" bIns="0" rtlCol="0" anchor="ctr"/>
          <a:lstStyle/>
          <a:p>
            <a:pPr>
              <a:lnSpc>
                <a:spcPct val="140000"/>
              </a:lnSpc>
            </a:pPr>
            <a:r>
              <a:rPr lang="en-US" sz="1200" dirty="0">
                <a:solidFill>
                  <a:srgbClr val="FFFFFF">
                    <a:alpha val="90000"/>
                  </a:srgbClr>
                </a:solidFill>
                <a:latin typeface="MiSans" pitchFamily="34" charset="0"/>
                <a:ea typeface="MiSans" pitchFamily="34" charset="-122"/>
                <a:cs typeface="MiSans" pitchFamily="34" charset="-120"/>
              </a:rPr>
              <a:t>Mặc dù còn tồn tại một số hạn chế, nhưng kết quả đạt được cho thấy đề tài đã </a:t>
            </a:r>
            <a:r>
              <a:rPr lang="en-US" sz="1200" b="1" dirty="0">
                <a:solidFill>
                  <a:srgbClr val="FFFFFF"/>
                </a:solidFill>
                <a:latin typeface="MiSans" pitchFamily="34" charset="0"/>
                <a:ea typeface="MiSans" pitchFamily="34" charset="-122"/>
                <a:cs typeface="MiSans" pitchFamily="34" charset="-120"/>
              </a:rPr>
              <a:t>hoàn thành các mục tiêu đề ra</a:t>
            </a:r>
            <a:r>
              <a:rPr lang="en-US" sz="1200" dirty="0">
                <a:solidFill>
                  <a:srgbClr val="FFFFFF">
                    <a:alpha val="90000"/>
                  </a:srgbClr>
                </a:solidFill>
                <a:latin typeface="MiSans" pitchFamily="34" charset="0"/>
                <a:ea typeface="MiSans" pitchFamily="34" charset="-122"/>
                <a:cs typeface="MiSans" pitchFamily="34" charset="-120"/>
              </a:rPr>
              <a:t> và mang lại nhiều kinh nghiệm quý báu cho nhóm.</a:t>
            </a:r>
            <a:endParaRPr lang="en-US" sz="1600" dirty="0"/>
          </a:p>
        </p:txBody>
      </p:sp>
      <p:sp>
        <p:nvSpPr>
          <p:cNvPr id="31" name="Shape 28"/>
          <p:cNvSpPr/>
          <p:nvPr/>
        </p:nvSpPr>
        <p:spPr>
          <a:xfrm>
            <a:off x="381000" y="6526411"/>
            <a:ext cx="609600" cy="38100"/>
          </a:xfrm>
          <a:custGeom>
            <a:avLst/>
            <a:gdLst/>
            <a:ahLst/>
            <a:cxnLst/>
            <a:rect l="l" t="t" r="r" b="b"/>
            <a:pathLst>
              <a:path w="609600" h="38100">
                <a:moveTo>
                  <a:pt x="19050" y="0"/>
                </a:moveTo>
                <a:lnTo>
                  <a:pt x="590550" y="0"/>
                </a:lnTo>
                <a:cubicBezTo>
                  <a:pt x="601064" y="0"/>
                  <a:pt x="609600" y="8536"/>
                  <a:pt x="609600" y="19050"/>
                </a:cubicBezTo>
                <a:lnTo>
                  <a:pt x="609600" y="19050"/>
                </a:lnTo>
                <a:cubicBezTo>
                  <a:pt x="609600" y="29564"/>
                  <a:pt x="601064" y="38100"/>
                  <a:pt x="590550" y="38100"/>
                </a:cubicBezTo>
                <a:lnTo>
                  <a:pt x="19050" y="38100"/>
                </a:lnTo>
                <a:cubicBezTo>
                  <a:pt x="8536" y="38100"/>
                  <a:pt x="0" y="29564"/>
                  <a:pt x="0" y="19050"/>
                </a:cubicBezTo>
                <a:lnTo>
                  <a:pt x="0" y="19050"/>
                </a:lnTo>
                <a:cubicBezTo>
                  <a:pt x="0" y="8536"/>
                  <a:pt x="8536" y="0"/>
                  <a:pt x="19050" y="0"/>
                </a:cubicBezTo>
                <a:close/>
              </a:path>
            </a:pathLst>
          </a:custGeom>
          <a:gradFill flip="none" rotWithShape="1">
            <a:gsLst>
              <a:gs pos="0">
                <a:srgbClr val="70AD47"/>
              </a:gs>
              <a:gs pos="100000">
                <a:srgbClr val="5B9BD5"/>
              </a:gs>
            </a:gsLst>
            <a:lin ang="0" scaled="1"/>
          </a:gradFill>
          <a:ln/>
        </p:spPr>
      </p:sp>
      <p:sp>
        <p:nvSpPr>
          <p:cNvPr id="32" name="Text 29"/>
          <p:cNvSpPr/>
          <p:nvPr/>
        </p:nvSpPr>
        <p:spPr>
          <a:xfrm>
            <a:off x="1104900" y="6431161"/>
            <a:ext cx="3514725" cy="228600"/>
          </a:xfrm>
          <a:prstGeom prst="rect">
            <a:avLst/>
          </a:prstGeom>
          <a:noFill/>
          <a:ln/>
        </p:spPr>
        <p:txBody>
          <a:bodyPr wrap="square" lIns="0" tIns="0" rIns="0" bIns="0" rtlCol="0" anchor="ctr"/>
          <a:lstStyle/>
          <a:p>
            <a:pPr>
              <a:lnSpc>
                <a:spcPct val="130000"/>
              </a:lnSpc>
            </a:pPr>
            <a:r>
              <a:rPr lang="en-US" sz="1200" b="1" dirty="0">
                <a:solidFill>
                  <a:srgbClr val="44546A"/>
                </a:solidFill>
                <a:latin typeface="MiSans" pitchFamily="34" charset="0"/>
                <a:ea typeface="MiSans" pitchFamily="34" charset="-122"/>
                <a:cs typeface="MiSans" pitchFamily="34" charset="-120"/>
              </a:rPr>
              <a:t>KIẾN THỨC - KỸ NĂNG - SÁNG TẠO - HỘI NHẬP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Shape 1"/>
          <p:cNvSpPr/>
          <p:nvPr/>
        </p:nvSpPr>
        <p:spPr>
          <a:xfrm>
            <a:off x="536648" y="914405"/>
            <a:ext cx="38100" cy="457200"/>
          </a:xfrm>
          <a:custGeom>
            <a:avLst/>
            <a:gdLst/>
            <a:ahLst/>
            <a:cxnLst/>
            <a:rect l="l" t="t" r="r" b="b"/>
            <a:pathLst>
              <a:path w="38100" h="457200">
                <a:moveTo>
                  <a:pt x="19050" y="0"/>
                </a:moveTo>
                <a:lnTo>
                  <a:pt x="19050" y="0"/>
                </a:lnTo>
                <a:cubicBezTo>
                  <a:pt x="29564" y="0"/>
                  <a:pt x="38100" y="8536"/>
                  <a:pt x="38100" y="19050"/>
                </a:cubicBezTo>
                <a:lnTo>
                  <a:pt x="38100" y="438150"/>
                </a:lnTo>
                <a:cubicBezTo>
                  <a:pt x="38100" y="448664"/>
                  <a:pt x="29564" y="457200"/>
                  <a:pt x="19050" y="457200"/>
                </a:cubicBezTo>
                <a:lnTo>
                  <a:pt x="19050" y="457200"/>
                </a:lnTo>
                <a:cubicBezTo>
                  <a:pt x="8536" y="457200"/>
                  <a:pt x="0" y="448664"/>
                  <a:pt x="0" y="438150"/>
                </a:cubicBezTo>
                <a:lnTo>
                  <a:pt x="0" y="19050"/>
                </a:lnTo>
                <a:cubicBezTo>
                  <a:pt x="0" y="8536"/>
                  <a:pt x="8536" y="0"/>
                  <a:pt x="19050" y="0"/>
                </a:cubicBezTo>
                <a:close/>
              </a:path>
            </a:pathLst>
          </a:custGeom>
          <a:solidFill>
            <a:srgbClr val="E94560"/>
          </a:solidFill>
          <a:ln/>
        </p:spPr>
      </p:sp>
      <p:sp>
        <p:nvSpPr>
          <p:cNvPr id="5" name="Text 2"/>
          <p:cNvSpPr/>
          <p:nvPr/>
        </p:nvSpPr>
        <p:spPr>
          <a:xfrm>
            <a:off x="700564" y="1077272"/>
            <a:ext cx="3063352" cy="109133"/>
          </a:xfrm>
          <a:prstGeom prst="rect">
            <a:avLst/>
          </a:prstGeom>
          <a:noFill/>
          <a:ln/>
        </p:spPr>
        <p:txBody>
          <a:bodyPr wrap="square" lIns="0" tIns="0" rIns="0" bIns="0" rtlCol="0" anchor="ctr"/>
          <a:lstStyle/>
          <a:p>
            <a:pPr>
              <a:lnSpc>
                <a:spcPct val="120000"/>
              </a:lnSpc>
            </a:pPr>
            <a:r>
              <a:rPr lang="en-US" sz="1050" b="1" kern="0" spc="53" dirty="0">
                <a:solidFill>
                  <a:srgbClr val="E94560"/>
                </a:solidFill>
                <a:latin typeface="MiSans" pitchFamily="34" charset="0"/>
                <a:ea typeface="MiSans" pitchFamily="34" charset="-122"/>
                <a:cs typeface="MiSans" pitchFamily="34" charset="-120"/>
              </a:rPr>
              <a:t>Future Roadmap</a:t>
            </a:r>
            <a:endParaRPr lang="en-US" sz="1600" dirty="0"/>
          </a:p>
        </p:txBody>
      </p:sp>
      <p:sp>
        <p:nvSpPr>
          <p:cNvPr id="6" name="Text 3"/>
          <p:cNvSpPr/>
          <p:nvPr/>
        </p:nvSpPr>
        <p:spPr>
          <a:xfrm>
            <a:off x="4297680" y="990605"/>
            <a:ext cx="3352800" cy="381000"/>
          </a:xfrm>
          <a:prstGeom prst="rect">
            <a:avLst/>
          </a:prstGeom>
          <a:noFill/>
          <a:ln/>
        </p:spPr>
        <p:txBody>
          <a:bodyPr wrap="square" lIns="0" tIns="0" rIns="0" bIns="0" rtlCol="0" anchor="ctr"/>
          <a:lstStyle/>
          <a:p>
            <a:pPr>
              <a:lnSpc>
                <a:spcPct val="90000"/>
              </a:lnSpc>
            </a:pPr>
            <a:r>
              <a:rPr lang="en-US" sz="2700" b="1" dirty="0">
                <a:solidFill>
                  <a:schemeClr val="tx1">
                    <a:lumMod val="85000"/>
                    <a:lumOff val="15000"/>
                  </a:schemeClr>
                </a:solidFill>
                <a:latin typeface="得意黑" pitchFamily="34" charset="0"/>
                <a:ea typeface="得意黑" pitchFamily="34" charset="-122"/>
                <a:cs typeface="得意黑" pitchFamily="34" charset="-120"/>
              </a:rPr>
              <a:t>Hướng phát triển tương lai</a:t>
            </a:r>
            <a:endParaRPr lang="en-US" sz="1600" dirty="0">
              <a:solidFill>
                <a:schemeClr val="tx1">
                  <a:lumMod val="85000"/>
                  <a:lumOff val="15000"/>
                </a:schemeClr>
              </a:solidFill>
            </a:endParaRPr>
          </a:p>
        </p:txBody>
      </p:sp>
      <p:sp>
        <p:nvSpPr>
          <p:cNvPr id="7" name="Text 4"/>
          <p:cNvSpPr/>
          <p:nvPr/>
        </p:nvSpPr>
        <p:spPr>
          <a:xfrm>
            <a:off x="601818" y="1406841"/>
            <a:ext cx="11287125" cy="266700"/>
          </a:xfrm>
          <a:prstGeom prst="rect">
            <a:avLst/>
          </a:prstGeom>
          <a:noFill/>
          <a:ln/>
        </p:spPr>
        <p:txBody>
          <a:bodyPr wrap="square" lIns="0" tIns="0" rIns="0" bIns="0" rtlCol="0" anchor="ctr"/>
          <a:lstStyle/>
          <a:p>
            <a:pPr>
              <a:lnSpc>
                <a:spcPct val="130000"/>
              </a:lnSpc>
            </a:pPr>
            <a:r>
              <a:rPr lang="en-US" sz="1350" dirty="0">
                <a:solidFill>
                  <a:schemeClr val="tx1">
                    <a:lumMod val="95000"/>
                    <a:lumOff val="5000"/>
                  </a:schemeClr>
                </a:solidFill>
                <a:latin typeface="MiSans" pitchFamily="34" charset="0"/>
                <a:ea typeface="MiSans" pitchFamily="34" charset="-122"/>
                <a:cs typeface="MiSans" pitchFamily="34" charset="-120"/>
              </a:rPr>
              <a:t>Định hướng mở rộng và hoàn thiện ứng dụng</a:t>
            </a:r>
            <a:endParaRPr lang="en-US" sz="1600" dirty="0">
              <a:solidFill>
                <a:schemeClr val="tx1">
                  <a:lumMod val="95000"/>
                  <a:lumOff val="5000"/>
                </a:schemeClr>
              </a:solidFill>
            </a:endParaRPr>
          </a:p>
        </p:txBody>
      </p:sp>
      <p:sp>
        <p:nvSpPr>
          <p:cNvPr id="8" name="Shape 5"/>
          <p:cNvSpPr/>
          <p:nvPr/>
        </p:nvSpPr>
        <p:spPr>
          <a:xfrm>
            <a:off x="384810" y="1777362"/>
            <a:ext cx="5589270" cy="2484120"/>
          </a:xfrm>
          <a:custGeom>
            <a:avLst/>
            <a:gdLst/>
            <a:ahLst/>
            <a:cxnLst/>
            <a:rect l="l" t="t" r="r" b="b"/>
            <a:pathLst>
              <a:path w="5589270" h="2484120">
                <a:moveTo>
                  <a:pt x="152401" y="0"/>
                </a:moveTo>
                <a:lnTo>
                  <a:pt x="5436869" y="0"/>
                </a:lnTo>
                <a:cubicBezTo>
                  <a:pt x="5521038" y="0"/>
                  <a:pt x="5589270" y="68232"/>
                  <a:pt x="5589270" y="152401"/>
                </a:cubicBezTo>
                <a:lnTo>
                  <a:pt x="5589270" y="2331719"/>
                </a:lnTo>
                <a:cubicBezTo>
                  <a:pt x="5589270" y="2415888"/>
                  <a:pt x="5521038" y="2484120"/>
                  <a:pt x="5436869" y="2484120"/>
                </a:cubicBezTo>
                <a:lnTo>
                  <a:pt x="152401" y="2484120"/>
                </a:lnTo>
                <a:cubicBezTo>
                  <a:pt x="68232" y="2484120"/>
                  <a:pt x="0" y="2415888"/>
                  <a:pt x="0" y="2331719"/>
                </a:cubicBezTo>
                <a:lnTo>
                  <a:pt x="0" y="152401"/>
                </a:lnTo>
                <a:cubicBezTo>
                  <a:pt x="0" y="68232"/>
                  <a:pt x="68232" y="0"/>
                  <a:pt x="152401" y="0"/>
                </a:cubicBezTo>
                <a:close/>
              </a:path>
            </a:pathLst>
          </a:custGeom>
          <a:solidFill>
            <a:srgbClr val="FFFFFF">
              <a:alpha val="5098"/>
            </a:srgbClr>
          </a:solidFill>
          <a:ln w="10160">
            <a:solidFill>
              <a:srgbClr val="FFFFFF">
                <a:alpha val="10196"/>
              </a:srgbClr>
            </a:solidFill>
            <a:prstDash val="solid"/>
          </a:ln>
        </p:spPr>
      </p:sp>
      <p:sp>
        <p:nvSpPr>
          <p:cNvPr id="9" name="Shape 6"/>
          <p:cNvSpPr/>
          <p:nvPr/>
        </p:nvSpPr>
        <p:spPr>
          <a:xfrm>
            <a:off x="579120" y="19716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5B9BD5"/>
              </a:gs>
              <a:gs pos="100000">
                <a:srgbClr val="4472C4"/>
              </a:gs>
            </a:gsLst>
            <a:lin ang="2700000" scaled="1"/>
          </a:gradFill>
          <a:ln/>
        </p:spPr>
      </p:sp>
      <p:sp>
        <p:nvSpPr>
          <p:cNvPr id="10" name="Shape 7"/>
          <p:cNvSpPr/>
          <p:nvPr/>
        </p:nvSpPr>
        <p:spPr>
          <a:xfrm>
            <a:off x="724376" y="2105025"/>
            <a:ext cx="166688" cy="190500"/>
          </a:xfrm>
          <a:custGeom>
            <a:avLst/>
            <a:gdLst/>
            <a:ahLst/>
            <a:cxnLst/>
            <a:rect l="l" t="t" r="r" b="b"/>
            <a:pathLst>
              <a:path w="166688" h="190500">
                <a:moveTo>
                  <a:pt x="62508" y="11906"/>
                </a:moveTo>
                <a:lnTo>
                  <a:pt x="8930" y="11906"/>
                </a:lnTo>
                <a:cubicBezTo>
                  <a:pt x="3981" y="11906"/>
                  <a:pt x="0" y="15887"/>
                  <a:pt x="0" y="20836"/>
                </a:cubicBezTo>
                <a:lnTo>
                  <a:pt x="0" y="74414"/>
                </a:lnTo>
                <a:cubicBezTo>
                  <a:pt x="0" y="78023"/>
                  <a:pt x="2158" y="81297"/>
                  <a:pt x="5507" y="82674"/>
                </a:cubicBezTo>
                <a:cubicBezTo>
                  <a:pt x="8855" y="84051"/>
                  <a:pt x="12688" y="83269"/>
                  <a:pt x="15255" y="80739"/>
                </a:cubicBezTo>
                <a:lnTo>
                  <a:pt x="30138" y="65856"/>
                </a:lnTo>
                <a:lnTo>
                  <a:pt x="59531" y="95250"/>
                </a:lnTo>
                <a:lnTo>
                  <a:pt x="30138" y="124644"/>
                </a:lnTo>
                <a:lnTo>
                  <a:pt x="15255" y="109761"/>
                </a:lnTo>
                <a:cubicBezTo>
                  <a:pt x="12688" y="107193"/>
                  <a:pt x="8855" y="106449"/>
                  <a:pt x="5507" y="107826"/>
                </a:cubicBezTo>
                <a:cubicBezTo>
                  <a:pt x="2158" y="109203"/>
                  <a:pt x="0" y="112477"/>
                  <a:pt x="0" y="116086"/>
                </a:cubicBezTo>
                <a:lnTo>
                  <a:pt x="0" y="169664"/>
                </a:lnTo>
                <a:cubicBezTo>
                  <a:pt x="0" y="174613"/>
                  <a:pt x="3981" y="178594"/>
                  <a:pt x="8930" y="178594"/>
                </a:cubicBezTo>
                <a:lnTo>
                  <a:pt x="62508" y="178594"/>
                </a:lnTo>
                <a:cubicBezTo>
                  <a:pt x="66117" y="178594"/>
                  <a:pt x="69391" y="176436"/>
                  <a:pt x="70768" y="173087"/>
                </a:cubicBezTo>
                <a:cubicBezTo>
                  <a:pt x="72144" y="169738"/>
                  <a:pt x="71400" y="165906"/>
                  <a:pt x="68833" y="163339"/>
                </a:cubicBezTo>
                <a:lnTo>
                  <a:pt x="53950" y="148456"/>
                </a:lnTo>
                <a:lnTo>
                  <a:pt x="83344" y="119063"/>
                </a:lnTo>
                <a:lnTo>
                  <a:pt x="112737" y="148456"/>
                </a:lnTo>
                <a:lnTo>
                  <a:pt x="97854" y="163339"/>
                </a:lnTo>
                <a:cubicBezTo>
                  <a:pt x="95287" y="165906"/>
                  <a:pt x="94543" y="169738"/>
                  <a:pt x="95920" y="173087"/>
                </a:cubicBezTo>
                <a:cubicBezTo>
                  <a:pt x="97296" y="176436"/>
                  <a:pt x="100571" y="178594"/>
                  <a:pt x="104180" y="178594"/>
                </a:cubicBezTo>
                <a:lnTo>
                  <a:pt x="157758" y="178594"/>
                </a:lnTo>
                <a:cubicBezTo>
                  <a:pt x="162706" y="178594"/>
                  <a:pt x="166688" y="174613"/>
                  <a:pt x="166688" y="169664"/>
                </a:cubicBezTo>
                <a:lnTo>
                  <a:pt x="166688" y="116086"/>
                </a:lnTo>
                <a:cubicBezTo>
                  <a:pt x="166688" y="112477"/>
                  <a:pt x="164529" y="109203"/>
                  <a:pt x="161181" y="107826"/>
                </a:cubicBezTo>
                <a:cubicBezTo>
                  <a:pt x="157832" y="106449"/>
                  <a:pt x="154000" y="107193"/>
                  <a:pt x="151433" y="109761"/>
                </a:cubicBezTo>
                <a:lnTo>
                  <a:pt x="136550" y="124644"/>
                </a:lnTo>
                <a:lnTo>
                  <a:pt x="107156" y="95250"/>
                </a:lnTo>
                <a:lnTo>
                  <a:pt x="136550" y="65856"/>
                </a:lnTo>
                <a:lnTo>
                  <a:pt x="151433" y="80739"/>
                </a:lnTo>
                <a:cubicBezTo>
                  <a:pt x="154000" y="83307"/>
                  <a:pt x="157832" y="84051"/>
                  <a:pt x="161181" y="82674"/>
                </a:cubicBezTo>
                <a:cubicBezTo>
                  <a:pt x="164529" y="81297"/>
                  <a:pt x="166688" y="78023"/>
                  <a:pt x="166688" y="74414"/>
                </a:cubicBezTo>
                <a:lnTo>
                  <a:pt x="166688" y="20836"/>
                </a:lnTo>
                <a:cubicBezTo>
                  <a:pt x="166688" y="15887"/>
                  <a:pt x="162706" y="11906"/>
                  <a:pt x="157758" y="11906"/>
                </a:cubicBezTo>
                <a:lnTo>
                  <a:pt x="104180" y="11906"/>
                </a:lnTo>
                <a:cubicBezTo>
                  <a:pt x="100571" y="11906"/>
                  <a:pt x="97296" y="14064"/>
                  <a:pt x="95920" y="17413"/>
                </a:cubicBezTo>
                <a:cubicBezTo>
                  <a:pt x="94543" y="20762"/>
                  <a:pt x="95324" y="24594"/>
                  <a:pt x="97854" y="27161"/>
                </a:cubicBezTo>
                <a:lnTo>
                  <a:pt x="112737" y="42044"/>
                </a:lnTo>
                <a:lnTo>
                  <a:pt x="83344" y="71438"/>
                </a:lnTo>
                <a:lnTo>
                  <a:pt x="53950" y="42044"/>
                </a:lnTo>
                <a:lnTo>
                  <a:pt x="68833" y="27161"/>
                </a:lnTo>
                <a:cubicBezTo>
                  <a:pt x="71400" y="24594"/>
                  <a:pt x="72144" y="20762"/>
                  <a:pt x="70768" y="17413"/>
                </a:cubicBezTo>
                <a:cubicBezTo>
                  <a:pt x="69391" y="14064"/>
                  <a:pt x="66117" y="11906"/>
                  <a:pt x="62508" y="11906"/>
                </a:cubicBezTo>
                <a:close/>
              </a:path>
            </a:pathLst>
          </a:custGeom>
          <a:solidFill>
            <a:srgbClr val="FFFFFF"/>
          </a:solidFill>
          <a:ln/>
        </p:spPr>
      </p:sp>
      <p:sp>
        <p:nvSpPr>
          <p:cNvPr id="11" name="Text 8"/>
          <p:cNvSpPr/>
          <p:nvPr/>
        </p:nvSpPr>
        <p:spPr>
          <a:xfrm>
            <a:off x="1188720" y="1971675"/>
            <a:ext cx="4686300" cy="266700"/>
          </a:xfrm>
          <a:prstGeom prst="rect">
            <a:avLst/>
          </a:prstGeom>
          <a:noFill/>
          <a:ln/>
        </p:spPr>
        <p:txBody>
          <a:bodyPr wrap="square" lIns="0" tIns="0" rIns="0" bIns="0" rtlCol="0" anchor="ctr"/>
          <a:lstStyle/>
          <a:p>
            <a:pPr>
              <a:lnSpc>
                <a:spcPct val="120000"/>
              </a:lnSpc>
            </a:pPr>
            <a:r>
              <a:rPr lang="en-US" sz="1500" b="1" dirty="0">
                <a:solidFill>
                  <a:schemeClr val="tx1">
                    <a:lumMod val="85000"/>
                    <a:lumOff val="15000"/>
                  </a:schemeClr>
                </a:solidFill>
                <a:latin typeface="MiSans" pitchFamily="34" charset="0"/>
                <a:ea typeface="MiSans" pitchFamily="34" charset="-122"/>
                <a:cs typeface="MiSans" pitchFamily="34" charset="-120"/>
              </a:rPr>
              <a:t>Mở rộng chức năng</a:t>
            </a:r>
            <a:endParaRPr lang="en-US" sz="1600" dirty="0">
              <a:solidFill>
                <a:schemeClr val="tx1">
                  <a:lumMod val="85000"/>
                  <a:lumOff val="15000"/>
                </a:schemeClr>
              </a:solidFill>
            </a:endParaRPr>
          </a:p>
        </p:txBody>
      </p:sp>
      <p:sp>
        <p:nvSpPr>
          <p:cNvPr id="12" name="Text 9"/>
          <p:cNvSpPr/>
          <p:nvPr/>
        </p:nvSpPr>
        <p:spPr>
          <a:xfrm>
            <a:off x="1188720" y="2314575"/>
            <a:ext cx="4667250" cy="495300"/>
          </a:xfrm>
          <a:prstGeom prst="rect">
            <a:avLst/>
          </a:prstGeom>
          <a:noFill/>
          <a:ln/>
        </p:spPr>
        <p:txBody>
          <a:bodyPr wrap="square" lIns="0" tIns="0" rIns="0" bIns="0" rtlCol="0" anchor="ctr"/>
          <a:lstStyle/>
          <a:p>
            <a:pPr>
              <a:lnSpc>
                <a:spcPct val="140000"/>
              </a:lnSpc>
            </a:pPr>
            <a:r>
              <a:rPr lang="en-US" sz="1200" dirty="0">
                <a:solidFill>
                  <a:schemeClr val="accent5"/>
                </a:solidFill>
                <a:latin typeface="MiSans" pitchFamily="34" charset="0"/>
                <a:ea typeface="MiSans" pitchFamily="34" charset="-122"/>
                <a:cs typeface="MiSans" pitchFamily="34" charset="-120"/>
              </a:rPr>
              <a:t>Trong tương lai, ứng dụng có thể được mở rộng và phát triển thêm nhiều chức năng như:</a:t>
            </a:r>
            <a:endParaRPr lang="en-US" sz="1600" dirty="0">
              <a:solidFill>
                <a:schemeClr val="accent5"/>
              </a:solidFill>
            </a:endParaRPr>
          </a:p>
        </p:txBody>
      </p:sp>
      <p:sp>
        <p:nvSpPr>
          <p:cNvPr id="13" name="Text 10"/>
          <p:cNvSpPr/>
          <p:nvPr/>
        </p:nvSpPr>
        <p:spPr>
          <a:xfrm>
            <a:off x="1188720" y="2924175"/>
            <a:ext cx="228600" cy="228600"/>
          </a:xfrm>
          <a:prstGeom prst="rect">
            <a:avLst/>
          </a:prstGeom>
          <a:noFill/>
          <a:ln/>
        </p:spPr>
        <p:txBody>
          <a:bodyPr wrap="square" lIns="0" tIns="0" rIns="0" bIns="0" rtlCol="0" anchor="ctr"/>
          <a:lstStyle/>
          <a:p>
            <a:pPr>
              <a:lnSpc>
                <a:spcPct val="130000"/>
              </a:lnSpc>
            </a:pPr>
            <a:r>
              <a:rPr lang="en-US" sz="1200" dirty="0">
                <a:solidFill>
                  <a:srgbClr val="5B9BD5"/>
                </a:solidFill>
                <a:latin typeface="MiSans" pitchFamily="34" charset="0"/>
                <a:ea typeface="MiSans" pitchFamily="34" charset="-122"/>
                <a:cs typeface="MiSans" pitchFamily="34" charset="-120"/>
              </a:rPr>
              <a:t>•</a:t>
            </a:r>
            <a:endParaRPr lang="en-US" sz="1600" dirty="0"/>
          </a:p>
        </p:txBody>
      </p:sp>
      <p:sp>
        <p:nvSpPr>
          <p:cNvPr id="14" name="Text 11"/>
          <p:cNvSpPr/>
          <p:nvPr/>
        </p:nvSpPr>
        <p:spPr>
          <a:xfrm>
            <a:off x="1417320" y="2886075"/>
            <a:ext cx="2343150" cy="228600"/>
          </a:xfrm>
          <a:prstGeom prst="rect">
            <a:avLst/>
          </a:prstGeom>
          <a:noFill/>
          <a:ln/>
        </p:spPr>
        <p:txBody>
          <a:bodyPr wrap="square" lIns="0" tIns="0" rIns="0" bIns="0" rtlCol="0" anchor="ctr"/>
          <a:lstStyle/>
          <a:p>
            <a:pPr>
              <a:lnSpc>
                <a:spcPct val="130000"/>
              </a:lnSpc>
            </a:pPr>
            <a:r>
              <a:rPr lang="en-US" sz="1200" dirty="0">
                <a:solidFill>
                  <a:schemeClr val="accent5"/>
                </a:solidFill>
                <a:latin typeface="MiSans" pitchFamily="34" charset="0"/>
                <a:ea typeface="MiSans" pitchFamily="34" charset="-122"/>
                <a:cs typeface="MiSans" pitchFamily="34" charset="-120"/>
              </a:rPr>
              <a:t>Hệ thống gợi ý phim thông minh</a:t>
            </a:r>
            <a:endParaRPr lang="en-US" sz="1600" dirty="0">
              <a:solidFill>
                <a:schemeClr val="accent5"/>
              </a:solidFill>
            </a:endParaRPr>
          </a:p>
        </p:txBody>
      </p:sp>
      <p:sp>
        <p:nvSpPr>
          <p:cNvPr id="15" name="Text 12"/>
          <p:cNvSpPr/>
          <p:nvPr/>
        </p:nvSpPr>
        <p:spPr>
          <a:xfrm>
            <a:off x="1188720" y="3228975"/>
            <a:ext cx="228600" cy="228600"/>
          </a:xfrm>
          <a:prstGeom prst="rect">
            <a:avLst/>
          </a:prstGeom>
          <a:noFill/>
          <a:ln/>
        </p:spPr>
        <p:txBody>
          <a:bodyPr wrap="square" lIns="0" tIns="0" rIns="0" bIns="0" rtlCol="0" anchor="ctr"/>
          <a:lstStyle/>
          <a:p>
            <a:pPr>
              <a:lnSpc>
                <a:spcPct val="130000"/>
              </a:lnSpc>
            </a:pPr>
            <a:r>
              <a:rPr lang="en-US" sz="1200" dirty="0">
                <a:solidFill>
                  <a:srgbClr val="5B9BD5"/>
                </a:solidFill>
                <a:latin typeface="MiSans" pitchFamily="34" charset="0"/>
                <a:ea typeface="MiSans" pitchFamily="34" charset="-122"/>
                <a:cs typeface="MiSans" pitchFamily="34" charset="-120"/>
              </a:rPr>
              <a:t>•</a:t>
            </a:r>
            <a:endParaRPr lang="en-US" sz="1600" dirty="0"/>
          </a:p>
        </p:txBody>
      </p:sp>
      <p:sp>
        <p:nvSpPr>
          <p:cNvPr id="16" name="Text 13"/>
          <p:cNvSpPr/>
          <p:nvPr/>
        </p:nvSpPr>
        <p:spPr>
          <a:xfrm>
            <a:off x="1417320" y="3190875"/>
            <a:ext cx="2609850" cy="228600"/>
          </a:xfrm>
          <a:prstGeom prst="rect">
            <a:avLst/>
          </a:prstGeom>
          <a:noFill/>
          <a:ln/>
        </p:spPr>
        <p:txBody>
          <a:bodyPr wrap="square" lIns="0" tIns="0" rIns="0" bIns="0" rtlCol="0" anchor="ctr"/>
          <a:lstStyle/>
          <a:p>
            <a:pPr>
              <a:lnSpc>
                <a:spcPct val="130000"/>
              </a:lnSpc>
            </a:pPr>
            <a:r>
              <a:rPr lang="en-US" sz="1200" dirty="0">
                <a:solidFill>
                  <a:schemeClr val="accent5"/>
                </a:solidFill>
                <a:latin typeface="MiSans" pitchFamily="34" charset="0"/>
                <a:ea typeface="MiSans" pitchFamily="34" charset="-122"/>
                <a:cs typeface="MiSans" pitchFamily="34" charset="-120"/>
              </a:rPr>
              <a:t>Tích hợp đánh giá và bình luận phim</a:t>
            </a:r>
            <a:endParaRPr lang="en-US" sz="1600" dirty="0">
              <a:solidFill>
                <a:schemeClr val="accent5"/>
              </a:solidFill>
            </a:endParaRPr>
          </a:p>
        </p:txBody>
      </p:sp>
      <p:sp>
        <p:nvSpPr>
          <p:cNvPr id="17" name="Text 14"/>
          <p:cNvSpPr/>
          <p:nvPr/>
        </p:nvSpPr>
        <p:spPr>
          <a:xfrm>
            <a:off x="1188720" y="3533775"/>
            <a:ext cx="228600" cy="228600"/>
          </a:xfrm>
          <a:prstGeom prst="rect">
            <a:avLst/>
          </a:prstGeom>
          <a:noFill/>
          <a:ln/>
        </p:spPr>
        <p:txBody>
          <a:bodyPr wrap="square" lIns="0" tIns="0" rIns="0" bIns="0" rtlCol="0" anchor="ctr"/>
          <a:lstStyle/>
          <a:p>
            <a:pPr>
              <a:lnSpc>
                <a:spcPct val="130000"/>
              </a:lnSpc>
            </a:pPr>
            <a:r>
              <a:rPr lang="en-US" sz="1200" dirty="0">
                <a:solidFill>
                  <a:srgbClr val="5B9BD5"/>
                </a:solidFill>
                <a:latin typeface="MiSans" pitchFamily="34" charset="0"/>
                <a:ea typeface="MiSans" pitchFamily="34" charset="-122"/>
                <a:cs typeface="MiSans" pitchFamily="34" charset="-120"/>
              </a:rPr>
              <a:t>•</a:t>
            </a:r>
            <a:endParaRPr lang="en-US" sz="1600" dirty="0"/>
          </a:p>
        </p:txBody>
      </p:sp>
      <p:sp>
        <p:nvSpPr>
          <p:cNvPr id="18" name="Text 15"/>
          <p:cNvSpPr/>
          <p:nvPr/>
        </p:nvSpPr>
        <p:spPr>
          <a:xfrm>
            <a:off x="1417320" y="3495675"/>
            <a:ext cx="2514600" cy="228600"/>
          </a:xfrm>
          <a:prstGeom prst="rect">
            <a:avLst/>
          </a:prstGeom>
          <a:noFill/>
          <a:ln/>
        </p:spPr>
        <p:txBody>
          <a:bodyPr wrap="square" lIns="0" tIns="0" rIns="0" bIns="0" rtlCol="0" anchor="ctr"/>
          <a:lstStyle/>
          <a:p>
            <a:pPr>
              <a:lnSpc>
                <a:spcPct val="130000"/>
              </a:lnSpc>
            </a:pPr>
            <a:r>
              <a:rPr lang="en-US" sz="1200" dirty="0">
                <a:solidFill>
                  <a:schemeClr val="accent5"/>
                </a:solidFill>
                <a:latin typeface="MiSans" pitchFamily="34" charset="0"/>
                <a:ea typeface="MiSans" pitchFamily="34" charset="-122"/>
                <a:cs typeface="MiSans" pitchFamily="34" charset="-120"/>
              </a:rPr>
              <a:t>Chức năng chia sẻ lên mạng xã hội</a:t>
            </a:r>
            <a:endParaRPr lang="en-US" sz="1600" dirty="0">
              <a:solidFill>
                <a:schemeClr val="accent5"/>
              </a:solidFill>
            </a:endParaRPr>
          </a:p>
        </p:txBody>
      </p:sp>
      <p:sp>
        <p:nvSpPr>
          <p:cNvPr id="19" name="Text 16"/>
          <p:cNvSpPr/>
          <p:nvPr/>
        </p:nvSpPr>
        <p:spPr>
          <a:xfrm>
            <a:off x="1188720" y="3838575"/>
            <a:ext cx="228600" cy="228600"/>
          </a:xfrm>
          <a:prstGeom prst="rect">
            <a:avLst/>
          </a:prstGeom>
          <a:noFill/>
          <a:ln/>
        </p:spPr>
        <p:txBody>
          <a:bodyPr wrap="square" lIns="0" tIns="0" rIns="0" bIns="0" rtlCol="0" anchor="ctr"/>
          <a:lstStyle/>
          <a:p>
            <a:pPr>
              <a:lnSpc>
                <a:spcPct val="130000"/>
              </a:lnSpc>
            </a:pPr>
            <a:r>
              <a:rPr lang="en-US" sz="1200" dirty="0">
                <a:solidFill>
                  <a:srgbClr val="5B9BD5"/>
                </a:solidFill>
                <a:latin typeface="MiSans" pitchFamily="34" charset="0"/>
                <a:ea typeface="MiSans" pitchFamily="34" charset="-122"/>
                <a:cs typeface="MiSans" pitchFamily="34" charset="-120"/>
              </a:rPr>
              <a:t>•</a:t>
            </a:r>
            <a:endParaRPr lang="en-US" sz="1600" dirty="0"/>
          </a:p>
        </p:txBody>
      </p:sp>
      <p:sp>
        <p:nvSpPr>
          <p:cNvPr id="20" name="Text 17"/>
          <p:cNvSpPr/>
          <p:nvPr/>
        </p:nvSpPr>
        <p:spPr>
          <a:xfrm>
            <a:off x="1417320" y="3800475"/>
            <a:ext cx="2943225" cy="228600"/>
          </a:xfrm>
          <a:prstGeom prst="rect">
            <a:avLst/>
          </a:prstGeom>
          <a:noFill/>
          <a:ln/>
        </p:spPr>
        <p:txBody>
          <a:bodyPr wrap="square" lIns="0" tIns="0" rIns="0" bIns="0" rtlCol="0" anchor="ctr"/>
          <a:lstStyle/>
          <a:p>
            <a:pPr>
              <a:lnSpc>
                <a:spcPct val="130000"/>
              </a:lnSpc>
            </a:pPr>
            <a:r>
              <a:rPr lang="en-US" sz="1200" dirty="0">
                <a:solidFill>
                  <a:schemeClr val="accent5"/>
                </a:solidFill>
                <a:latin typeface="MiSans" pitchFamily="34" charset="0"/>
                <a:ea typeface="MiSans" pitchFamily="34" charset="-122"/>
                <a:cs typeface="MiSans" pitchFamily="34" charset="-120"/>
              </a:rPr>
              <a:t>Hệ thống tích điểm và ưu đãi khách hàng</a:t>
            </a:r>
            <a:endParaRPr lang="en-US" sz="1600" dirty="0">
              <a:solidFill>
                <a:schemeClr val="accent5"/>
              </a:solidFill>
            </a:endParaRPr>
          </a:p>
        </p:txBody>
      </p:sp>
      <p:sp>
        <p:nvSpPr>
          <p:cNvPr id="21" name="Shape 18"/>
          <p:cNvSpPr/>
          <p:nvPr/>
        </p:nvSpPr>
        <p:spPr>
          <a:xfrm>
            <a:off x="384810" y="4692012"/>
            <a:ext cx="5589270" cy="1226820"/>
          </a:xfrm>
          <a:custGeom>
            <a:avLst/>
            <a:gdLst/>
            <a:ahLst/>
            <a:cxnLst/>
            <a:rect l="l" t="t" r="r" b="b"/>
            <a:pathLst>
              <a:path w="5589270" h="1226820">
                <a:moveTo>
                  <a:pt x="152396" y="0"/>
                </a:moveTo>
                <a:lnTo>
                  <a:pt x="5436874" y="0"/>
                </a:lnTo>
                <a:cubicBezTo>
                  <a:pt x="5521040" y="0"/>
                  <a:pt x="5589270" y="68230"/>
                  <a:pt x="5589270" y="152396"/>
                </a:cubicBezTo>
                <a:lnTo>
                  <a:pt x="5589270" y="1074424"/>
                </a:lnTo>
                <a:cubicBezTo>
                  <a:pt x="5589270" y="1158590"/>
                  <a:pt x="5521040" y="1226820"/>
                  <a:pt x="5436874" y="1226820"/>
                </a:cubicBezTo>
                <a:lnTo>
                  <a:pt x="152396" y="1226820"/>
                </a:lnTo>
                <a:cubicBezTo>
                  <a:pt x="68286" y="1226820"/>
                  <a:pt x="0" y="1158534"/>
                  <a:pt x="0" y="1074424"/>
                </a:cubicBezTo>
                <a:lnTo>
                  <a:pt x="0" y="152396"/>
                </a:lnTo>
                <a:cubicBezTo>
                  <a:pt x="0" y="68286"/>
                  <a:pt x="68286" y="0"/>
                  <a:pt x="152396" y="0"/>
                </a:cubicBezTo>
                <a:close/>
              </a:path>
            </a:pathLst>
          </a:custGeom>
          <a:solidFill>
            <a:srgbClr val="FFFFFF">
              <a:alpha val="5098"/>
            </a:srgbClr>
          </a:solidFill>
          <a:ln w="10160">
            <a:solidFill>
              <a:srgbClr val="FFFFFF">
                <a:alpha val="10196"/>
              </a:srgbClr>
            </a:solidFill>
            <a:prstDash val="solid"/>
          </a:ln>
        </p:spPr>
      </p:sp>
      <p:sp>
        <p:nvSpPr>
          <p:cNvPr id="22" name="Shape 19"/>
          <p:cNvSpPr/>
          <p:nvPr/>
        </p:nvSpPr>
        <p:spPr>
          <a:xfrm>
            <a:off x="579120" y="48863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70AD47"/>
              </a:gs>
              <a:gs pos="100000">
                <a:srgbClr val="A5A5A5"/>
              </a:gs>
            </a:gsLst>
            <a:lin ang="2700000" scaled="1"/>
          </a:gradFill>
          <a:ln/>
        </p:spPr>
      </p:sp>
      <p:sp>
        <p:nvSpPr>
          <p:cNvPr id="23" name="Shape 20"/>
          <p:cNvSpPr/>
          <p:nvPr/>
        </p:nvSpPr>
        <p:spPr>
          <a:xfrm>
            <a:off x="700564" y="5019675"/>
            <a:ext cx="214313" cy="190500"/>
          </a:xfrm>
          <a:custGeom>
            <a:avLst/>
            <a:gdLst/>
            <a:ahLst/>
            <a:cxnLst/>
            <a:rect l="l" t="t" r="r" b="b"/>
            <a:pathLst>
              <a:path w="214313" h="190500">
                <a:moveTo>
                  <a:pt x="156083" y="35719"/>
                </a:moveTo>
                <a:cubicBezTo>
                  <a:pt x="149907" y="35719"/>
                  <a:pt x="143917" y="37393"/>
                  <a:pt x="138671" y="40444"/>
                </a:cubicBezTo>
                <a:cubicBezTo>
                  <a:pt x="132792" y="34491"/>
                  <a:pt x="125946" y="29505"/>
                  <a:pt x="118393" y="25747"/>
                </a:cubicBezTo>
                <a:cubicBezTo>
                  <a:pt x="128885" y="16818"/>
                  <a:pt x="142242" y="11906"/>
                  <a:pt x="156083" y="11906"/>
                </a:cubicBezTo>
                <a:cubicBezTo>
                  <a:pt x="188230" y="11906"/>
                  <a:pt x="214313" y="37951"/>
                  <a:pt x="214313" y="70135"/>
                </a:cubicBezTo>
                <a:cubicBezTo>
                  <a:pt x="214313" y="85576"/>
                  <a:pt x="208173" y="100385"/>
                  <a:pt x="197272" y="111286"/>
                </a:cubicBezTo>
                <a:lnTo>
                  <a:pt x="170817" y="137740"/>
                </a:lnTo>
                <a:cubicBezTo>
                  <a:pt x="159916" y="148642"/>
                  <a:pt x="145107" y="154781"/>
                  <a:pt x="129667" y="154781"/>
                </a:cubicBezTo>
                <a:cubicBezTo>
                  <a:pt x="97520" y="154781"/>
                  <a:pt x="71438" y="128736"/>
                  <a:pt x="71438" y="96552"/>
                </a:cubicBezTo>
                <a:cubicBezTo>
                  <a:pt x="71438" y="95994"/>
                  <a:pt x="71438" y="95436"/>
                  <a:pt x="71475" y="94878"/>
                </a:cubicBezTo>
                <a:cubicBezTo>
                  <a:pt x="71661" y="88292"/>
                  <a:pt x="77130" y="83121"/>
                  <a:pt x="83716" y="83307"/>
                </a:cubicBezTo>
                <a:cubicBezTo>
                  <a:pt x="90301" y="83493"/>
                  <a:pt x="95473" y="88962"/>
                  <a:pt x="95287" y="95548"/>
                </a:cubicBezTo>
                <a:cubicBezTo>
                  <a:pt x="95287" y="95883"/>
                  <a:pt x="95287" y="96217"/>
                  <a:pt x="95287" y="96515"/>
                </a:cubicBezTo>
                <a:cubicBezTo>
                  <a:pt x="95287" y="115528"/>
                  <a:pt x="110691" y="130932"/>
                  <a:pt x="129704" y="130932"/>
                </a:cubicBezTo>
                <a:cubicBezTo>
                  <a:pt x="138819" y="130932"/>
                  <a:pt x="147563" y="127322"/>
                  <a:pt x="154037" y="120848"/>
                </a:cubicBezTo>
                <a:lnTo>
                  <a:pt x="180491" y="94394"/>
                </a:lnTo>
                <a:cubicBezTo>
                  <a:pt x="186928" y="87957"/>
                  <a:pt x="190574" y="79177"/>
                  <a:pt x="190574" y="70061"/>
                </a:cubicBezTo>
                <a:cubicBezTo>
                  <a:pt x="190574" y="51048"/>
                  <a:pt x="175171" y="35644"/>
                  <a:pt x="156158" y="35644"/>
                </a:cubicBezTo>
                <a:close/>
                <a:moveTo>
                  <a:pt x="102394" y="64480"/>
                </a:moveTo>
                <a:cubicBezTo>
                  <a:pt x="101687" y="64182"/>
                  <a:pt x="100980" y="63773"/>
                  <a:pt x="100347" y="63326"/>
                </a:cubicBezTo>
                <a:cubicBezTo>
                  <a:pt x="95659" y="60908"/>
                  <a:pt x="90301" y="59531"/>
                  <a:pt x="84683" y="59531"/>
                </a:cubicBezTo>
                <a:cubicBezTo>
                  <a:pt x="75567" y="59531"/>
                  <a:pt x="66824" y="63140"/>
                  <a:pt x="60350" y="69614"/>
                </a:cubicBezTo>
                <a:lnTo>
                  <a:pt x="33896" y="96069"/>
                </a:lnTo>
                <a:cubicBezTo>
                  <a:pt x="27459" y="102505"/>
                  <a:pt x="23812" y="111286"/>
                  <a:pt x="23812" y="120402"/>
                </a:cubicBezTo>
                <a:cubicBezTo>
                  <a:pt x="23812" y="139415"/>
                  <a:pt x="39216" y="154818"/>
                  <a:pt x="58229" y="154818"/>
                </a:cubicBezTo>
                <a:cubicBezTo>
                  <a:pt x="64368" y="154818"/>
                  <a:pt x="70358" y="153181"/>
                  <a:pt x="75605" y="150130"/>
                </a:cubicBezTo>
                <a:cubicBezTo>
                  <a:pt x="81483" y="156083"/>
                  <a:pt x="88329" y="161069"/>
                  <a:pt x="95920" y="164827"/>
                </a:cubicBezTo>
                <a:cubicBezTo>
                  <a:pt x="85427" y="173720"/>
                  <a:pt x="72107" y="178668"/>
                  <a:pt x="58229" y="178668"/>
                </a:cubicBezTo>
                <a:cubicBezTo>
                  <a:pt x="26082" y="178668"/>
                  <a:pt x="0" y="152623"/>
                  <a:pt x="0" y="120439"/>
                </a:cubicBezTo>
                <a:cubicBezTo>
                  <a:pt x="0" y="104998"/>
                  <a:pt x="6139" y="90190"/>
                  <a:pt x="17041" y="79288"/>
                </a:cubicBezTo>
                <a:lnTo>
                  <a:pt x="43495" y="52834"/>
                </a:lnTo>
                <a:cubicBezTo>
                  <a:pt x="54397" y="41932"/>
                  <a:pt x="69205" y="35793"/>
                  <a:pt x="84646" y="35793"/>
                </a:cubicBezTo>
                <a:cubicBezTo>
                  <a:pt x="116867" y="35793"/>
                  <a:pt x="142875" y="62061"/>
                  <a:pt x="142875" y="94171"/>
                </a:cubicBezTo>
                <a:cubicBezTo>
                  <a:pt x="142875" y="94655"/>
                  <a:pt x="142875" y="95138"/>
                  <a:pt x="142875" y="95622"/>
                </a:cubicBezTo>
                <a:cubicBezTo>
                  <a:pt x="142726" y="102208"/>
                  <a:pt x="137257" y="107379"/>
                  <a:pt x="130671" y="107231"/>
                </a:cubicBezTo>
                <a:cubicBezTo>
                  <a:pt x="124085" y="107082"/>
                  <a:pt x="118914" y="101612"/>
                  <a:pt x="119063" y="95027"/>
                </a:cubicBezTo>
                <a:cubicBezTo>
                  <a:pt x="119063" y="94729"/>
                  <a:pt x="119063" y="94469"/>
                  <a:pt x="119063" y="94171"/>
                </a:cubicBezTo>
                <a:cubicBezTo>
                  <a:pt x="119063" y="81632"/>
                  <a:pt x="112365" y="70619"/>
                  <a:pt x="102394" y="64554"/>
                </a:cubicBezTo>
                <a:close/>
              </a:path>
            </a:pathLst>
          </a:custGeom>
          <a:solidFill>
            <a:srgbClr val="FFFFFF"/>
          </a:solidFill>
          <a:ln/>
        </p:spPr>
      </p:sp>
      <p:sp>
        <p:nvSpPr>
          <p:cNvPr id="24" name="Text 21"/>
          <p:cNvSpPr/>
          <p:nvPr/>
        </p:nvSpPr>
        <p:spPr>
          <a:xfrm>
            <a:off x="1188720" y="4886325"/>
            <a:ext cx="4686300" cy="266700"/>
          </a:xfrm>
          <a:prstGeom prst="rect">
            <a:avLst/>
          </a:prstGeom>
          <a:noFill/>
          <a:ln/>
        </p:spPr>
        <p:txBody>
          <a:bodyPr wrap="square" lIns="0" tIns="0" rIns="0" bIns="0" rtlCol="0" anchor="ctr"/>
          <a:lstStyle/>
          <a:p>
            <a:pPr>
              <a:lnSpc>
                <a:spcPct val="120000"/>
              </a:lnSpc>
            </a:pPr>
            <a:r>
              <a:rPr lang="en-US" sz="1500" b="1" dirty="0">
                <a:solidFill>
                  <a:schemeClr val="tx1">
                    <a:lumMod val="85000"/>
                    <a:lumOff val="15000"/>
                  </a:schemeClr>
                </a:solidFill>
                <a:latin typeface="MiSans" pitchFamily="34" charset="0"/>
                <a:ea typeface="MiSans" pitchFamily="34" charset="-122"/>
                <a:cs typeface="MiSans" pitchFamily="34" charset="-120"/>
              </a:rPr>
              <a:t>Liên kết với rạp chiếu phim thực tế</a:t>
            </a:r>
            <a:endParaRPr lang="en-US" sz="1600" dirty="0">
              <a:solidFill>
                <a:schemeClr val="tx1">
                  <a:lumMod val="85000"/>
                  <a:lumOff val="15000"/>
                </a:schemeClr>
              </a:solidFill>
            </a:endParaRPr>
          </a:p>
        </p:txBody>
      </p:sp>
      <p:sp>
        <p:nvSpPr>
          <p:cNvPr id="25" name="Text 22"/>
          <p:cNvSpPr/>
          <p:nvPr/>
        </p:nvSpPr>
        <p:spPr>
          <a:xfrm>
            <a:off x="1188720" y="5229225"/>
            <a:ext cx="4667250" cy="495300"/>
          </a:xfrm>
          <a:prstGeom prst="rect">
            <a:avLst/>
          </a:prstGeom>
          <a:noFill/>
          <a:ln/>
        </p:spPr>
        <p:txBody>
          <a:bodyPr wrap="square" lIns="0" tIns="0" rIns="0" bIns="0" rtlCol="0" anchor="ctr"/>
          <a:lstStyle/>
          <a:p>
            <a:pPr>
              <a:lnSpc>
                <a:spcPct val="140000"/>
              </a:lnSpc>
            </a:pPr>
            <a:r>
              <a:rPr lang="en-US" sz="1200" dirty="0">
                <a:solidFill>
                  <a:schemeClr val="accent6">
                    <a:lumMod val="75000"/>
                  </a:schemeClr>
                </a:solidFill>
                <a:latin typeface="MiSans" pitchFamily="34" charset="0"/>
                <a:ea typeface="MiSans" pitchFamily="34" charset="-122"/>
                <a:cs typeface="MiSans" pitchFamily="34" charset="-120"/>
              </a:rPr>
              <a:t>Kết nối với hệ thống rạp chiếu phim thực tế để cung cấp dữ liệu suất chiếu, giá vé và trạng thái ghế ngồi theo thờI gian thực.</a:t>
            </a:r>
            <a:endParaRPr lang="en-US" sz="1600" dirty="0">
              <a:solidFill>
                <a:schemeClr val="accent6">
                  <a:lumMod val="75000"/>
                </a:schemeClr>
              </a:solidFill>
            </a:endParaRPr>
          </a:p>
        </p:txBody>
      </p:sp>
      <p:sp>
        <p:nvSpPr>
          <p:cNvPr id="26" name="Shape 23"/>
          <p:cNvSpPr/>
          <p:nvPr/>
        </p:nvSpPr>
        <p:spPr>
          <a:xfrm>
            <a:off x="6214110" y="1868803"/>
            <a:ext cx="5589270" cy="1874520"/>
          </a:xfrm>
          <a:custGeom>
            <a:avLst/>
            <a:gdLst/>
            <a:ahLst/>
            <a:cxnLst/>
            <a:rect l="l" t="t" r="r" b="b"/>
            <a:pathLst>
              <a:path w="5589270" h="1874520">
                <a:moveTo>
                  <a:pt x="152398" y="0"/>
                </a:moveTo>
                <a:lnTo>
                  <a:pt x="5436872" y="0"/>
                </a:lnTo>
                <a:cubicBezTo>
                  <a:pt x="5521039" y="0"/>
                  <a:pt x="5589270" y="68231"/>
                  <a:pt x="5589270" y="152398"/>
                </a:cubicBezTo>
                <a:lnTo>
                  <a:pt x="5589270" y="1722122"/>
                </a:lnTo>
                <a:cubicBezTo>
                  <a:pt x="5589270" y="1806289"/>
                  <a:pt x="5521039" y="1874520"/>
                  <a:pt x="5436872" y="1874520"/>
                </a:cubicBezTo>
                <a:lnTo>
                  <a:pt x="152398" y="1874520"/>
                </a:lnTo>
                <a:cubicBezTo>
                  <a:pt x="68231" y="1874520"/>
                  <a:pt x="0" y="1806289"/>
                  <a:pt x="0" y="1722122"/>
                </a:cubicBezTo>
                <a:lnTo>
                  <a:pt x="0" y="152398"/>
                </a:lnTo>
                <a:cubicBezTo>
                  <a:pt x="0" y="68287"/>
                  <a:pt x="68287" y="0"/>
                  <a:pt x="152398" y="0"/>
                </a:cubicBezTo>
                <a:close/>
              </a:path>
            </a:pathLst>
          </a:custGeom>
          <a:solidFill>
            <a:srgbClr val="FFFFFF">
              <a:alpha val="5098"/>
            </a:srgbClr>
          </a:solidFill>
          <a:ln w="10160">
            <a:solidFill>
              <a:srgbClr val="FFFFFF">
                <a:alpha val="10196"/>
              </a:srgbClr>
            </a:solidFill>
            <a:prstDash val="solid"/>
          </a:ln>
        </p:spPr>
      </p:sp>
      <p:sp>
        <p:nvSpPr>
          <p:cNvPr id="27" name="Shape 24"/>
          <p:cNvSpPr/>
          <p:nvPr/>
        </p:nvSpPr>
        <p:spPr>
          <a:xfrm>
            <a:off x="6408420" y="2063116"/>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ED7D31"/>
              </a:gs>
              <a:gs pos="100000">
                <a:srgbClr val="FFC000"/>
              </a:gs>
            </a:gsLst>
            <a:lin ang="2700000" scaled="1"/>
          </a:gradFill>
          <a:ln/>
        </p:spPr>
      </p:sp>
      <p:sp>
        <p:nvSpPr>
          <p:cNvPr id="28" name="Shape 25"/>
          <p:cNvSpPr/>
          <p:nvPr/>
        </p:nvSpPr>
        <p:spPr>
          <a:xfrm>
            <a:off x="6541770" y="2196466"/>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FFFFFF"/>
          </a:solidFill>
          <a:ln/>
        </p:spPr>
      </p:sp>
      <p:sp>
        <p:nvSpPr>
          <p:cNvPr id="29" name="Text 26"/>
          <p:cNvSpPr/>
          <p:nvPr/>
        </p:nvSpPr>
        <p:spPr>
          <a:xfrm>
            <a:off x="7018020" y="2063116"/>
            <a:ext cx="4686300" cy="266700"/>
          </a:xfrm>
          <a:prstGeom prst="rect">
            <a:avLst/>
          </a:prstGeom>
          <a:noFill/>
          <a:ln/>
        </p:spPr>
        <p:txBody>
          <a:bodyPr wrap="square" lIns="0" tIns="0" rIns="0" bIns="0" rtlCol="0" anchor="ctr"/>
          <a:lstStyle/>
          <a:p>
            <a:pPr>
              <a:lnSpc>
                <a:spcPct val="120000"/>
              </a:lnSpc>
            </a:pPr>
            <a:r>
              <a:rPr lang="en-US" sz="1500" b="1" dirty="0">
                <a:solidFill>
                  <a:schemeClr val="tx1">
                    <a:lumMod val="85000"/>
                    <a:lumOff val="15000"/>
                  </a:schemeClr>
                </a:solidFill>
                <a:latin typeface="MiSans" pitchFamily="34" charset="0"/>
                <a:ea typeface="MiSans" pitchFamily="34" charset="-122"/>
                <a:cs typeface="MiSans" pitchFamily="34" charset="-120"/>
              </a:rPr>
              <a:t>Xây dựng hệ thống gợi ý dựa trên hành vi</a:t>
            </a:r>
            <a:endParaRPr lang="en-US" sz="1600" dirty="0">
              <a:solidFill>
                <a:schemeClr val="tx1">
                  <a:lumMod val="85000"/>
                  <a:lumOff val="15000"/>
                </a:schemeClr>
              </a:solidFill>
            </a:endParaRPr>
          </a:p>
        </p:txBody>
      </p:sp>
      <p:sp>
        <p:nvSpPr>
          <p:cNvPr id="30" name="Text 27"/>
          <p:cNvSpPr/>
          <p:nvPr/>
        </p:nvSpPr>
        <p:spPr>
          <a:xfrm>
            <a:off x="7018020" y="2406016"/>
            <a:ext cx="4667250" cy="742950"/>
          </a:xfrm>
          <a:prstGeom prst="rect">
            <a:avLst/>
          </a:prstGeom>
          <a:noFill/>
          <a:ln/>
        </p:spPr>
        <p:txBody>
          <a:bodyPr wrap="square" lIns="0" tIns="0" rIns="0" bIns="0" rtlCol="0" anchor="ctr"/>
          <a:lstStyle/>
          <a:p>
            <a:pPr>
              <a:lnSpc>
                <a:spcPct val="140000"/>
              </a:lnSpc>
            </a:pPr>
            <a:r>
              <a:rPr lang="en-US" sz="1200" dirty="0">
                <a:solidFill>
                  <a:schemeClr val="accent4">
                    <a:lumMod val="75000"/>
                  </a:schemeClr>
                </a:solidFill>
                <a:latin typeface="MiSans" pitchFamily="34" charset="0"/>
                <a:ea typeface="MiSans" pitchFamily="34" charset="-122"/>
                <a:cs typeface="MiSans" pitchFamily="34" charset="-120"/>
              </a:rPr>
              <a:t>Sử dụng Machine Learning và AI để phân tích hành vi ngườI dùng và đưa ra các gợi ý phim phù hợp, cá nhân hóa trải nghiệm cho từng ngườI dùng.</a:t>
            </a:r>
            <a:endParaRPr lang="en-US" sz="1600" dirty="0">
              <a:solidFill>
                <a:schemeClr val="accent4">
                  <a:lumMod val="75000"/>
                </a:schemeClr>
              </a:solidFill>
            </a:endParaRPr>
          </a:p>
        </p:txBody>
      </p:sp>
      <p:sp>
        <p:nvSpPr>
          <p:cNvPr id="31" name="Shape 28"/>
          <p:cNvSpPr/>
          <p:nvPr/>
        </p:nvSpPr>
        <p:spPr>
          <a:xfrm>
            <a:off x="7021830" y="3267076"/>
            <a:ext cx="1331595" cy="274320"/>
          </a:xfrm>
          <a:custGeom>
            <a:avLst/>
            <a:gdLst/>
            <a:ahLst/>
            <a:cxnLst/>
            <a:rect l="l" t="t" r="r" b="b"/>
            <a:pathLst>
              <a:path w="1331595" h="274320">
                <a:moveTo>
                  <a:pt x="76201" y="0"/>
                </a:moveTo>
                <a:lnTo>
                  <a:pt x="1255394" y="0"/>
                </a:lnTo>
                <a:cubicBezTo>
                  <a:pt x="1297479" y="0"/>
                  <a:pt x="1331595" y="34116"/>
                  <a:pt x="1331595" y="76201"/>
                </a:cubicBezTo>
                <a:lnTo>
                  <a:pt x="1331595" y="198119"/>
                </a:lnTo>
                <a:cubicBezTo>
                  <a:pt x="1331595" y="240204"/>
                  <a:pt x="1297479" y="274320"/>
                  <a:pt x="1255394" y="274320"/>
                </a:cubicBezTo>
                <a:lnTo>
                  <a:pt x="76201" y="274320"/>
                </a:lnTo>
                <a:cubicBezTo>
                  <a:pt x="34144" y="274320"/>
                  <a:pt x="0" y="240176"/>
                  <a:pt x="0" y="198119"/>
                </a:cubicBezTo>
                <a:lnTo>
                  <a:pt x="0" y="76201"/>
                </a:lnTo>
                <a:cubicBezTo>
                  <a:pt x="0" y="34144"/>
                  <a:pt x="34144" y="0"/>
                  <a:pt x="76201" y="0"/>
                </a:cubicBezTo>
                <a:close/>
              </a:path>
            </a:pathLst>
          </a:custGeom>
          <a:solidFill>
            <a:srgbClr val="ED7D31">
              <a:alpha val="20000"/>
            </a:srgbClr>
          </a:solidFill>
          <a:ln w="10160">
            <a:solidFill>
              <a:srgbClr val="ED7D31">
                <a:alpha val="30196"/>
              </a:srgbClr>
            </a:solidFill>
            <a:prstDash val="solid"/>
          </a:ln>
        </p:spPr>
      </p:sp>
      <p:sp>
        <p:nvSpPr>
          <p:cNvPr id="32" name="Text 29"/>
          <p:cNvSpPr/>
          <p:nvPr/>
        </p:nvSpPr>
        <p:spPr>
          <a:xfrm>
            <a:off x="7018020" y="3263266"/>
            <a:ext cx="1390650" cy="266700"/>
          </a:xfrm>
          <a:prstGeom prst="rect">
            <a:avLst/>
          </a:prstGeom>
          <a:noFill/>
          <a:ln/>
        </p:spPr>
        <p:txBody>
          <a:bodyPr wrap="square" lIns="114300" tIns="38100" rIns="114300" bIns="38100" rtlCol="0" anchor="ctr"/>
          <a:lstStyle/>
          <a:p>
            <a:pPr>
              <a:lnSpc>
                <a:spcPct val="120000"/>
              </a:lnSpc>
            </a:pPr>
            <a:r>
              <a:rPr lang="en-US" sz="1050" b="1" dirty="0">
                <a:solidFill>
                  <a:srgbClr val="ED7D31"/>
                </a:solidFill>
                <a:latin typeface="MiSans" pitchFamily="34" charset="0"/>
                <a:ea typeface="MiSans" pitchFamily="34" charset="-122"/>
                <a:cs typeface="MiSans" pitchFamily="34" charset="-120"/>
              </a:rPr>
              <a:t>Machine Learning</a:t>
            </a:r>
            <a:endParaRPr lang="en-US" sz="1600" dirty="0"/>
          </a:p>
        </p:txBody>
      </p:sp>
      <p:sp>
        <p:nvSpPr>
          <p:cNvPr id="33" name="Shape 30"/>
          <p:cNvSpPr/>
          <p:nvPr/>
        </p:nvSpPr>
        <p:spPr>
          <a:xfrm>
            <a:off x="8435578" y="3267076"/>
            <a:ext cx="360045" cy="274320"/>
          </a:xfrm>
          <a:custGeom>
            <a:avLst/>
            <a:gdLst/>
            <a:ahLst/>
            <a:cxnLst/>
            <a:rect l="l" t="t" r="r" b="b"/>
            <a:pathLst>
              <a:path w="360045" h="274320">
                <a:moveTo>
                  <a:pt x="76201" y="0"/>
                </a:moveTo>
                <a:lnTo>
                  <a:pt x="283844" y="0"/>
                </a:lnTo>
                <a:cubicBezTo>
                  <a:pt x="325901" y="0"/>
                  <a:pt x="360045" y="34144"/>
                  <a:pt x="360045" y="76201"/>
                </a:cubicBezTo>
                <a:lnTo>
                  <a:pt x="360045" y="198119"/>
                </a:lnTo>
                <a:cubicBezTo>
                  <a:pt x="360045" y="240176"/>
                  <a:pt x="325901" y="274320"/>
                  <a:pt x="283844" y="274320"/>
                </a:cubicBezTo>
                <a:lnTo>
                  <a:pt x="76201" y="274320"/>
                </a:lnTo>
                <a:cubicBezTo>
                  <a:pt x="34144" y="274320"/>
                  <a:pt x="0" y="240176"/>
                  <a:pt x="0" y="198119"/>
                </a:cubicBezTo>
                <a:lnTo>
                  <a:pt x="0" y="76201"/>
                </a:lnTo>
                <a:cubicBezTo>
                  <a:pt x="0" y="34144"/>
                  <a:pt x="34144" y="0"/>
                  <a:pt x="76201" y="0"/>
                </a:cubicBezTo>
                <a:close/>
              </a:path>
            </a:pathLst>
          </a:custGeom>
          <a:solidFill>
            <a:srgbClr val="FFC000">
              <a:alpha val="20000"/>
            </a:srgbClr>
          </a:solidFill>
          <a:ln w="10160">
            <a:solidFill>
              <a:srgbClr val="FFC000">
                <a:alpha val="30196"/>
              </a:srgbClr>
            </a:solidFill>
            <a:prstDash val="solid"/>
          </a:ln>
        </p:spPr>
      </p:sp>
      <p:sp>
        <p:nvSpPr>
          <p:cNvPr id="34" name="Text 31"/>
          <p:cNvSpPr/>
          <p:nvPr/>
        </p:nvSpPr>
        <p:spPr>
          <a:xfrm>
            <a:off x="8431768" y="3263266"/>
            <a:ext cx="419100" cy="266700"/>
          </a:xfrm>
          <a:prstGeom prst="rect">
            <a:avLst/>
          </a:prstGeom>
          <a:noFill/>
          <a:ln/>
        </p:spPr>
        <p:txBody>
          <a:bodyPr wrap="square" lIns="114300" tIns="38100" rIns="114300" bIns="38100" rtlCol="0" anchor="ctr"/>
          <a:lstStyle/>
          <a:p>
            <a:pPr>
              <a:lnSpc>
                <a:spcPct val="120000"/>
              </a:lnSpc>
            </a:pPr>
            <a:r>
              <a:rPr lang="en-US" sz="1050" b="1" dirty="0">
                <a:solidFill>
                  <a:srgbClr val="FFC000"/>
                </a:solidFill>
                <a:latin typeface="MiSans" pitchFamily="34" charset="0"/>
                <a:ea typeface="MiSans" pitchFamily="34" charset="-122"/>
                <a:cs typeface="MiSans" pitchFamily="34" charset="-120"/>
              </a:rPr>
              <a:t>AI</a:t>
            </a:r>
            <a:endParaRPr lang="en-US" sz="1600" dirty="0"/>
          </a:p>
        </p:txBody>
      </p:sp>
      <p:sp>
        <p:nvSpPr>
          <p:cNvPr id="35" name="Shape 32"/>
          <p:cNvSpPr/>
          <p:nvPr/>
        </p:nvSpPr>
        <p:spPr>
          <a:xfrm>
            <a:off x="8875038" y="3267076"/>
            <a:ext cx="760095" cy="274320"/>
          </a:xfrm>
          <a:custGeom>
            <a:avLst/>
            <a:gdLst/>
            <a:ahLst/>
            <a:cxnLst/>
            <a:rect l="l" t="t" r="r" b="b"/>
            <a:pathLst>
              <a:path w="760095" h="274320">
                <a:moveTo>
                  <a:pt x="76201" y="0"/>
                </a:moveTo>
                <a:lnTo>
                  <a:pt x="683894" y="0"/>
                </a:lnTo>
                <a:cubicBezTo>
                  <a:pt x="725951" y="0"/>
                  <a:pt x="760095" y="34144"/>
                  <a:pt x="760095" y="76201"/>
                </a:cubicBezTo>
                <a:lnTo>
                  <a:pt x="760095" y="198119"/>
                </a:lnTo>
                <a:cubicBezTo>
                  <a:pt x="760095" y="240176"/>
                  <a:pt x="725951" y="274320"/>
                  <a:pt x="683894" y="274320"/>
                </a:cubicBezTo>
                <a:lnTo>
                  <a:pt x="76201" y="274320"/>
                </a:lnTo>
                <a:cubicBezTo>
                  <a:pt x="34144" y="274320"/>
                  <a:pt x="0" y="240176"/>
                  <a:pt x="0" y="198119"/>
                </a:cubicBezTo>
                <a:lnTo>
                  <a:pt x="0" y="76201"/>
                </a:lnTo>
                <a:cubicBezTo>
                  <a:pt x="0" y="34144"/>
                  <a:pt x="34144" y="0"/>
                  <a:pt x="76201" y="0"/>
                </a:cubicBezTo>
                <a:close/>
              </a:path>
            </a:pathLst>
          </a:custGeom>
          <a:solidFill>
            <a:srgbClr val="5B9BD5">
              <a:alpha val="20000"/>
            </a:srgbClr>
          </a:solidFill>
          <a:ln w="10160">
            <a:solidFill>
              <a:srgbClr val="5B9BD5">
                <a:alpha val="30196"/>
              </a:srgbClr>
            </a:solidFill>
            <a:prstDash val="solid"/>
          </a:ln>
        </p:spPr>
      </p:sp>
      <p:sp>
        <p:nvSpPr>
          <p:cNvPr id="36" name="Text 33"/>
          <p:cNvSpPr/>
          <p:nvPr/>
        </p:nvSpPr>
        <p:spPr>
          <a:xfrm>
            <a:off x="8871228" y="3263266"/>
            <a:ext cx="819150" cy="266700"/>
          </a:xfrm>
          <a:prstGeom prst="rect">
            <a:avLst/>
          </a:prstGeom>
          <a:noFill/>
          <a:ln/>
        </p:spPr>
        <p:txBody>
          <a:bodyPr wrap="square" lIns="114300" tIns="38100" rIns="114300" bIns="38100" rtlCol="0" anchor="ctr"/>
          <a:lstStyle/>
          <a:p>
            <a:pPr>
              <a:lnSpc>
                <a:spcPct val="120000"/>
              </a:lnSpc>
            </a:pPr>
            <a:r>
              <a:rPr lang="en-US" sz="1050" b="1" dirty="0">
                <a:solidFill>
                  <a:srgbClr val="5B9BD5"/>
                </a:solidFill>
                <a:latin typeface="MiSans" pitchFamily="34" charset="0"/>
                <a:ea typeface="MiSans" pitchFamily="34" charset="-122"/>
                <a:cs typeface="MiSans" pitchFamily="34" charset="-120"/>
              </a:rPr>
              <a:t>Big Data</a:t>
            </a:r>
            <a:endParaRPr lang="en-US" sz="1600" dirty="0"/>
          </a:p>
        </p:txBody>
      </p:sp>
      <p:sp>
        <p:nvSpPr>
          <p:cNvPr id="37" name="Shape 34"/>
          <p:cNvSpPr/>
          <p:nvPr/>
        </p:nvSpPr>
        <p:spPr>
          <a:xfrm>
            <a:off x="6214110" y="4352926"/>
            <a:ext cx="5589270" cy="1474470"/>
          </a:xfrm>
          <a:custGeom>
            <a:avLst/>
            <a:gdLst/>
            <a:ahLst/>
            <a:cxnLst/>
            <a:rect l="l" t="t" r="r" b="b"/>
            <a:pathLst>
              <a:path w="5589270" h="1474470">
                <a:moveTo>
                  <a:pt x="152401" y="0"/>
                </a:moveTo>
                <a:lnTo>
                  <a:pt x="5436869" y="0"/>
                </a:lnTo>
                <a:cubicBezTo>
                  <a:pt x="5521038" y="0"/>
                  <a:pt x="5589270" y="68232"/>
                  <a:pt x="5589270" y="152401"/>
                </a:cubicBezTo>
                <a:lnTo>
                  <a:pt x="5589270" y="1322069"/>
                </a:lnTo>
                <a:cubicBezTo>
                  <a:pt x="5589270" y="1406238"/>
                  <a:pt x="5521038" y="1474470"/>
                  <a:pt x="5436869" y="1474470"/>
                </a:cubicBezTo>
                <a:lnTo>
                  <a:pt x="152401" y="1474470"/>
                </a:lnTo>
                <a:cubicBezTo>
                  <a:pt x="68289" y="1474470"/>
                  <a:pt x="0" y="1406181"/>
                  <a:pt x="0" y="1322069"/>
                </a:cubicBezTo>
                <a:lnTo>
                  <a:pt x="0" y="152401"/>
                </a:lnTo>
                <a:cubicBezTo>
                  <a:pt x="0" y="68289"/>
                  <a:pt x="68289" y="0"/>
                  <a:pt x="152401" y="0"/>
                </a:cubicBezTo>
                <a:close/>
              </a:path>
            </a:pathLst>
          </a:custGeom>
          <a:solidFill>
            <a:srgbClr val="FFFFFF">
              <a:alpha val="5098"/>
            </a:srgbClr>
          </a:solidFill>
          <a:ln w="10160">
            <a:solidFill>
              <a:srgbClr val="FFFFFF">
                <a:alpha val="10196"/>
              </a:srgbClr>
            </a:solidFill>
            <a:prstDash val="solid"/>
          </a:ln>
        </p:spPr>
      </p:sp>
      <p:sp>
        <p:nvSpPr>
          <p:cNvPr id="38" name="Shape 35"/>
          <p:cNvSpPr/>
          <p:nvPr/>
        </p:nvSpPr>
        <p:spPr>
          <a:xfrm>
            <a:off x="6408420" y="4547234"/>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E94560"/>
              </a:gs>
              <a:gs pos="100000">
                <a:srgbClr val="5B9BD5"/>
              </a:gs>
            </a:gsLst>
            <a:lin ang="2700000" scaled="1"/>
          </a:gradFill>
          <a:ln/>
        </p:spPr>
      </p:sp>
      <p:sp>
        <p:nvSpPr>
          <p:cNvPr id="39" name="Shape 36"/>
          <p:cNvSpPr/>
          <p:nvPr/>
        </p:nvSpPr>
        <p:spPr>
          <a:xfrm>
            <a:off x="6529864" y="4680584"/>
            <a:ext cx="214313" cy="190500"/>
          </a:xfrm>
          <a:custGeom>
            <a:avLst/>
            <a:gdLst/>
            <a:ahLst/>
            <a:cxnLst/>
            <a:rect l="l" t="t" r="r" b="b"/>
            <a:pathLst>
              <a:path w="214313" h="190500">
                <a:moveTo>
                  <a:pt x="178780" y="3832"/>
                </a:moveTo>
                <a:lnTo>
                  <a:pt x="96403" y="58787"/>
                </a:lnTo>
                <a:cubicBezTo>
                  <a:pt x="85576" y="66005"/>
                  <a:pt x="78693" y="77725"/>
                  <a:pt x="77577" y="90525"/>
                </a:cubicBezTo>
                <a:cubicBezTo>
                  <a:pt x="100757" y="95287"/>
                  <a:pt x="119025" y="113556"/>
                  <a:pt x="123825" y="136773"/>
                </a:cubicBezTo>
                <a:cubicBezTo>
                  <a:pt x="136661" y="135657"/>
                  <a:pt x="148344" y="128774"/>
                  <a:pt x="155563" y="117946"/>
                </a:cubicBezTo>
                <a:lnTo>
                  <a:pt x="210480" y="35533"/>
                </a:lnTo>
                <a:cubicBezTo>
                  <a:pt x="212973" y="31775"/>
                  <a:pt x="214313" y="27384"/>
                  <a:pt x="214313" y="22845"/>
                </a:cubicBezTo>
                <a:cubicBezTo>
                  <a:pt x="214313" y="10232"/>
                  <a:pt x="204081" y="0"/>
                  <a:pt x="191467" y="0"/>
                </a:cubicBezTo>
                <a:cubicBezTo>
                  <a:pt x="186965" y="0"/>
                  <a:pt x="182538" y="1339"/>
                  <a:pt x="178780" y="3832"/>
                </a:cubicBezTo>
                <a:close/>
                <a:moveTo>
                  <a:pt x="107156" y="148828"/>
                </a:moveTo>
                <a:cubicBezTo>
                  <a:pt x="107156" y="125797"/>
                  <a:pt x="88516" y="107156"/>
                  <a:pt x="65484" y="107156"/>
                </a:cubicBezTo>
                <a:cubicBezTo>
                  <a:pt x="42453" y="107156"/>
                  <a:pt x="23812" y="125797"/>
                  <a:pt x="23812" y="148828"/>
                </a:cubicBezTo>
                <a:cubicBezTo>
                  <a:pt x="23812" y="150279"/>
                  <a:pt x="23887" y="151730"/>
                  <a:pt x="24036" y="153144"/>
                </a:cubicBezTo>
                <a:cubicBezTo>
                  <a:pt x="24705" y="159655"/>
                  <a:pt x="20241" y="166688"/>
                  <a:pt x="13692" y="166688"/>
                </a:cubicBezTo>
                <a:lnTo>
                  <a:pt x="11906" y="166688"/>
                </a:lnTo>
                <a:cubicBezTo>
                  <a:pt x="5321" y="166688"/>
                  <a:pt x="0" y="172008"/>
                  <a:pt x="0" y="178594"/>
                </a:cubicBezTo>
                <a:cubicBezTo>
                  <a:pt x="0" y="185179"/>
                  <a:pt x="5321" y="190500"/>
                  <a:pt x="11906" y="190500"/>
                </a:cubicBezTo>
                <a:lnTo>
                  <a:pt x="65484" y="190500"/>
                </a:lnTo>
                <a:cubicBezTo>
                  <a:pt x="88516" y="190500"/>
                  <a:pt x="107156" y="171859"/>
                  <a:pt x="107156" y="148828"/>
                </a:cubicBezTo>
                <a:close/>
              </a:path>
            </a:pathLst>
          </a:custGeom>
          <a:solidFill>
            <a:srgbClr val="FFFFFF"/>
          </a:solidFill>
          <a:ln/>
        </p:spPr>
      </p:sp>
      <p:sp>
        <p:nvSpPr>
          <p:cNvPr id="40" name="Text 37"/>
          <p:cNvSpPr/>
          <p:nvPr/>
        </p:nvSpPr>
        <p:spPr>
          <a:xfrm>
            <a:off x="7018020" y="4547234"/>
            <a:ext cx="4686300" cy="266700"/>
          </a:xfrm>
          <a:prstGeom prst="rect">
            <a:avLst/>
          </a:prstGeom>
          <a:noFill/>
          <a:ln/>
        </p:spPr>
        <p:txBody>
          <a:bodyPr wrap="square" lIns="0" tIns="0" rIns="0" bIns="0" rtlCol="0" anchor="ctr"/>
          <a:lstStyle/>
          <a:p>
            <a:pPr>
              <a:lnSpc>
                <a:spcPct val="120000"/>
              </a:lnSpc>
            </a:pPr>
            <a:r>
              <a:rPr lang="en-US" sz="1500" b="1" dirty="0">
                <a:solidFill>
                  <a:schemeClr val="tx1">
                    <a:lumMod val="85000"/>
                    <a:lumOff val="15000"/>
                  </a:schemeClr>
                </a:solidFill>
                <a:latin typeface="MiSans" pitchFamily="34" charset="0"/>
                <a:ea typeface="MiSans" pitchFamily="34" charset="-122"/>
                <a:cs typeface="MiSans" pitchFamily="34" charset="-120"/>
              </a:rPr>
              <a:t>Cải thiện giao diện và tối ưu hiệu năng</a:t>
            </a:r>
            <a:endParaRPr lang="en-US" sz="1600" dirty="0">
              <a:solidFill>
                <a:schemeClr val="tx1">
                  <a:lumMod val="85000"/>
                  <a:lumOff val="15000"/>
                </a:schemeClr>
              </a:solidFill>
            </a:endParaRPr>
          </a:p>
        </p:txBody>
      </p:sp>
      <p:sp>
        <p:nvSpPr>
          <p:cNvPr id="41" name="Text 38"/>
          <p:cNvSpPr/>
          <p:nvPr/>
        </p:nvSpPr>
        <p:spPr>
          <a:xfrm>
            <a:off x="7018020" y="4890134"/>
            <a:ext cx="4667250" cy="742950"/>
          </a:xfrm>
          <a:prstGeom prst="rect">
            <a:avLst/>
          </a:prstGeom>
          <a:noFill/>
          <a:ln/>
        </p:spPr>
        <p:txBody>
          <a:bodyPr wrap="square" lIns="0" tIns="0" rIns="0" bIns="0" rtlCol="0" anchor="ctr"/>
          <a:lstStyle/>
          <a:p>
            <a:pPr>
              <a:lnSpc>
                <a:spcPct val="140000"/>
              </a:lnSpc>
            </a:pPr>
            <a:r>
              <a:rPr lang="en-US" sz="1200" dirty="0">
                <a:solidFill>
                  <a:srgbClr val="7030A0"/>
                </a:solidFill>
                <a:latin typeface="MiSans" pitchFamily="34" charset="0"/>
                <a:ea typeface="MiSans" pitchFamily="34" charset="-122"/>
                <a:cs typeface="MiSans" pitchFamily="34" charset="-120"/>
              </a:rPr>
              <a:t>Ngoài ra, việc cải thiện giao diện và tối ưu hiệu năng cũng là những yếu tố quan trọng giúp ứng dụng trở nên hoàn thiện hơn, mang lại trải nghiệm mượt mà hơn cho ngườI dùng.</a:t>
            </a:r>
            <a:endParaRPr lang="en-US" sz="1600" dirty="0">
              <a:solidFill>
                <a:srgbClr val="7030A0"/>
              </a:solidFill>
            </a:endParaRPr>
          </a:p>
        </p:txBody>
      </p:sp>
      <p:sp>
        <p:nvSpPr>
          <p:cNvPr id="42" name="Shape 39"/>
          <p:cNvSpPr/>
          <p:nvPr/>
        </p:nvSpPr>
        <p:spPr>
          <a:xfrm>
            <a:off x="381000" y="6343650"/>
            <a:ext cx="609600" cy="38100"/>
          </a:xfrm>
          <a:custGeom>
            <a:avLst/>
            <a:gdLst/>
            <a:ahLst/>
            <a:cxnLst/>
            <a:rect l="l" t="t" r="r" b="b"/>
            <a:pathLst>
              <a:path w="609600" h="38100">
                <a:moveTo>
                  <a:pt x="19050" y="0"/>
                </a:moveTo>
                <a:lnTo>
                  <a:pt x="590550" y="0"/>
                </a:lnTo>
                <a:cubicBezTo>
                  <a:pt x="601064" y="0"/>
                  <a:pt x="609600" y="8536"/>
                  <a:pt x="609600" y="19050"/>
                </a:cubicBezTo>
                <a:lnTo>
                  <a:pt x="609600" y="19050"/>
                </a:lnTo>
                <a:cubicBezTo>
                  <a:pt x="609600" y="29564"/>
                  <a:pt x="601064" y="38100"/>
                  <a:pt x="590550" y="38100"/>
                </a:cubicBezTo>
                <a:lnTo>
                  <a:pt x="19050" y="38100"/>
                </a:lnTo>
                <a:cubicBezTo>
                  <a:pt x="8536" y="38100"/>
                  <a:pt x="0" y="29564"/>
                  <a:pt x="0" y="19050"/>
                </a:cubicBezTo>
                <a:lnTo>
                  <a:pt x="0" y="19050"/>
                </a:lnTo>
                <a:cubicBezTo>
                  <a:pt x="0" y="8536"/>
                  <a:pt x="8536" y="0"/>
                  <a:pt x="19050" y="0"/>
                </a:cubicBezTo>
                <a:close/>
              </a:path>
            </a:pathLst>
          </a:custGeom>
          <a:gradFill flip="none" rotWithShape="1">
            <a:gsLst>
              <a:gs pos="0">
                <a:srgbClr val="E94560"/>
              </a:gs>
              <a:gs pos="100000">
                <a:srgbClr val="5B9BD5"/>
              </a:gs>
            </a:gsLst>
            <a:lin ang="0" scaled="1"/>
          </a:gradFill>
          <a:ln/>
        </p:spPr>
      </p:sp>
      <p:sp>
        <p:nvSpPr>
          <p:cNvPr id="43" name="Text 40"/>
          <p:cNvSpPr/>
          <p:nvPr/>
        </p:nvSpPr>
        <p:spPr>
          <a:xfrm>
            <a:off x="1104900" y="6248400"/>
            <a:ext cx="3514725" cy="228600"/>
          </a:xfrm>
          <a:prstGeom prst="rect">
            <a:avLst/>
          </a:prstGeom>
          <a:noFill/>
          <a:ln/>
        </p:spPr>
        <p:txBody>
          <a:bodyPr wrap="square" lIns="0" tIns="0" rIns="0" bIns="0" rtlCol="0" anchor="ctr"/>
          <a:lstStyle/>
          <a:p>
            <a:pPr>
              <a:lnSpc>
                <a:spcPct val="130000"/>
              </a:lnSpc>
            </a:pPr>
            <a:r>
              <a:rPr lang="en-US" sz="1200" b="1" dirty="0">
                <a:solidFill>
                  <a:schemeClr val="tx1">
                    <a:lumMod val="85000"/>
                    <a:lumOff val="15000"/>
                  </a:schemeClr>
                </a:solidFill>
                <a:latin typeface="MiSans" pitchFamily="34" charset="0"/>
                <a:ea typeface="MiSans" pitchFamily="34" charset="-122"/>
                <a:cs typeface="MiSans" pitchFamily="34" charset="-120"/>
              </a:rPr>
              <a:t>KIẾN THỨC - KỸ NĂNG - SÁNG TẠO - HỘI NHẬP</a:t>
            </a:r>
            <a:endParaRPr lang="en-US" sz="1600" dirty="0">
              <a:solidFill>
                <a:schemeClr val="tx1">
                  <a:lumMod val="85000"/>
                  <a:lumOff val="1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Shape 1"/>
          <p:cNvSpPr/>
          <p:nvPr/>
        </p:nvSpPr>
        <p:spPr>
          <a:xfrm>
            <a:off x="11669430" y="839103"/>
            <a:ext cx="35727" cy="428730"/>
          </a:xfrm>
          <a:custGeom>
            <a:avLst/>
            <a:gdLst/>
            <a:ahLst/>
            <a:cxnLst/>
            <a:rect l="l" t="t" r="r" b="b"/>
            <a:pathLst>
              <a:path w="35727" h="428730">
                <a:moveTo>
                  <a:pt x="17864" y="0"/>
                </a:moveTo>
                <a:lnTo>
                  <a:pt x="17864" y="0"/>
                </a:lnTo>
                <a:cubicBezTo>
                  <a:pt x="27730" y="0"/>
                  <a:pt x="35727" y="7998"/>
                  <a:pt x="35727" y="17864"/>
                </a:cubicBezTo>
                <a:lnTo>
                  <a:pt x="35727" y="410866"/>
                </a:lnTo>
                <a:cubicBezTo>
                  <a:pt x="35727" y="420732"/>
                  <a:pt x="27730" y="428730"/>
                  <a:pt x="17864" y="428730"/>
                </a:cubicBezTo>
                <a:lnTo>
                  <a:pt x="17864" y="428730"/>
                </a:lnTo>
                <a:cubicBezTo>
                  <a:pt x="7998" y="428730"/>
                  <a:pt x="0" y="420732"/>
                  <a:pt x="0" y="410866"/>
                </a:cubicBezTo>
                <a:lnTo>
                  <a:pt x="0" y="17864"/>
                </a:lnTo>
                <a:cubicBezTo>
                  <a:pt x="0" y="7998"/>
                  <a:pt x="7998" y="0"/>
                  <a:pt x="17864" y="0"/>
                </a:cubicBezTo>
                <a:close/>
              </a:path>
            </a:pathLst>
          </a:custGeom>
          <a:solidFill>
            <a:srgbClr val="16213E"/>
          </a:solidFill>
          <a:ln/>
        </p:spPr>
      </p:sp>
      <p:sp>
        <p:nvSpPr>
          <p:cNvPr id="5" name="Text 2"/>
          <p:cNvSpPr/>
          <p:nvPr/>
        </p:nvSpPr>
        <p:spPr>
          <a:xfrm>
            <a:off x="10877037" y="890955"/>
            <a:ext cx="1236332" cy="311131"/>
          </a:xfrm>
          <a:prstGeom prst="rect">
            <a:avLst/>
          </a:prstGeom>
          <a:noFill/>
          <a:ln/>
        </p:spPr>
        <p:txBody>
          <a:bodyPr wrap="square" lIns="0" tIns="0" rIns="0" bIns="0" rtlCol="0" anchor="ctr"/>
          <a:lstStyle/>
          <a:p>
            <a:pPr>
              <a:lnSpc>
                <a:spcPct val="120000"/>
              </a:lnSpc>
            </a:pPr>
            <a:r>
              <a:rPr lang="en-US" sz="1000" b="1" kern="0" spc="49" dirty="0">
                <a:solidFill>
                  <a:srgbClr val="16213E"/>
                </a:solidFill>
                <a:latin typeface="MiSans" pitchFamily="34" charset="0"/>
                <a:ea typeface="MiSans" pitchFamily="34" charset="-122"/>
                <a:cs typeface="MiSans" pitchFamily="34" charset="-120"/>
              </a:rPr>
              <a:t>References</a:t>
            </a:r>
            <a:endParaRPr lang="en-US" sz="1000" dirty="0"/>
          </a:p>
        </p:txBody>
      </p:sp>
      <p:sp>
        <p:nvSpPr>
          <p:cNvPr id="6" name="Text 3"/>
          <p:cNvSpPr/>
          <p:nvPr/>
        </p:nvSpPr>
        <p:spPr>
          <a:xfrm>
            <a:off x="8519619" y="890955"/>
            <a:ext cx="2259763" cy="357275"/>
          </a:xfrm>
          <a:prstGeom prst="rect">
            <a:avLst/>
          </a:prstGeom>
          <a:noFill/>
          <a:ln/>
        </p:spPr>
        <p:txBody>
          <a:bodyPr wrap="square" lIns="0" tIns="0" rIns="0" bIns="0" rtlCol="0" anchor="ctr"/>
          <a:lstStyle/>
          <a:p>
            <a:pPr>
              <a:lnSpc>
                <a:spcPct val="90000"/>
              </a:lnSpc>
            </a:pPr>
            <a:r>
              <a:rPr lang="en-US" sz="2532" b="1" dirty="0">
                <a:solidFill>
                  <a:srgbClr val="16213E"/>
                </a:solidFill>
                <a:latin typeface="得意黑" pitchFamily="34" charset="0"/>
                <a:ea typeface="得意黑" pitchFamily="34" charset="-122"/>
                <a:cs typeface="得意黑" pitchFamily="34" charset="-120"/>
              </a:rPr>
              <a:t>Tài liệu tham khảo</a:t>
            </a:r>
            <a:endParaRPr lang="en-US" sz="1600" dirty="0"/>
          </a:p>
        </p:txBody>
      </p:sp>
      <p:sp>
        <p:nvSpPr>
          <p:cNvPr id="7" name="Text 4"/>
          <p:cNvSpPr/>
          <p:nvPr/>
        </p:nvSpPr>
        <p:spPr>
          <a:xfrm>
            <a:off x="571640" y="1036097"/>
            <a:ext cx="11343473" cy="250092"/>
          </a:xfrm>
          <a:prstGeom prst="rect">
            <a:avLst/>
          </a:prstGeom>
          <a:noFill/>
          <a:ln/>
        </p:spPr>
        <p:txBody>
          <a:bodyPr wrap="square" lIns="0" tIns="0" rIns="0" bIns="0" rtlCol="0" anchor="ctr"/>
          <a:lstStyle/>
          <a:p>
            <a:pPr>
              <a:lnSpc>
                <a:spcPct val="130000"/>
              </a:lnSpc>
            </a:pPr>
            <a:r>
              <a:rPr lang="en-US" sz="1266" dirty="0">
                <a:solidFill>
                  <a:srgbClr val="44546A"/>
                </a:solidFill>
                <a:latin typeface="MiSans" pitchFamily="34" charset="0"/>
                <a:ea typeface="MiSans" pitchFamily="34" charset="-122"/>
                <a:cs typeface="MiSans" pitchFamily="34" charset="-120"/>
              </a:rPr>
              <a:t>Các nguồn tài liệu và tài nguyên tham khảo</a:t>
            </a:r>
            <a:endParaRPr lang="en-US" sz="1600" dirty="0"/>
          </a:p>
        </p:txBody>
      </p:sp>
      <p:sp>
        <p:nvSpPr>
          <p:cNvPr id="8" name="Shape 5"/>
          <p:cNvSpPr/>
          <p:nvPr/>
        </p:nvSpPr>
        <p:spPr>
          <a:xfrm>
            <a:off x="375138" y="1464826"/>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9" name="Shape 6"/>
          <p:cNvSpPr/>
          <p:nvPr/>
        </p:nvSpPr>
        <p:spPr>
          <a:xfrm>
            <a:off x="375138" y="1464826"/>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5B9BD5"/>
          </a:solidFill>
          <a:ln/>
        </p:spPr>
      </p:sp>
      <p:sp>
        <p:nvSpPr>
          <p:cNvPr id="10" name="Shape 7"/>
          <p:cNvSpPr/>
          <p:nvPr/>
        </p:nvSpPr>
        <p:spPr>
          <a:xfrm>
            <a:off x="535912" y="1607736"/>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5B9BD5"/>
          </a:solidFill>
          <a:ln/>
        </p:spPr>
      </p:sp>
      <p:sp>
        <p:nvSpPr>
          <p:cNvPr id="11" name="Text 8"/>
          <p:cNvSpPr/>
          <p:nvPr/>
        </p:nvSpPr>
        <p:spPr>
          <a:xfrm>
            <a:off x="654148" y="1661327"/>
            <a:ext cx="116114"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1</a:t>
            </a:r>
            <a:endParaRPr lang="en-US" sz="1600" dirty="0"/>
          </a:p>
        </p:txBody>
      </p:sp>
      <p:sp>
        <p:nvSpPr>
          <p:cNvPr id="12" name="Text 9"/>
          <p:cNvSpPr/>
          <p:nvPr/>
        </p:nvSpPr>
        <p:spPr>
          <a:xfrm>
            <a:off x="928914" y="1607736"/>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Google</a:t>
            </a:r>
            <a:endParaRPr lang="en-US" sz="1600" dirty="0"/>
          </a:p>
        </p:txBody>
      </p:sp>
      <p:sp>
        <p:nvSpPr>
          <p:cNvPr id="13" name="Text 10"/>
          <p:cNvSpPr/>
          <p:nvPr/>
        </p:nvSpPr>
        <p:spPr>
          <a:xfrm>
            <a:off x="928914" y="1857829"/>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Flutter Documentation</a:t>
            </a:r>
            <a:endParaRPr lang="en-US" sz="1600" dirty="0"/>
          </a:p>
        </p:txBody>
      </p:sp>
      <p:sp>
        <p:nvSpPr>
          <p:cNvPr id="14" name="Text 11"/>
          <p:cNvSpPr/>
          <p:nvPr/>
        </p:nvSpPr>
        <p:spPr>
          <a:xfrm>
            <a:off x="928914" y="2072193"/>
            <a:ext cx="4975051" cy="142910"/>
          </a:xfrm>
          <a:prstGeom prst="rect">
            <a:avLst/>
          </a:prstGeom>
          <a:noFill/>
          <a:ln/>
        </p:spPr>
        <p:txBody>
          <a:bodyPr wrap="square" lIns="0" tIns="0" rIns="0" bIns="0" rtlCol="0" anchor="ctr"/>
          <a:lstStyle/>
          <a:p>
            <a:pPr>
              <a:lnSpc>
                <a:spcPct val="110000"/>
              </a:lnSpc>
            </a:pPr>
            <a:r>
              <a:rPr lang="en-US" sz="844" dirty="0">
                <a:solidFill>
                  <a:srgbClr val="5B9BD5"/>
                </a:solidFill>
                <a:latin typeface="MiSans" pitchFamily="34" charset="0"/>
                <a:ea typeface="MiSans" pitchFamily="34" charset="-122"/>
                <a:cs typeface="MiSans" pitchFamily="34" charset="-120"/>
              </a:rPr>
              <a:t>Flutter documentation</a:t>
            </a:r>
            <a:endParaRPr lang="en-US" sz="1600" dirty="0"/>
          </a:p>
        </p:txBody>
      </p:sp>
      <p:sp>
        <p:nvSpPr>
          <p:cNvPr id="15" name="Shape 12"/>
          <p:cNvSpPr/>
          <p:nvPr/>
        </p:nvSpPr>
        <p:spPr>
          <a:xfrm>
            <a:off x="6222498" y="1464826"/>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16" name="Shape 13"/>
          <p:cNvSpPr/>
          <p:nvPr/>
        </p:nvSpPr>
        <p:spPr>
          <a:xfrm>
            <a:off x="6222498" y="1464826"/>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4472C4"/>
          </a:solidFill>
          <a:ln/>
        </p:spPr>
      </p:sp>
      <p:sp>
        <p:nvSpPr>
          <p:cNvPr id="17" name="Shape 14"/>
          <p:cNvSpPr/>
          <p:nvPr/>
        </p:nvSpPr>
        <p:spPr>
          <a:xfrm>
            <a:off x="6383272" y="1607736"/>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4472C4"/>
          </a:solidFill>
          <a:ln/>
        </p:spPr>
      </p:sp>
      <p:sp>
        <p:nvSpPr>
          <p:cNvPr id="18" name="Text 15"/>
          <p:cNvSpPr/>
          <p:nvPr/>
        </p:nvSpPr>
        <p:spPr>
          <a:xfrm>
            <a:off x="6491012" y="1661327"/>
            <a:ext cx="133978"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2</a:t>
            </a:r>
            <a:endParaRPr lang="en-US" sz="1600" dirty="0"/>
          </a:p>
        </p:txBody>
      </p:sp>
      <p:sp>
        <p:nvSpPr>
          <p:cNvPr id="19" name="Text 16"/>
          <p:cNvSpPr/>
          <p:nvPr/>
        </p:nvSpPr>
        <p:spPr>
          <a:xfrm>
            <a:off x="6776274" y="1607736"/>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Google</a:t>
            </a:r>
            <a:endParaRPr lang="en-US" sz="1600" dirty="0"/>
          </a:p>
        </p:txBody>
      </p:sp>
      <p:sp>
        <p:nvSpPr>
          <p:cNvPr id="20" name="Text 17"/>
          <p:cNvSpPr/>
          <p:nvPr/>
        </p:nvSpPr>
        <p:spPr>
          <a:xfrm>
            <a:off x="6776274" y="1857829"/>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Dart Programming Language Documentation</a:t>
            </a:r>
            <a:endParaRPr lang="en-US" sz="1600" dirty="0"/>
          </a:p>
        </p:txBody>
      </p:sp>
      <p:sp>
        <p:nvSpPr>
          <p:cNvPr id="21" name="Text 18"/>
          <p:cNvSpPr/>
          <p:nvPr/>
        </p:nvSpPr>
        <p:spPr>
          <a:xfrm>
            <a:off x="6776274" y="2072193"/>
            <a:ext cx="4975051" cy="142910"/>
          </a:xfrm>
          <a:prstGeom prst="rect">
            <a:avLst/>
          </a:prstGeom>
          <a:noFill/>
          <a:ln/>
        </p:spPr>
        <p:txBody>
          <a:bodyPr wrap="square" lIns="0" tIns="0" rIns="0" bIns="0" rtlCol="0" anchor="ctr"/>
          <a:lstStyle/>
          <a:p>
            <a:pPr>
              <a:lnSpc>
                <a:spcPct val="110000"/>
              </a:lnSpc>
            </a:pPr>
            <a:r>
              <a:rPr lang="en-US" sz="844" dirty="0">
                <a:solidFill>
                  <a:srgbClr val="4472C4"/>
                </a:solidFill>
                <a:latin typeface="MiSans" pitchFamily="34" charset="0"/>
                <a:ea typeface="MiSans" pitchFamily="34" charset="-122"/>
                <a:cs typeface="MiSans" pitchFamily="34" charset="-120"/>
              </a:rPr>
              <a:t>Dart documentation</a:t>
            </a:r>
            <a:endParaRPr lang="en-US" sz="1600" dirty="0"/>
          </a:p>
        </p:txBody>
      </p:sp>
      <p:sp>
        <p:nvSpPr>
          <p:cNvPr id="22" name="Shape 19"/>
          <p:cNvSpPr/>
          <p:nvPr/>
        </p:nvSpPr>
        <p:spPr>
          <a:xfrm>
            <a:off x="375138" y="2520906"/>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23" name="Shape 20"/>
          <p:cNvSpPr/>
          <p:nvPr/>
        </p:nvSpPr>
        <p:spPr>
          <a:xfrm>
            <a:off x="375138" y="2520906"/>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70AD47"/>
          </a:solidFill>
          <a:ln/>
        </p:spPr>
      </p:sp>
      <p:sp>
        <p:nvSpPr>
          <p:cNvPr id="24" name="Shape 21"/>
          <p:cNvSpPr/>
          <p:nvPr/>
        </p:nvSpPr>
        <p:spPr>
          <a:xfrm>
            <a:off x="535912" y="2663816"/>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70AD47"/>
          </a:solidFill>
          <a:ln/>
        </p:spPr>
      </p:sp>
      <p:sp>
        <p:nvSpPr>
          <p:cNvPr id="25" name="Text 22"/>
          <p:cNvSpPr/>
          <p:nvPr/>
        </p:nvSpPr>
        <p:spPr>
          <a:xfrm>
            <a:off x="641978" y="2717407"/>
            <a:ext cx="133978"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3</a:t>
            </a:r>
            <a:endParaRPr lang="en-US" sz="1600" dirty="0"/>
          </a:p>
        </p:txBody>
      </p:sp>
      <p:sp>
        <p:nvSpPr>
          <p:cNvPr id="26" name="Text 23"/>
          <p:cNvSpPr/>
          <p:nvPr/>
        </p:nvSpPr>
        <p:spPr>
          <a:xfrm>
            <a:off x="928914" y="2663816"/>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Google</a:t>
            </a:r>
            <a:endParaRPr lang="en-US" sz="1600" dirty="0"/>
          </a:p>
        </p:txBody>
      </p:sp>
      <p:sp>
        <p:nvSpPr>
          <p:cNvPr id="27" name="Text 24"/>
          <p:cNvSpPr/>
          <p:nvPr/>
        </p:nvSpPr>
        <p:spPr>
          <a:xfrm>
            <a:off x="928914" y="2913909"/>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Firebase Documentation</a:t>
            </a:r>
            <a:endParaRPr lang="en-US" sz="1600" dirty="0"/>
          </a:p>
        </p:txBody>
      </p:sp>
      <p:sp>
        <p:nvSpPr>
          <p:cNvPr id="28" name="Text 25"/>
          <p:cNvSpPr/>
          <p:nvPr/>
        </p:nvSpPr>
        <p:spPr>
          <a:xfrm>
            <a:off x="928914" y="3128273"/>
            <a:ext cx="4975051" cy="142910"/>
          </a:xfrm>
          <a:prstGeom prst="rect">
            <a:avLst/>
          </a:prstGeom>
          <a:noFill/>
          <a:ln/>
        </p:spPr>
        <p:txBody>
          <a:bodyPr wrap="square" lIns="0" tIns="0" rIns="0" bIns="0" rtlCol="0" anchor="ctr"/>
          <a:lstStyle/>
          <a:p>
            <a:pPr>
              <a:lnSpc>
                <a:spcPct val="110000"/>
              </a:lnSpc>
            </a:pPr>
            <a:r>
              <a:rPr lang="en-US" sz="844" dirty="0">
                <a:solidFill>
                  <a:srgbClr val="70AD47"/>
                </a:solidFill>
                <a:latin typeface="MiSans" pitchFamily="34" charset="0"/>
                <a:ea typeface="MiSans" pitchFamily="34" charset="-122"/>
                <a:cs typeface="MiSans" pitchFamily="34" charset="-120"/>
              </a:rPr>
              <a:t>Tài liệu | Firebase Documentation</a:t>
            </a:r>
            <a:endParaRPr lang="en-US" sz="1600" dirty="0"/>
          </a:p>
        </p:txBody>
      </p:sp>
      <p:sp>
        <p:nvSpPr>
          <p:cNvPr id="29" name="Shape 26"/>
          <p:cNvSpPr/>
          <p:nvPr/>
        </p:nvSpPr>
        <p:spPr>
          <a:xfrm>
            <a:off x="6222498" y="2520906"/>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30" name="Shape 27"/>
          <p:cNvSpPr/>
          <p:nvPr/>
        </p:nvSpPr>
        <p:spPr>
          <a:xfrm>
            <a:off x="6222498" y="2520906"/>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ED7D31"/>
          </a:solidFill>
          <a:ln/>
        </p:spPr>
      </p:sp>
      <p:sp>
        <p:nvSpPr>
          <p:cNvPr id="31" name="Shape 28"/>
          <p:cNvSpPr/>
          <p:nvPr/>
        </p:nvSpPr>
        <p:spPr>
          <a:xfrm>
            <a:off x="6383272" y="2663816"/>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ED7D31"/>
          </a:solidFill>
          <a:ln/>
        </p:spPr>
      </p:sp>
      <p:sp>
        <p:nvSpPr>
          <p:cNvPr id="32" name="Text 29"/>
          <p:cNvSpPr/>
          <p:nvPr/>
        </p:nvSpPr>
        <p:spPr>
          <a:xfrm>
            <a:off x="6489449" y="2717407"/>
            <a:ext cx="133978"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4</a:t>
            </a:r>
            <a:endParaRPr lang="en-US" sz="1600" dirty="0"/>
          </a:p>
        </p:txBody>
      </p:sp>
      <p:sp>
        <p:nvSpPr>
          <p:cNvPr id="33" name="Text 30"/>
          <p:cNvSpPr/>
          <p:nvPr/>
        </p:nvSpPr>
        <p:spPr>
          <a:xfrm>
            <a:off x="6776274" y="2663816"/>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Google</a:t>
            </a:r>
            <a:endParaRPr lang="en-US" sz="1600" dirty="0"/>
          </a:p>
        </p:txBody>
      </p:sp>
      <p:sp>
        <p:nvSpPr>
          <p:cNvPr id="34" name="Text 31"/>
          <p:cNvSpPr/>
          <p:nvPr/>
        </p:nvSpPr>
        <p:spPr>
          <a:xfrm>
            <a:off x="6776274" y="2913909"/>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Android Developers Guide</a:t>
            </a:r>
            <a:endParaRPr lang="en-US" sz="1600" dirty="0"/>
          </a:p>
        </p:txBody>
      </p:sp>
      <p:sp>
        <p:nvSpPr>
          <p:cNvPr id="35" name="Text 32"/>
          <p:cNvSpPr/>
          <p:nvPr/>
        </p:nvSpPr>
        <p:spPr>
          <a:xfrm>
            <a:off x="6776274" y="3128273"/>
            <a:ext cx="4975051" cy="142910"/>
          </a:xfrm>
          <a:prstGeom prst="rect">
            <a:avLst/>
          </a:prstGeom>
          <a:noFill/>
          <a:ln/>
        </p:spPr>
        <p:txBody>
          <a:bodyPr wrap="square" lIns="0" tIns="0" rIns="0" bIns="0" rtlCol="0" anchor="ctr"/>
          <a:lstStyle/>
          <a:p>
            <a:pPr>
              <a:lnSpc>
                <a:spcPct val="110000"/>
              </a:lnSpc>
            </a:pPr>
            <a:r>
              <a:rPr lang="en-US" sz="844" dirty="0">
                <a:solidFill>
                  <a:srgbClr val="ED7D31"/>
                </a:solidFill>
                <a:latin typeface="MiSans" pitchFamily="34" charset="0"/>
                <a:ea typeface="MiSans" pitchFamily="34" charset="-122"/>
                <a:cs typeface="MiSans" pitchFamily="34" charset="-120"/>
              </a:rPr>
              <a:t>Công cụ dành cho nhà phát triển ứng dụng di động Android</a:t>
            </a:r>
            <a:endParaRPr lang="en-US" sz="1600" dirty="0"/>
          </a:p>
        </p:txBody>
      </p:sp>
      <p:sp>
        <p:nvSpPr>
          <p:cNvPr id="36" name="Shape 33"/>
          <p:cNvSpPr/>
          <p:nvPr/>
        </p:nvSpPr>
        <p:spPr>
          <a:xfrm>
            <a:off x="375138" y="3576991"/>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37" name="Shape 34"/>
          <p:cNvSpPr/>
          <p:nvPr/>
        </p:nvSpPr>
        <p:spPr>
          <a:xfrm>
            <a:off x="375138" y="3576991"/>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FFC000"/>
          </a:solidFill>
          <a:ln/>
        </p:spPr>
      </p:sp>
      <p:sp>
        <p:nvSpPr>
          <p:cNvPr id="38" name="Shape 35"/>
          <p:cNvSpPr/>
          <p:nvPr/>
        </p:nvSpPr>
        <p:spPr>
          <a:xfrm>
            <a:off x="535912" y="3719901"/>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FFC000"/>
          </a:solidFill>
          <a:ln/>
        </p:spPr>
      </p:sp>
      <p:sp>
        <p:nvSpPr>
          <p:cNvPr id="39" name="Text 36"/>
          <p:cNvSpPr/>
          <p:nvPr/>
        </p:nvSpPr>
        <p:spPr>
          <a:xfrm>
            <a:off x="641420" y="3773492"/>
            <a:ext cx="133978"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5</a:t>
            </a:r>
            <a:endParaRPr lang="en-US" sz="1600" dirty="0"/>
          </a:p>
        </p:txBody>
      </p:sp>
      <p:sp>
        <p:nvSpPr>
          <p:cNvPr id="40" name="Text 37"/>
          <p:cNvSpPr/>
          <p:nvPr/>
        </p:nvSpPr>
        <p:spPr>
          <a:xfrm>
            <a:off x="928914" y="3719901"/>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Google</a:t>
            </a:r>
            <a:endParaRPr lang="en-US" sz="1600" dirty="0"/>
          </a:p>
        </p:txBody>
      </p:sp>
      <p:sp>
        <p:nvSpPr>
          <p:cNvPr id="41" name="Text 38"/>
          <p:cNvSpPr/>
          <p:nvPr/>
        </p:nvSpPr>
        <p:spPr>
          <a:xfrm>
            <a:off x="928914" y="3969993"/>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Material Design 3 Guidelines</a:t>
            </a:r>
            <a:endParaRPr lang="en-US" sz="1600" dirty="0"/>
          </a:p>
        </p:txBody>
      </p:sp>
      <p:sp>
        <p:nvSpPr>
          <p:cNvPr id="42" name="Text 39"/>
          <p:cNvSpPr/>
          <p:nvPr/>
        </p:nvSpPr>
        <p:spPr>
          <a:xfrm>
            <a:off x="928914" y="4184358"/>
            <a:ext cx="4975051" cy="142910"/>
          </a:xfrm>
          <a:prstGeom prst="rect">
            <a:avLst/>
          </a:prstGeom>
          <a:noFill/>
          <a:ln/>
        </p:spPr>
        <p:txBody>
          <a:bodyPr wrap="square" lIns="0" tIns="0" rIns="0" bIns="0" rtlCol="0" anchor="ctr"/>
          <a:lstStyle/>
          <a:p>
            <a:pPr>
              <a:lnSpc>
                <a:spcPct val="110000"/>
              </a:lnSpc>
            </a:pPr>
            <a:r>
              <a:rPr lang="en-US" sz="844" dirty="0">
                <a:solidFill>
                  <a:srgbClr val="FFC000"/>
                </a:solidFill>
                <a:latin typeface="MiSans" pitchFamily="34" charset="0"/>
                <a:ea typeface="MiSans" pitchFamily="34" charset="-122"/>
                <a:cs typeface="MiSans" pitchFamily="34" charset="-120"/>
              </a:rPr>
              <a:t>Material Design 3 - Google's latest open source design system</a:t>
            </a:r>
            <a:endParaRPr lang="en-US" sz="1600" dirty="0"/>
          </a:p>
        </p:txBody>
      </p:sp>
      <p:sp>
        <p:nvSpPr>
          <p:cNvPr id="43" name="Shape 40"/>
          <p:cNvSpPr/>
          <p:nvPr/>
        </p:nvSpPr>
        <p:spPr>
          <a:xfrm>
            <a:off x="6222498" y="3576991"/>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44" name="Shape 41"/>
          <p:cNvSpPr/>
          <p:nvPr/>
        </p:nvSpPr>
        <p:spPr>
          <a:xfrm>
            <a:off x="6222498" y="3576991"/>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A5A5A5"/>
          </a:solidFill>
          <a:ln/>
        </p:spPr>
      </p:sp>
      <p:sp>
        <p:nvSpPr>
          <p:cNvPr id="45" name="Shape 42"/>
          <p:cNvSpPr/>
          <p:nvPr/>
        </p:nvSpPr>
        <p:spPr>
          <a:xfrm>
            <a:off x="6383272" y="3719901"/>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A5A5A5"/>
          </a:solidFill>
          <a:ln/>
        </p:spPr>
      </p:sp>
      <p:sp>
        <p:nvSpPr>
          <p:cNvPr id="46" name="Text 43"/>
          <p:cNvSpPr/>
          <p:nvPr/>
        </p:nvSpPr>
        <p:spPr>
          <a:xfrm>
            <a:off x="6488556" y="3773492"/>
            <a:ext cx="133978"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6</a:t>
            </a:r>
            <a:endParaRPr lang="en-US" sz="1600" dirty="0"/>
          </a:p>
        </p:txBody>
      </p:sp>
      <p:sp>
        <p:nvSpPr>
          <p:cNvPr id="47" name="Text 44"/>
          <p:cNvSpPr/>
          <p:nvPr/>
        </p:nvSpPr>
        <p:spPr>
          <a:xfrm>
            <a:off x="6776274" y="3719901"/>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Nielsen Norman Group</a:t>
            </a:r>
            <a:endParaRPr lang="en-US" sz="1600" dirty="0"/>
          </a:p>
        </p:txBody>
      </p:sp>
      <p:sp>
        <p:nvSpPr>
          <p:cNvPr id="48" name="Text 45"/>
          <p:cNvSpPr/>
          <p:nvPr/>
        </p:nvSpPr>
        <p:spPr>
          <a:xfrm>
            <a:off x="6776274" y="3969993"/>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10 Usability Heuristics for User Interface Design</a:t>
            </a:r>
            <a:endParaRPr lang="en-US" sz="1600" dirty="0"/>
          </a:p>
        </p:txBody>
      </p:sp>
      <p:sp>
        <p:nvSpPr>
          <p:cNvPr id="49" name="Text 46"/>
          <p:cNvSpPr/>
          <p:nvPr/>
        </p:nvSpPr>
        <p:spPr>
          <a:xfrm>
            <a:off x="6776274" y="4184358"/>
            <a:ext cx="4975051" cy="142910"/>
          </a:xfrm>
          <a:prstGeom prst="rect">
            <a:avLst/>
          </a:prstGeom>
          <a:noFill/>
          <a:ln/>
        </p:spPr>
        <p:txBody>
          <a:bodyPr wrap="square" lIns="0" tIns="0" rIns="0" bIns="0" rtlCol="0" anchor="ctr"/>
          <a:lstStyle/>
          <a:p>
            <a:pPr>
              <a:lnSpc>
                <a:spcPct val="110000"/>
              </a:lnSpc>
            </a:pPr>
            <a:r>
              <a:rPr lang="en-US" sz="844" dirty="0">
                <a:solidFill>
                  <a:srgbClr val="A5A5A5"/>
                </a:solidFill>
                <a:latin typeface="MiSans" pitchFamily="34" charset="0"/>
                <a:ea typeface="MiSans" pitchFamily="34" charset="-122"/>
                <a:cs typeface="MiSans" pitchFamily="34" charset="-120"/>
              </a:rPr>
              <a:t>10 Usability Heuristics for User Interface Design - NN/G</a:t>
            </a:r>
            <a:endParaRPr lang="en-US" sz="1600" dirty="0"/>
          </a:p>
        </p:txBody>
      </p:sp>
      <p:sp>
        <p:nvSpPr>
          <p:cNvPr id="50" name="Shape 47"/>
          <p:cNvSpPr/>
          <p:nvPr/>
        </p:nvSpPr>
        <p:spPr>
          <a:xfrm>
            <a:off x="375138" y="4633071"/>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51" name="Shape 48"/>
          <p:cNvSpPr/>
          <p:nvPr/>
        </p:nvSpPr>
        <p:spPr>
          <a:xfrm>
            <a:off x="375138" y="4633071"/>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5B9BD5"/>
          </a:solidFill>
          <a:ln/>
        </p:spPr>
      </p:sp>
      <p:sp>
        <p:nvSpPr>
          <p:cNvPr id="52" name="Shape 49"/>
          <p:cNvSpPr/>
          <p:nvPr/>
        </p:nvSpPr>
        <p:spPr>
          <a:xfrm>
            <a:off x="535912" y="4775981"/>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5B9BD5"/>
          </a:solidFill>
          <a:ln/>
        </p:spPr>
      </p:sp>
      <p:sp>
        <p:nvSpPr>
          <p:cNvPr id="53" name="Text 50"/>
          <p:cNvSpPr/>
          <p:nvPr/>
        </p:nvSpPr>
        <p:spPr>
          <a:xfrm>
            <a:off x="646332" y="4829572"/>
            <a:ext cx="125046"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7</a:t>
            </a:r>
            <a:endParaRPr lang="en-US" sz="1600" dirty="0"/>
          </a:p>
        </p:txBody>
      </p:sp>
      <p:sp>
        <p:nvSpPr>
          <p:cNvPr id="54" name="Text 51"/>
          <p:cNvSpPr/>
          <p:nvPr/>
        </p:nvSpPr>
        <p:spPr>
          <a:xfrm>
            <a:off x="928914" y="4775981"/>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Roger S. Pressman, Bruce R. Maxim</a:t>
            </a:r>
            <a:endParaRPr lang="en-US" sz="1600" dirty="0"/>
          </a:p>
        </p:txBody>
      </p:sp>
      <p:sp>
        <p:nvSpPr>
          <p:cNvPr id="55" name="Text 52"/>
          <p:cNvSpPr/>
          <p:nvPr/>
        </p:nvSpPr>
        <p:spPr>
          <a:xfrm>
            <a:off x="928914" y="5026073"/>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Software Engineering: A Practitioner's Approach</a:t>
            </a:r>
            <a:endParaRPr lang="en-US" sz="1600" dirty="0"/>
          </a:p>
        </p:txBody>
      </p:sp>
      <p:sp>
        <p:nvSpPr>
          <p:cNvPr id="56" name="Text 53"/>
          <p:cNvSpPr/>
          <p:nvPr/>
        </p:nvSpPr>
        <p:spPr>
          <a:xfrm>
            <a:off x="928914" y="5240438"/>
            <a:ext cx="4975051" cy="142910"/>
          </a:xfrm>
          <a:prstGeom prst="rect">
            <a:avLst/>
          </a:prstGeom>
          <a:noFill/>
          <a:ln/>
        </p:spPr>
        <p:txBody>
          <a:bodyPr wrap="square" lIns="0" tIns="0" rIns="0" bIns="0" rtlCol="0" anchor="ctr"/>
          <a:lstStyle/>
          <a:p>
            <a:pPr>
              <a:lnSpc>
                <a:spcPct val="110000"/>
              </a:lnSpc>
            </a:pPr>
            <a:r>
              <a:rPr lang="en-US" sz="844" dirty="0">
                <a:solidFill>
                  <a:srgbClr val="5B9BD5"/>
                </a:solidFill>
                <a:latin typeface="MiSans" pitchFamily="34" charset="0"/>
                <a:ea typeface="MiSans" pitchFamily="34" charset="-122"/>
                <a:cs typeface="MiSans" pitchFamily="34" charset="-120"/>
              </a:rPr>
              <a:t>McGraw-Hill Education, 9th Edition, 2019</a:t>
            </a:r>
            <a:endParaRPr lang="en-US" sz="1600" dirty="0"/>
          </a:p>
        </p:txBody>
      </p:sp>
      <p:sp>
        <p:nvSpPr>
          <p:cNvPr id="57" name="Shape 54"/>
          <p:cNvSpPr/>
          <p:nvPr/>
        </p:nvSpPr>
        <p:spPr>
          <a:xfrm>
            <a:off x="6222498" y="4633071"/>
            <a:ext cx="5618145" cy="911051"/>
          </a:xfrm>
          <a:custGeom>
            <a:avLst/>
            <a:gdLst/>
            <a:ahLst/>
            <a:cxnLst/>
            <a:rect l="l" t="t" r="r" b="b"/>
            <a:pathLst>
              <a:path w="5618145" h="911051">
                <a:moveTo>
                  <a:pt x="35727" y="0"/>
                </a:moveTo>
                <a:lnTo>
                  <a:pt x="5510960" y="0"/>
                </a:lnTo>
                <a:cubicBezTo>
                  <a:pt x="5570157" y="0"/>
                  <a:pt x="5618145" y="47988"/>
                  <a:pt x="5618145" y="107185"/>
                </a:cubicBezTo>
                <a:lnTo>
                  <a:pt x="5618145" y="803865"/>
                </a:lnTo>
                <a:cubicBezTo>
                  <a:pt x="5618145" y="863062"/>
                  <a:pt x="5570157" y="911051"/>
                  <a:pt x="5510960"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58" name="Shape 55"/>
          <p:cNvSpPr/>
          <p:nvPr/>
        </p:nvSpPr>
        <p:spPr>
          <a:xfrm>
            <a:off x="6222498" y="4633071"/>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4472C4"/>
          </a:solidFill>
          <a:ln/>
        </p:spPr>
      </p:sp>
      <p:sp>
        <p:nvSpPr>
          <p:cNvPr id="59" name="Shape 56"/>
          <p:cNvSpPr/>
          <p:nvPr/>
        </p:nvSpPr>
        <p:spPr>
          <a:xfrm>
            <a:off x="6383272" y="4775981"/>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4472C4"/>
          </a:solidFill>
          <a:ln/>
        </p:spPr>
      </p:sp>
      <p:sp>
        <p:nvSpPr>
          <p:cNvPr id="60" name="Text 57"/>
          <p:cNvSpPr/>
          <p:nvPr/>
        </p:nvSpPr>
        <p:spPr>
          <a:xfrm>
            <a:off x="6487216" y="4829572"/>
            <a:ext cx="142910"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8</a:t>
            </a:r>
            <a:endParaRPr lang="en-US" sz="1600" dirty="0"/>
          </a:p>
        </p:txBody>
      </p:sp>
      <p:sp>
        <p:nvSpPr>
          <p:cNvPr id="61" name="Text 58"/>
          <p:cNvSpPr/>
          <p:nvPr/>
        </p:nvSpPr>
        <p:spPr>
          <a:xfrm>
            <a:off x="6776274" y="4775981"/>
            <a:ext cx="4992914"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ISO 9241-210:2019</a:t>
            </a:r>
            <a:endParaRPr lang="en-US" sz="1600" dirty="0"/>
          </a:p>
        </p:txBody>
      </p:sp>
      <p:sp>
        <p:nvSpPr>
          <p:cNvPr id="62" name="Text 59"/>
          <p:cNvSpPr/>
          <p:nvPr/>
        </p:nvSpPr>
        <p:spPr>
          <a:xfrm>
            <a:off x="6776274" y="5026073"/>
            <a:ext cx="4983982"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Human-centred design for interactive systems</a:t>
            </a:r>
            <a:endParaRPr lang="en-US" sz="1600" dirty="0"/>
          </a:p>
        </p:txBody>
      </p:sp>
      <p:sp>
        <p:nvSpPr>
          <p:cNvPr id="63" name="Text 60"/>
          <p:cNvSpPr/>
          <p:nvPr/>
        </p:nvSpPr>
        <p:spPr>
          <a:xfrm>
            <a:off x="6776274" y="5240438"/>
            <a:ext cx="4975051" cy="142910"/>
          </a:xfrm>
          <a:prstGeom prst="rect">
            <a:avLst/>
          </a:prstGeom>
          <a:noFill/>
          <a:ln/>
        </p:spPr>
        <p:txBody>
          <a:bodyPr wrap="square" lIns="0" tIns="0" rIns="0" bIns="0" rtlCol="0" anchor="ctr"/>
          <a:lstStyle/>
          <a:p>
            <a:pPr>
              <a:lnSpc>
                <a:spcPct val="110000"/>
              </a:lnSpc>
            </a:pPr>
            <a:r>
              <a:rPr lang="en-US" sz="844" dirty="0">
                <a:solidFill>
                  <a:srgbClr val="4472C4"/>
                </a:solidFill>
                <a:latin typeface="MiSans" pitchFamily="34" charset="0"/>
                <a:ea typeface="MiSans" pitchFamily="34" charset="-122"/>
                <a:cs typeface="MiSans" pitchFamily="34" charset="-120"/>
              </a:rPr>
              <a:t>International Organization for Standardization, 2019</a:t>
            </a:r>
            <a:endParaRPr lang="en-US" sz="1600" dirty="0"/>
          </a:p>
        </p:txBody>
      </p:sp>
      <p:sp>
        <p:nvSpPr>
          <p:cNvPr id="64" name="Shape 61"/>
          <p:cNvSpPr/>
          <p:nvPr/>
        </p:nvSpPr>
        <p:spPr>
          <a:xfrm>
            <a:off x="375138" y="5689151"/>
            <a:ext cx="11459587" cy="911051"/>
          </a:xfrm>
          <a:custGeom>
            <a:avLst/>
            <a:gdLst/>
            <a:ahLst/>
            <a:cxnLst/>
            <a:rect l="l" t="t" r="r" b="b"/>
            <a:pathLst>
              <a:path w="11459587" h="911051">
                <a:moveTo>
                  <a:pt x="35727" y="0"/>
                </a:moveTo>
                <a:lnTo>
                  <a:pt x="11352402" y="0"/>
                </a:lnTo>
                <a:cubicBezTo>
                  <a:pt x="11411598" y="0"/>
                  <a:pt x="11459587" y="47988"/>
                  <a:pt x="11459587" y="107185"/>
                </a:cubicBezTo>
                <a:lnTo>
                  <a:pt x="11459587" y="803865"/>
                </a:lnTo>
                <a:cubicBezTo>
                  <a:pt x="11459587" y="863062"/>
                  <a:pt x="11411598" y="911051"/>
                  <a:pt x="11352402" y="911051"/>
                </a:cubicBezTo>
                <a:lnTo>
                  <a:pt x="35727" y="911051"/>
                </a:lnTo>
                <a:cubicBezTo>
                  <a:pt x="15996" y="911051"/>
                  <a:pt x="0" y="895055"/>
                  <a:pt x="0" y="875323"/>
                </a:cubicBezTo>
                <a:lnTo>
                  <a:pt x="0" y="35727"/>
                </a:lnTo>
                <a:cubicBezTo>
                  <a:pt x="0" y="15996"/>
                  <a:pt x="15996" y="0"/>
                  <a:pt x="35727" y="0"/>
                </a:cubicBezTo>
                <a:close/>
              </a:path>
            </a:pathLst>
          </a:custGeom>
          <a:solidFill>
            <a:srgbClr val="FFFFFF"/>
          </a:solidFill>
          <a:ln/>
          <a:effectLst>
            <a:outerShdw blurRad="53591" dist="35727" dir="5400000" algn="bl" rotWithShape="0">
              <a:srgbClr val="000000">
                <a:alpha val="10196"/>
              </a:srgbClr>
            </a:outerShdw>
          </a:effectLst>
        </p:spPr>
      </p:sp>
      <p:sp>
        <p:nvSpPr>
          <p:cNvPr id="65" name="Shape 62"/>
          <p:cNvSpPr/>
          <p:nvPr/>
        </p:nvSpPr>
        <p:spPr>
          <a:xfrm>
            <a:off x="375138" y="5689151"/>
            <a:ext cx="35727" cy="911051"/>
          </a:xfrm>
          <a:custGeom>
            <a:avLst/>
            <a:gdLst/>
            <a:ahLst/>
            <a:cxnLst/>
            <a:rect l="l" t="t" r="r" b="b"/>
            <a:pathLst>
              <a:path w="35727" h="911051">
                <a:moveTo>
                  <a:pt x="35727" y="0"/>
                </a:moveTo>
                <a:lnTo>
                  <a:pt x="35727" y="0"/>
                </a:lnTo>
                <a:lnTo>
                  <a:pt x="35727" y="911051"/>
                </a:lnTo>
                <a:lnTo>
                  <a:pt x="35727" y="911051"/>
                </a:lnTo>
                <a:cubicBezTo>
                  <a:pt x="15996" y="911051"/>
                  <a:pt x="0" y="895055"/>
                  <a:pt x="0" y="875323"/>
                </a:cubicBezTo>
                <a:lnTo>
                  <a:pt x="0" y="35727"/>
                </a:lnTo>
                <a:cubicBezTo>
                  <a:pt x="0" y="15996"/>
                  <a:pt x="15996" y="0"/>
                  <a:pt x="35727" y="0"/>
                </a:cubicBezTo>
                <a:close/>
              </a:path>
            </a:pathLst>
          </a:custGeom>
          <a:solidFill>
            <a:srgbClr val="70AD47"/>
          </a:solidFill>
          <a:ln/>
        </p:spPr>
      </p:sp>
      <p:sp>
        <p:nvSpPr>
          <p:cNvPr id="66" name="Shape 63"/>
          <p:cNvSpPr/>
          <p:nvPr/>
        </p:nvSpPr>
        <p:spPr>
          <a:xfrm>
            <a:off x="535912" y="5832061"/>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70AD47"/>
          </a:solidFill>
          <a:ln/>
        </p:spPr>
      </p:sp>
      <p:sp>
        <p:nvSpPr>
          <p:cNvPr id="67" name="Text 64"/>
          <p:cNvSpPr/>
          <p:nvPr/>
        </p:nvSpPr>
        <p:spPr>
          <a:xfrm>
            <a:off x="641531" y="5885652"/>
            <a:ext cx="133978" cy="178637"/>
          </a:xfrm>
          <a:prstGeom prst="rect">
            <a:avLst/>
          </a:prstGeom>
          <a:noFill/>
          <a:ln/>
        </p:spPr>
        <p:txBody>
          <a:bodyPr wrap="square" lIns="0" tIns="0" rIns="0" bIns="0" rtlCol="0" anchor="ctr"/>
          <a:lstStyle/>
          <a:p>
            <a:pPr>
              <a:lnSpc>
                <a:spcPct val="120000"/>
              </a:lnSpc>
            </a:pPr>
            <a:r>
              <a:rPr lang="en-US" sz="985" b="1" dirty="0">
                <a:solidFill>
                  <a:srgbClr val="FFFFFF"/>
                </a:solidFill>
                <a:latin typeface="MiSans" pitchFamily="34" charset="0"/>
                <a:ea typeface="MiSans" pitchFamily="34" charset="-122"/>
                <a:cs typeface="MiSans" pitchFamily="34" charset="-120"/>
              </a:rPr>
              <a:t>9</a:t>
            </a:r>
            <a:endParaRPr lang="en-US" sz="1600" dirty="0"/>
          </a:p>
        </p:txBody>
      </p:sp>
      <p:sp>
        <p:nvSpPr>
          <p:cNvPr id="68" name="Text 65"/>
          <p:cNvSpPr/>
          <p:nvPr/>
        </p:nvSpPr>
        <p:spPr>
          <a:xfrm>
            <a:off x="928914" y="5832061"/>
            <a:ext cx="10834356" cy="214365"/>
          </a:xfrm>
          <a:prstGeom prst="rect">
            <a:avLst/>
          </a:prstGeom>
          <a:noFill/>
          <a:ln/>
        </p:spPr>
        <p:txBody>
          <a:bodyPr wrap="square" lIns="0" tIns="0" rIns="0" bIns="0" rtlCol="0" anchor="ctr"/>
          <a:lstStyle/>
          <a:p>
            <a:pPr>
              <a:lnSpc>
                <a:spcPct val="120000"/>
              </a:lnSpc>
            </a:pPr>
            <a:r>
              <a:rPr lang="en-US" sz="1125" b="1" dirty="0">
                <a:solidFill>
                  <a:srgbClr val="16213E"/>
                </a:solidFill>
                <a:latin typeface="MiSans" pitchFamily="34" charset="0"/>
                <a:ea typeface="MiSans" pitchFamily="34" charset="-122"/>
                <a:cs typeface="MiSans" pitchFamily="34" charset="-120"/>
              </a:rPr>
              <a:t>Ian Sommerville</a:t>
            </a:r>
            <a:endParaRPr lang="en-US" sz="1600" dirty="0"/>
          </a:p>
        </p:txBody>
      </p:sp>
      <p:sp>
        <p:nvSpPr>
          <p:cNvPr id="69" name="Text 66"/>
          <p:cNvSpPr/>
          <p:nvPr/>
        </p:nvSpPr>
        <p:spPr>
          <a:xfrm>
            <a:off x="928914" y="6082153"/>
            <a:ext cx="10825424" cy="178637"/>
          </a:xfrm>
          <a:prstGeom prst="rect">
            <a:avLst/>
          </a:prstGeom>
          <a:noFill/>
          <a:ln/>
        </p:spPr>
        <p:txBody>
          <a:bodyPr wrap="square" lIns="0" tIns="0" rIns="0" bIns="0" rtlCol="0" anchor="ctr"/>
          <a:lstStyle/>
          <a:p>
            <a:pPr>
              <a:lnSpc>
                <a:spcPct val="120000"/>
              </a:lnSpc>
            </a:pPr>
            <a:r>
              <a:rPr lang="en-US" sz="985" dirty="0">
                <a:solidFill>
                  <a:srgbClr val="44546A"/>
                </a:solidFill>
                <a:latin typeface="MiSans" pitchFamily="34" charset="0"/>
                <a:ea typeface="MiSans" pitchFamily="34" charset="-122"/>
                <a:cs typeface="MiSans" pitchFamily="34" charset="-120"/>
              </a:rPr>
              <a:t>Software Engineering</a:t>
            </a:r>
            <a:endParaRPr lang="en-US" sz="1600" dirty="0"/>
          </a:p>
        </p:txBody>
      </p:sp>
      <p:sp>
        <p:nvSpPr>
          <p:cNvPr id="70" name="Text 67"/>
          <p:cNvSpPr/>
          <p:nvPr/>
        </p:nvSpPr>
        <p:spPr>
          <a:xfrm>
            <a:off x="928914" y="6296518"/>
            <a:ext cx="10816492" cy="142910"/>
          </a:xfrm>
          <a:prstGeom prst="rect">
            <a:avLst/>
          </a:prstGeom>
          <a:noFill/>
          <a:ln/>
        </p:spPr>
        <p:txBody>
          <a:bodyPr wrap="square" lIns="0" tIns="0" rIns="0" bIns="0" rtlCol="0" anchor="ctr"/>
          <a:lstStyle/>
          <a:p>
            <a:pPr>
              <a:lnSpc>
                <a:spcPct val="110000"/>
              </a:lnSpc>
            </a:pPr>
            <a:r>
              <a:rPr lang="en-US" sz="844" dirty="0">
                <a:solidFill>
                  <a:srgbClr val="70AD47"/>
                </a:solidFill>
                <a:latin typeface="MiSans" pitchFamily="34" charset="0"/>
                <a:ea typeface="MiSans" pitchFamily="34" charset="-122"/>
                <a:cs typeface="MiSans" pitchFamily="34" charset="-120"/>
              </a:rPr>
              <a:t>Pearson Education, 10th Edition, 2016</a:t>
            </a:r>
            <a:endParaRPr lang="en-US" sz="1600" dirty="0"/>
          </a:p>
        </p:txBody>
      </p:sp>
      <p:sp>
        <p:nvSpPr>
          <p:cNvPr id="72" name="Text 69"/>
          <p:cNvSpPr/>
          <p:nvPr/>
        </p:nvSpPr>
        <p:spPr>
          <a:xfrm>
            <a:off x="375138" y="6635929"/>
            <a:ext cx="3295859" cy="214365"/>
          </a:xfrm>
          <a:prstGeom prst="rect">
            <a:avLst/>
          </a:prstGeom>
          <a:noFill/>
          <a:ln/>
        </p:spPr>
        <p:txBody>
          <a:bodyPr wrap="square" lIns="0" tIns="0" rIns="0" bIns="0" rtlCol="0" anchor="ctr"/>
          <a:lstStyle/>
          <a:p>
            <a:pPr>
              <a:lnSpc>
                <a:spcPct val="120000"/>
              </a:lnSpc>
            </a:pPr>
            <a:r>
              <a:rPr lang="en-US" sz="1125" b="1" dirty="0">
                <a:solidFill>
                  <a:srgbClr val="44546A"/>
                </a:solidFill>
                <a:latin typeface="MiSans" pitchFamily="34" charset="0"/>
                <a:ea typeface="MiSans" pitchFamily="34" charset="-122"/>
                <a:cs typeface="MiSans" pitchFamily="34" charset="-120"/>
              </a:rPr>
              <a:t>KIẾN THỨC - KỸ NĂNG - SÁNG TẠO - HỘI NHẬP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1538</Words>
  <Application>Microsoft Office PowerPoint</Application>
  <PresentationFormat>Widescreen</PresentationFormat>
  <Paragraphs>207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MiSans</vt:lpstr>
      <vt:lpstr>得意黑</vt:lpstr>
      <vt:lpstr>Arial</vt:lpstr>
      <vt:lpstr>Liter</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Thiết kế giao diện ứng dụng đặt vé xem phim</dc:title>
  <dc:subject>Thiết kế giao diện ứng dụng đặt vé xem phim</dc:subject>
  <dc:creator>Kimi</dc:creator>
  <cp:lastModifiedBy>Triều Hoàng</cp:lastModifiedBy>
  <cp:revision>11</cp:revision>
  <dcterms:created xsi:type="dcterms:W3CDTF">2026-01-24T17:17:57Z</dcterms:created>
  <dcterms:modified xsi:type="dcterms:W3CDTF">2026-01-26T14:09:48Z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{"Label":"Thiết kế giao diện ứng dụng đặt vé xem phim","ContentProducer":"001191110108MACG2KBH8F10000","ProduceID":"19bf0ffc-45f2-8716-8000-000036f7ad27","ReservedCode1":"","ContentPropagator":"001191110108MACG2KBH8F20000","PropagateID":"19bf0ffc-45f2-8716-8000-000036f7ad27","ReservedCode2":""}</vt:lpwstr>
  </property>
</Properties>
</file>